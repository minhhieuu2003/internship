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8288000" cy="10287000"/>
  <p:notesSz cx="6858000" cy="9144000"/>
  <p:embeddedFontLst>
    <p:embeddedFont>
      <p:font typeface="Josefin Sans" pitchFamily="2" charset="0"/>
      <p:regular r:id="rId29"/>
    </p:embeddedFont>
    <p:embeddedFont>
      <p:font typeface="Josefin Sans Bold" pitchFamily="2"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0" d="100"/>
          <a:sy n="50" d="100"/>
        </p:scale>
        <p:origin x="946"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 Id="rId9" Type="http://schemas.openxmlformats.org/officeDocument/2006/relationships/image" Target="../media/image6.svg"/></Relationships>
</file>

<file path=ppt/slides/_rels/slide1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 Id="rId9" Type="http://schemas.openxmlformats.org/officeDocument/2006/relationships/image" Target="../media/image6.svg"/></Relationships>
</file>

<file path=ppt/slides/_rels/slide1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 Id="rId9" Type="http://schemas.openxmlformats.org/officeDocument/2006/relationships/image" Target="../media/image6.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18.svg"/><Relationship Id="rId3" Type="http://schemas.openxmlformats.org/officeDocument/2006/relationships/image" Target="../media/image20.svg"/><Relationship Id="rId7" Type="http://schemas.openxmlformats.org/officeDocument/2006/relationships/image" Target="../media/image30.svg"/><Relationship Id="rId12" Type="http://schemas.openxmlformats.org/officeDocument/2006/relationships/image" Target="../media/image17.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9.png"/><Relationship Id="rId11" Type="http://schemas.openxmlformats.org/officeDocument/2006/relationships/image" Target="../media/image34.svg"/><Relationship Id="rId5" Type="http://schemas.openxmlformats.org/officeDocument/2006/relationships/image" Target="../media/image28.sv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svg"/></Relationships>
</file>

<file path=ppt/slides/_rels/slide2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hyperlink" Target="https://docs.aws.amazon.com/AmazonS3/latest/userguide/object-lock.html" TargetMode="External"/><Relationship Id="rId2" Type="http://schemas.openxmlformats.org/officeDocument/2006/relationships/hyperlink" Target="https://000033.awsstudygroup.com/vi/" TargetMode="External"/><Relationship Id="rId1" Type="http://schemas.openxmlformats.org/officeDocument/2006/relationships/slideLayout" Target="../slideLayouts/slideLayout7.xml"/><Relationship Id="rId5" Type="http://schemas.openxmlformats.org/officeDocument/2006/relationships/image" Target="../media/image38.svg"/><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sp>
        <p:nvSpPr>
          <p:cNvPr id="2" name="TextBox 2"/>
          <p:cNvSpPr txBox="1"/>
          <p:nvPr/>
        </p:nvSpPr>
        <p:spPr>
          <a:xfrm>
            <a:off x="8831007" y="2004425"/>
            <a:ext cx="8217084" cy="4257421"/>
          </a:xfrm>
          <a:prstGeom prst="rect">
            <a:avLst/>
          </a:prstGeom>
        </p:spPr>
        <p:txBody>
          <a:bodyPr lIns="0" tIns="0" rIns="0" bIns="0" rtlCol="0" anchor="t">
            <a:spAutoFit/>
          </a:bodyPr>
          <a:lstStyle/>
          <a:p>
            <a:pPr algn="l">
              <a:lnSpc>
                <a:spcPts val="8372"/>
              </a:lnSpc>
            </a:pPr>
            <a:r>
              <a:rPr lang="en-US" sz="7475" b="1">
                <a:solidFill>
                  <a:srgbClr val="F7B4A7"/>
                </a:solidFill>
                <a:latin typeface="Josefin Sans Bold"/>
                <a:ea typeface="Josefin Sans Bold"/>
                <a:cs typeface="Josefin Sans Bold"/>
                <a:sym typeface="Josefin Sans Bold"/>
              </a:rPr>
              <a:t>Audit Trail Management với Immutable Logging</a:t>
            </a:r>
          </a:p>
        </p:txBody>
      </p:sp>
      <p:sp>
        <p:nvSpPr>
          <p:cNvPr id="3" name="TextBox 3"/>
          <p:cNvSpPr txBox="1"/>
          <p:nvPr/>
        </p:nvSpPr>
        <p:spPr>
          <a:xfrm>
            <a:off x="8831007" y="662622"/>
            <a:ext cx="8217084" cy="424815"/>
          </a:xfrm>
          <a:prstGeom prst="rect">
            <a:avLst/>
          </a:prstGeom>
        </p:spPr>
        <p:txBody>
          <a:bodyPr lIns="0" tIns="0" rIns="0" bIns="0" rtlCol="0" anchor="t">
            <a:spAutoFit/>
          </a:bodyPr>
          <a:lstStyle/>
          <a:p>
            <a:pPr algn="l">
              <a:lnSpc>
                <a:spcPts val="3359"/>
              </a:lnSpc>
            </a:pPr>
            <a:endParaRPr/>
          </a:p>
        </p:txBody>
      </p:sp>
      <p:sp>
        <p:nvSpPr>
          <p:cNvPr id="4" name="TextBox 4"/>
          <p:cNvSpPr txBox="1"/>
          <p:nvPr/>
        </p:nvSpPr>
        <p:spPr>
          <a:xfrm>
            <a:off x="8831007" y="6967198"/>
            <a:ext cx="8217084" cy="1790065"/>
          </a:xfrm>
          <a:prstGeom prst="rect">
            <a:avLst/>
          </a:prstGeom>
        </p:spPr>
        <p:txBody>
          <a:bodyPr lIns="0" tIns="0" rIns="0" bIns="0" rtlCol="0" anchor="t">
            <a:spAutoFit/>
          </a:bodyPr>
          <a:lstStyle/>
          <a:p>
            <a:pPr algn="l">
              <a:lnSpc>
                <a:spcPts val="4760"/>
              </a:lnSpc>
            </a:pPr>
            <a:r>
              <a:rPr lang="en-US" sz="3400">
                <a:solidFill>
                  <a:srgbClr val="94DDDE"/>
                </a:solidFill>
                <a:latin typeface="Josefin Sans"/>
                <a:ea typeface="Josefin Sans"/>
                <a:cs typeface="Josefin Sans"/>
                <a:sym typeface="Josefin Sans"/>
              </a:rPr>
              <a:t>Triển khai hệ thống kiểm toán toàn diện với Immutable Logging, Trail Analysis, Compliance Reporting, Investigation tools.</a:t>
            </a:r>
          </a:p>
        </p:txBody>
      </p:sp>
      <p:sp>
        <p:nvSpPr>
          <p:cNvPr id="5" name="Freeform 5"/>
          <p:cNvSpPr/>
          <p:nvPr/>
        </p:nvSpPr>
        <p:spPr>
          <a:xfrm>
            <a:off x="1182834" y="-1921745"/>
            <a:ext cx="6755642" cy="4114800"/>
          </a:xfrm>
          <a:custGeom>
            <a:avLst/>
            <a:gdLst/>
            <a:ahLst/>
            <a:cxnLst/>
            <a:rect l="l" t="t" r="r" b="b"/>
            <a:pathLst>
              <a:path w="6755642" h="4114800">
                <a:moveTo>
                  <a:pt x="0" y="0"/>
                </a:moveTo>
                <a:lnTo>
                  <a:pt x="6755642" y="0"/>
                </a:lnTo>
                <a:lnTo>
                  <a:pt x="675564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6303834" y="1790711"/>
            <a:ext cx="1194327" cy="2586142"/>
          </a:xfrm>
          <a:custGeom>
            <a:avLst/>
            <a:gdLst/>
            <a:ahLst/>
            <a:cxnLst/>
            <a:rect l="l" t="t" r="r" b="b"/>
            <a:pathLst>
              <a:path w="1194327" h="2586142">
                <a:moveTo>
                  <a:pt x="0" y="0"/>
                </a:moveTo>
                <a:lnTo>
                  <a:pt x="1194327" y="0"/>
                </a:lnTo>
                <a:lnTo>
                  <a:pt x="1194327" y="2586142"/>
                </a:lnTo>
                <a:lnTo>
                  <a:pt x="0" y="258614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flipH="1">
            <a:off x="2095190" y="2021154"/>
            <a:ext cx="5357753" cy="5591583"/>
          </a:xfrm>
          <a:custGeom>
            <a:avLst/>
            <a:gdLst/>
            <a:ahLst/>
            <a:cxnLst/>
            <a:rect l="l" t="t" r="r" b="b"/>
            <a:pathLst>
              <a:path w="5357753" h="5591583">
                <a:moveTo>
                  <a:pt x="5357753" y="0"/>
                </a:moveTo>
                <a:lnTo>
                  <a:pt x="0" y="0"/>
                </a:lnTo>
                <a:lnTo>
                  <a:pt x="0" y="5591582"/>
                </a:lnTo>
                <a:lnTo>
                  <a:pt x="5357753" y="5591582"/>
                </a:lnTo>
                <a:lnTo>
                  <a:pt x="5357753"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8" name="Freeform 8"/>
          <p:cNvSpPr/>
          <p:nvPr/>
        </p:nvSpPr>
        <p:spPr>
          <a:xfrm>
            <a:off x="-947148" y="1264426"/>
            <a:ext cx="3144039" cy="2440918"/>
          </a:xfrm>
          <a:custGeom>
            <a:avLst/>
            <a:gdLst/>
            <a:ahLst/>
            <a:cxnLst/>
            <a:rect l="l" t="t" r="r" b="b"/>
            <a:pathLst>
              <a:path w="3144039" h="2440918">
                <a:moveTo>
                  <a:pt x="0" y="0"/>
                </a:moveTo>
                <a:lnTo>
                  <a:pt x="3144040" y="0"/>
                </a:lnTo>
                <a:lnTo>
                  <a:pt x="3144040" y="2440918"/>
                </a:lnTo>
                <a:lnTo>
                  <a:pt x="0" y="244091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9" name="Freeform 9"/>
          <p:cNvSpPr/>
          <p:nvPr/>
        </p:nvSpPr>
        <p:spPr>
          <a:xfrm>
            <a:off x="624872" y="5005800"/>
            <a:ext cx="1894295" cy="4252500"/>
          </a:xfrm>
          <a:custGeom>
            <a:avLst/>
            <a:gdLst/>
            <a:ahLst/>
            <a:cxnLst/>
            <a:rect l="l" t="t" r="r" b="b"/>
            <a:pathLst>
              <a:path w="1894295" h="4252500">
                <a:moveTo>
                  <a:pt x="0" y="0"/>
                </a:moveTo>
                <a:lnTo>
                  <a:pt x="1894295" y="0"/>
                </a:lnTo>
                <a:lnTo>
                  <a:pt x="1894295" y="4252500"/>
                </a:lnTo>
                <a:lnTo>
                  <a:pt x="0" y="42525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0" name="Freeform 10"/>
          <p:cNvSpPr/>
          <p:nvPr/>
        </p:nvSpPr>
        <p:spPr>
          <a:xfrm>
            <a:off x="4011803" y="7612736"/>
            <a:ext cx="3486358" cy="4114800"/>
          </a:xfrm>
          <a:custGeom>
            <a:avLst/>
            <a:gdLst/>
            <a:ahLst/>
            <a:cxnLst/>
            <a:rect l="l" t="t" r="r" b="b"/>
            <a:pathLst>
              <a:path w="3486358" h="4114800">
                <a:moveTo>
                  <a:pt x="0" y="0"/>
                </a:moveTo>
                <a:lnTo>
                  <a:pt x="3486358" y="0"/>
                </a:lnTo>
                <a:lnTo>
                  <a:pt x="348635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sp>
        <p:nvSpPr>
          <p:cNvPr id="2" name="TextBox 2"/>
          <p:cNvSpPr txBox="1"/>
          <p:nvPr/>
        </p:nvSpPr>
        <p:spPr>
          <a:xfrm>
            <a:off x="4348491" y="1009650"/>
            <a:ext cx="8709956" cy="933450"/>
          </a:xfrm>
          <a:prstGeom prst="rect">
            <a:avLst/>
          </a:prstGeom>
        </p:spPr>
        <p:txBody>
          <a:bodyPr lIns="0" tIns="0" rIns="0" bIns="0" rtlCol="0" anchor="t">
            <a:spAutoFit/>
          </a:bodyPr>
          <a:lstStyle/>
          <a:p>
            <a:pPr marL="1295402" lvl="1" indent="-647701" algn="l">
              <a:lnSpc>
                <a:spcPts val="7200"/>
              </a:lnSpc>
              <a:buAutoNum type="arabicPeriod"/>
            </a:pPr>
            <a:r>
              <a:rPr lang="en-US" sz="6000" b="1">
                <a:solidFill>
                  <a:srgbClr val="F7B4A7"/>
                </a:solidFill>
                <a:latin typeface="Josefin Sans Bold"/>
                <a:ea typeface="Josefin Sans Bold"/>
                <a:cs typeface="Josefin Sans Bold"/>
                <a:sym typeface="Josefin Sans Bold"/>
              </a:rPr>
              <a:t>Executive Summary</a:t>
            </a:r>
          </a:p>
        </p:txBody>
      </p:sp>
      <p:sp>
        <p:nvSpPr>
          <p:cNvPr id="3" name="TextBox 3"/>
          <p:cNvSpPr txBox="1"/>
          <p:nvPr/>
        </p:nvSpPr>
        <p:spPr>
          <a:xfrm>
            <a:off x="5367283" y="3765191"/>
            <a:ext cx="5653279" cy="370522"/>
          </a:xfrm>
          <a:prstGeom prst="rect">
            <a:avLst/>
          </a:prstGeom>
        </p:spPr>
        <p:txBody>
          <a:bodyPr lIns="0" tIns="0" rIns="0" bIns="0" rtlCol="0" anchor="t">
            <a:spAutoFit/>
          </a:bodyPr>
          <a:lstStyle/>
          <a:p>
            <a:pPr algn="l">
              <a:lnSpc>
                <a:spcPts val="3052"/>
              </a:lnSpc>
            </a:pPr>
            <a:endParaRPr/>
          </a:p>
        </p:txBody>
      </p:sp>
      <p:sp>
        <p:nvSpPr>
          <p:cNvPr id="4" name="TextBox 4"/>
          <p:cNvSpPr txBox="1"/>
          <p:nvPr/>
        </p:nvSpPr>
        <p:spPr>
          <a:xfrm>
            <a:off x="4847764" y="2600919"/>
            <a:ext cx="8592473" cy="2461895"/>
          </a:xfrm>
          <a:prstGeom prst="rect">
            <a:avLst/>
          </a:prstGeom>
        </p:spPr>
        <p:txBody>
          <a:bodyPr lIns="0" tIns="0" rIns="0" bIns="0" rtlCol="0" anchor="t">
            <a:spAutoFit/>
          </a:bodyPr>
          <a:lstStyle/>
          <a:p>
            <a:pPr algn="l">
              <a:lnSpc>
                <a:spcPts val="3955"/>
              </a:lnSpc>
            </a:pPr>
            <a:r>
              <a:rPr lang="en-US" sz="2825">
                <a:solidFill>
                  <a:srgbClr val="94DDDE"/>
                </a:solidFill>
                <a:latin typeface="Josefin Sans"/>
                <a:ea typeface="Josefin Sans"/>
                <a:cs typeface="Josefin Sans"/>
                <a:sym typeface="Josefin Sans"/>
              </a:rPr>
              <a:t>🔎 Problem Statement:</a:t>
            </a:r>
          </a:p>
          <a:p>
            <a:pPr marL="609918" lvl="1" indent="-304959" algn="l">
              <a:lnSpc>
                <a:spcPts val="3955"/>
              </a:lnSpc>
              <a:buFont typeface="Arial"/>
              <a:buChar char="•"/>
            </a:pPr>
            <a:r>
              <a:rPr lang="en-US" sz="2825">
                <a:solidFill>
                  <a:srgbClr val="94DDDE"/>
                </a:solidFill>
                <a:latin typeface="Josefin Sans"/>
                <a:ea typeface="Josefin Sans"/>
                <a:cs typeface="Josefin Sans"/>
                <a:sym typeface="Josefin Sans"/>
              </a:rPr>
              <a:t>Nhật ký kiểm toán hiện tại phân tán, dễ chỉnh sửa.</a:t>
            </a:r>
          </a:p>
          <a:p>
            <a:pPr marL="609918" lvl="1" indent="-304959" algn="l">
              <a:lnSpc>
                <a:spcPts val="3955"/>
              </a:lnSpc>
              <a:buFont typeface="Arial"/>
              <a:buChar char="•"/>
            </a:pPr>
            <a:r>
              <a:rPr lang="en-US" sz="2825">
                <a:solidFill>
                  <a:srgbClr val="94DDDE"/>
                </a:solidFill>
                <a:latin typeface="Josefin Sans"/>
                <a:ea typeface="Josefin Sans"/>
                <a:cs typeface="Josefin Sans"/>
                <a:sym typeface="Josefin Sans"/>
              </a:rPr>
              <a:t>Thiếu quy trình tự động &amp; tập trung hóa.</a:t>
            </a:r>
          </a:p>
          <a:p>
            <a:pPr marL="609918" lvl="1" indent="-304959" algn="l">
              <a:lnSpc>
                <a:spcPts val="3955"/>
              </a:lnSpc>
              <a:buFont typeface="Arial"/>
              <a:buChar char="•"/>
            </a:pPr>
            <a:r>
              <a:rPr lang="en-US" sz="2825">
                <a:solidFill>
                  <a:srgbClr val="94DDDE"/>
                </a:solidFill>
                <a:latin typeface="Josefin Sans"/>
                <a:ea typeface="Josefin Sans"/>
                <a:cs typeface="Josefin Sans"/>
                <a:sym typeface="Josefin Sans"/>
              </a:rPr>
              <a:t>Gây khó khăn cho điều tra và tuân thủ.</a:t>
            </a:r>
          </a:p>
        </p:txBody>
      </p:sp>
      <p:sp>
        <p:nvSpPr>
          <p:cNvPr id="5" name="TextBox 5"/>
          <p:cNvSpPr txBox="1"/>
          <p:nvPr/>
        </p:nvSpPr>
        <p:spPr>
          <a:xfrm>
            <a:off x="4847764" y="5805805"/>
            <a:ext cx="8592473" cy="3452495"/>
          </a:xfrm>
          <a:prstGeom prst="rect">
            <a:avLst/>
          </a:prstGeom>
        </p:spPr>
        <p:txBody>
          <a:bodyPr lIns="0" tIns="0" rIns="0" bIns="0" rtlCol="0" anchor="t">
            <a:spAutoFit/>
          </a:bodyPr>
          <a:lstStyle/>
          <a:p>
            <a:pPr algn="l">
              <a:lnSpc>
                <a:spcPts val="3955"/>
              </a:lnSpc>
            </a:pPr>
            <a:r>
              <a:rPr lang="en-US" sz="2825">
                <a:solidFill>
                  <a:srgbClr val="94DDDE"/>
                </a:solidFill>
                <a:latin typeface="Josefin Sans"/>
                <a:ea typeface="Josefin Sans"/>
                <a:cs typeface="Josefin Sans"/>
                <a:sym typeface="Josefin Sans"/>
              </a:rPr>
              <a:t>💡 Solution Overview:</a:t>
            </a:r>
          </a:p>
          <a:p>
            <a:pPr marL="609918" lvl="1" indent="-304959" algn="l">
              <a:lnSpc>
                <a:spcPts val="3955"/>
              </a:lnSpc>
              <a:buFont typeface="Arial"/>
              <a:buChar char="•"/>
            </a:pPr>
            <a:r>
              <a:rPr lang="en-US" sz="2825">
                <a:solidFill>
                  <a:srgbClr val="94DDDE"/>
                </a:solidFill>
                <a:latin typeface="Josefin Sans"/>
                <a:ea typeface="Josefin Sans"/>
                <a:cs typeface="Josefin Sans"/>
                <a:sym typeface="Josefin Sans"/>
              </a:rPr>
              <a:t>Triển khai hệ thống ghi nhật ký bất biến sử dụng dịch vụ AWS.</a:t>
            </a:r>
          </a:p>
          <a:p>
            <a:pPr marL="609918" lvl="1" indent="-304959" algn="l">
              <a:lnSpc>
                <a:spcPts val="3955"/>
              </a:lnSpc>
              <a:buFont typeface="Arial"/>
              <a:buChar char="•"/>
            </a:pPr>
            <a:r>
              <a:rPr lang="en-US" sz="2825">
                <a:solidFill>
                  <a:srgbClr val="94DDDE"/>
                </a:solidFill>
                <a:latin typeface="Josefin Sans"/>
                <a:ea typeface="Josefin Sans"/>
                <a:cs typeface="Josefin Sans"/>
                <a:sym typeface="Josefin Sans"/>
              </a:rPr>
              <a:t>Sử dụng: AWS CloudTrail, S3 Object Lock, Athena, Lambda, Amazon Detective.</a:t>
            </a:r>
          </a:p>
          <a:p>
            <a:pPr marL="609918" lvl="1" indent="-304959" algn="l">
              <a:lnSpc>
                <a:spcPts val="3955"/>
              </a:lnSpc>
              <a:buFont typeface="Arial"/>
              <a:buChar char="•"/>
            </a:pPr>
            <a:r>
              <a:rPr lang="en-US" sz="2825">
                <a:solidFill>
                  <a:srgbClr val="94DDDE"/>
                </a:solidFill>
                <a:latin typeface="Josefin Sans"/>
                <a:ea typeface="Josefin Sans"/>
                <a:cs typeface="Josefin Sans"/>
                <a:sym typeface="Josefin Sans"/>
              </a:rPr>
              <a:t>Mục tiêu: Tuân thủ, bảo mật, điều tra nhanh chóng, và hiệu quả vận hành.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sp>
        <p:nvSpPr>
          <p:cNvPr id="2" name="TextBox 2"/>
          <p:cNvSpPr txBox="1"/>
          <p:nvPr/>
        </p:nvSpPr>
        <p:spPr>
          <a:xfrm>
            <a:off x="5367283" y="3765191"/>
            <a:ext cx="5653279" cy="370522"/>
          </a:xfrm>
          <a:prstGeom prst="rect">
            <a:avLst/>
          </a:prstGeom>
        </p:spPr>
        <p:txBody>
          <a:bodyPr lIns="0" tIns="0" rIns="0" bIns="0" rtlCol="0" anchor="t">
            <a:spAutoFit/>
          </a:bodyPr>
          <a:lstStyle/>
          <a:p>
            <a:pPr algn="l">
              <a:lnSpc>
                <a:spcPts val="3052"/>
              </a:lnSpc>
            </a:pPr>
            <a:endParaRPr/>
          </a:p>
        </p:txBody>
      </p:sp>
      <p:sp>
        <p:nvSpPr>
          <p:cNvPr id="3" name="TextBox 3"/>
          <p:cNvSpPr txBox="1"/>
          <p:nvPr/>
        </p:nvSpPr>
        <p:spPr>
          <a:xfrm>
            <a:off x="4847764" y="2600919"/>
            <a:ext cx="8592473" cy="2461895"/>
          </a:xfrm>
          <a:prstGeom prst="rect">
            <a:avLst/>
          </a:prstGeom>
        </p:spPr>
        <p:txBody>
          <a:bodyPr lIns="0" tIns="0" rIns="0" bIns="0" rtlCol="0" anchor="t">
            <a:spAutoFit/>
          </a:bodyPr>
          <a:lstStyle/>
          <a:p>
            <a:pPr algn="l">
              <a:lnSpc>
                <a:spcPts val="3955"/>
              </a:lnSpc>
            </a:pPr>
            <a:r>
              <a:rPr lang="en-US" sz="2825">
                <a:solidFill>
                  <a:srgbClr val="94DDDE"/>
                </a:solidFill>
                <a:latin typeface="Josefin Sans"/>
                <a:ea typeface="Josefin Sans"/>
                <a:cs typeface="Josefin Sans"/>
                <a:sym typeface="Josefin Sans"/>
              </a:rPr>
              <a:t>⭐ Key Features:</a:t>
            </a:r>
          </a:p>
          <a:p>
            <a:pPr marL="609918" lvl="1" indent="-304959" algn="l">
              <a:lnSpc>
                <a:spcPts val="3955"/>
              </a:lnSpc>
              <a:buFont typeface="Arial"/>
              <a:buChar char="•"/>
            </a:pPr>
            <a:r>
              <a:rPr lang="en-US" sz="2825">
                <a:solidFill>
                  <a:srgbClr val="94DDDE"/>
                </a:solidFill>
                <a:latin typeface="Josefin Sans"/>
                <a:ea typeface="Josefin Sans"/>
                <a:cs typeface="Josefin Sans"/>
                <a:sym typeface="Josefin Sans"/>
              </a:rPr>
              <a:t>Ghi nhật ký không thể chỉnh sửa (Immutable Logging).</a:t>
            </a:r>
          </a:p>
          <a:p>
            <a:pPr marL="609918" lvl="1" indent="-304959" algn="l">
              <a:lnSpc>
                <a:spcPts val="3955"/>
              </a:lnSpc>
              <a:buFont typeface="Arial"/>
              <a:buChar char="•"/>
            </a:pPr>
            <a:r>
              <a:rPr lang="en-US" sz="2825">
                <a:solidFill>
                  <a:srgbClr val="94DDDE"/>
                </a:solidFill>
                <a:latin typeface="Josefin Sans"/>
                <a:ea typeface="Josefin Sans"/>
                <a:cs typeface="Josefin Sans"/>
                <a:sym typeface="Josefin Sans"/>
              </a:rPr>
              <a:t>Tự động hóa báo cáo &amp; phân tích.</a:t>
            </a:r>
          </a:p>
          <a:p>
            <a:pPr marL="609918" lvl="1" indent="-304959" algn="l">
              <a:lnSpc>
                <a:spcPts val="3955"/>
              </a:lnSpc>
              <a:buFont typeface="Arial"/>
              <a:buChar char="•"/>
            </a:pPr>
            <a:r>
              <a:rPr lang="en-US" sz="2825">
                <a:solidFill>
                  <a:srgbClr val="94DDDE"/>
                </a:solidFill>
                <a:latin typeface="Josefin Sans"/>
                <a:ea typeface="Josefin Sans"/>
                <a:cs typeface="Josefin Sans"/>
                <a:sym typeface="Josefin Sans"/>
              </a:rPr>
              <a:t>Điều tra pháp lý và giám sát theo thời gian thực.</a:t>
            </a:r>
          </a:p>
        </p:txBody>
      </p:sp>
      <p:sp>
        <p:nvSpPr>
          <p:cNvPr id="4" name="TextBox 4"/>
          <p:cNvSpPr txBox="1"/>
          <p:nvPr/>
        </p:nvSpPr>
        <p:spPr>
          <a:xfrm>
            <a:off x="4847764" y="5805805"/>
            <a:ext cx="8592473" cy="2461895"/>
          </a:xfrm>
          <a:prstGeom prst="rect">
            <a:avLst/>
          </a:prstGeom>
        </p:spPr>
        <p:txBody>
          <a:bodyPr lIns="0" tIns="0" rIns="0" bIns="0" rtlCol="0" anchor="t">
            <a:spAutoFit/>
          </a:bodyPr>
          <a:lstStyle/>
          <a:p>
            <a:pPr algn="l">
              <a:lnSpc>
                <a:spcPts val="3955"/>
              </a:lnSpc>
            </a:pPr>
            <a:r>
              <a:rPr lang="en-US" sz="2825">
                <a:solidFill>
                  <a:srgbClr val="94DDDE"/>
                </a:solidFill>
                <a:latin typeface="Josefin Sans"/>
                <a:ea typeface="Josefin Sans"/>
                <a:cs typeface="Josefin Sans"/>
                <a:sym typeface="Josefin Sans"/>
              </a:rPr>
              <a:t>💼 Business Benefits &amp; ROI:</a:t>
            </a:r>
          </a:p>
          <a:p>
            <a:pPr marL="609918" lvl="1" indent="-304959" algn="l">
              <a:lnSpc>
                <a:spcPts val="3955"/>
              </a:lnSpc>
              <a:buFont typeface="Arial"/>
              <a:buChar char="•"/>
            </a:pPr>
            <a:r>
              <a:rPr lang="en-US" sz="2825">
                <a:solidFill>
                  <a:srgbClr val="94DDDE"/>
                </a:solidFill>
                <a:latin typeface="Josefin Sans"/>
                <a:ea typeface="Josefin Sans"/>
                <a:cs typeface="Josefin Sans"/>
                <a:sym typeface="Josefin Sans"/>
              </a:rPr>
              <a:t>Giảm thiểu rủi ro pháp lý &amp; tổn thất uy tín.</a:t>
            </a:r>
          </a:p>
          <a:p>
            <a:pPr marL="609918" lvl="1" indent="-304959" algn="l">
              <a:lnSpc>
                <a:spcPts val="3955"/>
              </a:lnSpc>
              <a:buFont typeface="Arial"/>
              <a:buChar char="•"/>
            </a:pPr>
            <a:r>
              <a:rPr lang="en-US" sz="2825">
                <a:solidFill>
                  <a:srgbClr val="94DDDE"/>
                </a:solidFill>
                <a:latin typeface="Josefin Sans"/>
                <a:ea typeface="Josefin Sans"/>
                <a:cs typeface="Josefin Sans"/>
                <a:sym typeface="Josefin Sans"/>
              </a:rPr>
              <a:t>Rút ngắn thời gian điều tra (giảm 50%).</a:t>
            </a:r>
          </a:p>
          <a:p>
            <a:pPr marL="609918" lvl="1" indent="-304959" algn="l">
              <a:lnSpc>
                <a:spcPts val="3955"/>
              </a:lnSpc>
              <a:buFont typeface="Arial"/>
              <a:buChar char="•"/>
            </a:pPr>
            <a:r>
              <a:rPr lang="en-US" sz="2825">
                <a:solidFill>
                  <a:srgbClr val="94DDDE"/>
                </a:solidFill>
                <a:latin typeface="Josefin Sans"/>
                <a:ea typeface="Josefin Sans"/>
                <a:cs typeface="Josefin Sans"/>
                <a:sym typeface="Josefin Sans"/>
              </a:rPr>
              <a:t>Tiết kiệm chi phí kiểm toán thủ công.</a:t>
            </a:r>
          </a:p>
          <a:p>
            <a:pPr marL="609918" lvl="1" indent="-304959" algn="l">
              <a:lnSpc>
                <a:spcPts val="3955"/>
              </a:lnSpc>
              <a:buFont typeface="Arial"/>
              <a:buChar char="•"/>
            </a:pPr>
            <a:r>
              <a:rPr lang="en-US" sz="2825">
                <a:solidFill>
                  <a:srgbClr val="94DDDE"/>
                </a:solidFill>
                <a:latin typeface="Josefin Sans"/>
                <a:ea typeface="Josefin Sans"/>
                <a:cs typeface="Josefin Sans"/>
                <a:sym typeface="Josefin Sans"/>
              </a:rPr>
              <a:t>Nâng cao sẵn sàng kiểm toán và tuân thủ.</a:t>
            </a:r>
          </a:p>
        </p:txBody>
      </p:sp>
      <p:sp>
        <p:nvSpPr>
          <p:cNvPr id="5" name="TextBox 5"/>
          <p:cNvSpPr txBox="1"/>
          <p:nvPr/>
        </p:nvSpPr>
        <p:spPr>
          <a:xfrm>
            <a:off x="4348491" y="1009650"/>
            <a:ext cx="8709956" cy="933450"/>
          </a:xfrm>
          <a:prstGeom prst="rect">
            <a:avLst/>
          </a:prstGeom>
        </p:spPr>
        <p:txBody>
          <a:bodyPr lIns="0" tIns="0" rIns="0" bIns="0" rtlCol="0" anchor="t">
            <a:spAutoFit/>
          </a:bodyPr>
          <a:lstStyle/>
          <a:p>
            <a:pPr marL="1295402" lvl="1" indent="-647701" algn="l">
              <a:lnSpc>
                <a:spcPts val="7200"/>
              </a:lnSpc>
              <a:buAutoNum type="arabicPeriod"/>
            </a:pPr>
            <a:r>
              <a:rPr lang="en-US" sz="6000" b="1">
                <a:solidFill>
                  <a:srgbClr val="F7B4A7"/>
                </a:solidFill>
                <a:latin typeface="Josefin Sans Bold"/>
                <a:ea typeface="Josefin Sans Bold"/>
                <a:cs typeface="Josefin Sans Bold"/>
                <a:sym typeface="Josefin Sans Bold"/>
              </a:rPr>
              <a:t>Executive Summary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sp>
        <p:nvSpPr>
          <p:cNvPr id="2" name="TextBox 2"/>
          <p:cNvSpPr txBox="1"/>
          <p:nvPr/>
        </p:nvSpPr>
        <p:spPr>
          <a:xfrm>
            <a:off x="5367283" y="3765191"/>
            <a:ext cx="5653279" cy="370522"/>
          </a:xfrm>
          <a:prstGeom prst="rect">
            <a:avLst/>
          </a:prstGeom>
        </p:spPr>
        <p:txBody>
          <a:bodyPr lIns="0" tIns="0" rIns="0" bIns="0" rtlCol="0" anchor="t">
            <a:spAutoFit/>
          </a:bodyPr>
          <a:lstStyle/>
          <a:p>
            <a:pPr algn="l">
              <a:lnSpc>
                <a:spcPts val="3052"/>
              </a:lnSpc>
            </a:pPr>
            <a:endParaRPr/>
          </a:p>
        </p:txBody>
      </p:sp>
      <p:sp>
        <p:nvSpPr>
          <p:cNvPr id="3" name="TextBox 3"/>
          <p:cNvSpPr txBox="1"/>
          <p:nvPr/>
        </p:nvSpPr>
        <p:spPr>
          <a:xfrm>
            <a:off x="4847764" y="2600919"/>
            <a:ext cx="8592473" cy="3452495"/>
          </a:xfrm>
          <a:prstGeom prst="rect">
            <a:avLst/>
          </a:prstGeom>
        </p:spPr>
        <p:txBody>
          <a:bodyPr lIns="0" tIns="0" rIns="0" bIns="0" rtlCol="0" anchor="t">
            <a:spAutoFit/>
          </a:bodyPr>
          <a:lstStyle/>
          <a:p>
            <a:pPr algn="l">
              <a:lnSpc>
                <a:spcPts val="3955"/>
              </a:lnSpc>
            </a:pPr>
            <a:r>
              <a:rPr lang="en-US" sz="2825">
                <a:solidFill>
                  <a:srgbClr val="94DDDE"/>
                </a:solidFill>
                <a:latin typeface="Josefin Sans"/>
                <a:ea typeface="Josefin Sans"/>
                <a:cs typeface="Josefin Sans"/>
                <a:sym typeface="Josefin Sans"/>
              </a:rPr>
              <a:t>💰 Investment Required $ Timeline:</a:t>
            </a:r>
          </a:p>
          <a:p>
            <a:pPr marL="609918" lvl="1" indent="-304959" algn="l">
              <a:lnSpc>
                <a:spcPts val="3955"/>
              </a:lnSpc>
              <a:buFont typeface="Arial"/>
              <a:buChar char="•"/>
            </a:pPr>
            <a:r>
              <a:rPr lang="en-US" sz="2825">
                <a:solidFill>
                  <a:srgbClr val="94DDDE"/>
                </a:solidFill>
                <a:latin typeface="Josefin Sans"/>
                <a:ea typeface="Josefin Sans"/>
                <a:cs typeface="Josefin Sans"/>
                <a:sym typeface="Josefin Sans"/>
              </a:rPr>
              <a:t>Hạ tầng AWS: $0 trong năm đầu tiên (sử dụng AWS Free Tier).</a:t>
            </a:r>
          </a:p>
          <a:p>
            <a:pPr marL="609918" lvl="1" indent="-304959" algn="l">
              <a:lnSpc>
                <a:spcPts val="3955"/>
              </a:lnSpc>
              <a:buFont typeface="Arial"/>
              <a:buChar char="•"/>
            </a:pPr>
            <a:r>
              <a:rPr lang="en-US" sz="2825">
                <a:solidFill>
                  <a:srgbClr val="94DDDE"/>
                </a:solidFill>
                <a:latin typeface="Josefin Sans"/>
                <a:ea typeface="Josefin Sans"/>
                <a:cs typeface="Josefin Sans"/>
                <a:sym typeface="Josefin Sans"/>
              </a:rPr>
              <a:t>Phát triển: Tự thực hiện cá nhân (có thể 0 đồng).</a:t>
            </a:r>
          </a:p>
          <a:p>
            <a:pPr marL="609918" lvl="1" indent="-304959" algn="l">
              <a:lnSpc>
                <a:spcPts val="3955"/>
              </a:lnSpc>
              <a:buFont typeface="Arial"/>
              <a:buChar char="•"/>
            </a:pPr>
            <a:r>
              <a:rPr lang="en-US" sz="2825">
                <a:solidFill>
                  <a:srgbClr val="94DDDE"/>
                </a:solidFill>
                <a:latin typeface="Josefin Sans"/>
                <a:ea typeface="Josefin Sans"/>
                <a:cs typeface="Josefin Sans"/>
                <a:sym typeface="Josefin Sans"/>
              </a:rPr>
              <a:t>Vận hành: Tự duy trì hoặc dựa trên tài nguyên học thuật.</a:t>
            </a:r>
          </a:p>
          <a:p>
            <a:pPr marL="609918" lvl="1" indent="-304959" algn="l">
              <a:lnSpc>
                <a:spcPts val="3955"/>
              </a:lnSpc>
              <a:buFont typeface="Arial"/>
              <a:buChar char="•"/>
            </a:pPr>
            <a:r>
              <a:rPr lang="en-US" sz="2825">
                <a:solidFill>
                  <a:srgbClr val="94DDDE"/>
                </a:solidFill>
                <a:latin typeface="Josefin Sans"/>
                <a:ea typeface="Josefin Sans"/>
                <a:cs typeface="Josefin Sans"/>
                <a:sym typeface="Josefin Sans"/>
              </a:rPr>
              <a:t>Thời gian: 2 tháng.</a:t>
            </a:r>
          </a:p>
        </p:txBody>
      </p:sp>
      <p:sp>
        <p:nvSpPr>
          <p:cNvPr id="4" name="TextBox 4"/>
          <p:cNvSpPr txBox="1"/>
          <p:nvPr/>
        </p:nvSpPr>
        <p:spPr>
          <a:xfrm>
            <a:off x="4847764" y="6353493"/>
            <a:ext cx="8592473" cy="2461895"/>
          </a:xfrm>
          <a:prstGeom prst="rect">
            <a:avLst/>
          </a:prstGeom>
        </p:spPr>
        <p:txBody>
          <a:bodyPr lIns="0" tIns="0" rIns="0" bIns="0" rtlCol="0" anchor="t">
            <a:spAutoFit/>
          </a:bodyPr>
          <a:lstStyle/>
          <a:p>
            <a:pPr algn="l">
              <a:lnSpc>
                <a:spcPts val="3955"/>
              </a:lnSpc>
            </a:pPr>
            <a:r>
              <a:rPr lang="en-US" sz="2825">
                <a:solidFill>
                  <a:srgbClr val="94DDDE"/>
                </a:solidFill>
                <a:latin typeface="Josefin Sans"/>
                <a:ea typeface="Josefin Sans"/>
                <a:cs typeface="Josefin Sans"/>
                <a:sym typeface="Josefin Sans"/>
              </a:rPr>
              <a:t>🎯 Success Metrics</a:t>
            </a:r>
          </a:p>
          <a:p>
            <a:pPr marL="609918" lvl="1" indent="-304959" algn="l">
              <a:lnSpc>
                <a:spcPts val="3955"/>
              </a:lnSpc>
              <a:buFont typeface="Arial"/>
              <a:buChar char="•"/>
            </a:pPr>
            <a:r>
              <a:rPr lang="en-US" sz="2825">
                <a:solidFill>
                  <a:srgbClr val="94DDDE"/>
                </a:solidFill>
                <a:latin typeface="Josefin Sans"/>
                <a:ea typeface="Josefin Sans"/>
                <a:cs typeface="Josefin Sans"/>
                <a:sym typeface="Josefin Sans"/>
              </a:rPr>
              <a:t>100% nguồn log trọng yếu được giám sát.</a:t>
            </a:r>
          </a:p>
          <a:p>
            <a:pPr marL="609918" lvl="1" indent="-304959" algn="l">
              <a:lnSpc>
                <a:spcPts val="3955"/>
              </a:lnSpc>
              <a:buFont typeface="Arial"/>
              <a:buChar char="•"/>
            </a:pPr>
            <a:r>
              <a:rPr lang="en-US" sz="2825">
                <a:solidFill>
                  <a:srgbClr val="94DDDE"/>
                </a:solidFill>
                <a:latin typeface="Josefin Sans"/>
                <a:ea typeface="Josefin Sans"/>
                <a:cs typeface="Josefin Sans"/>
                <a:sym typeface="Josefin Sans"/>
              </a:rPr>
              <a:t>0 sự cố chỉnh sửa nhật ký.</a:t>
            </a:r>
          </a:p>
          <a:p>
            <a:pPr marL="609918" lvl="1" indent="-304959" algn="l">
              <a:lnSpc>
                <a:spcPts val="3955"/>
              </a:lnSpc>
              <a:buFont typeface="Arial"/>
              <a:buChar char="•"/>
            </a:pPr>
            <a:r>
              <a:rPr lang="en-US" sz="2825">
                <a:solidFill>
                  <a:srgbClr val="94DDDE"/>
                </a:solidFill>
                <a:latin typeface="Josefin Sans"/>
                <a:ea typeface="Josefin Sans"/>
                <a:cs typeface="Josefin Sans"/>
                <a:sym typeface="Josefin Sans"/>
              </a:rPr>
              <a:t>Sẵn sàng kiểm toán trong &lt; 2 tháng.</a:t>
            </a:r>
          </a:p>
          <a:p>
            <a:pPr marL="609918" lvl="1" indent="-304959" algn="l">
              <a:lnSpc>
                <a:spcPts val="3955"/>
              </a:lnSpc>
              <a:buFont typeface="Arial"/>
              <a:buChar char="•"/>
            </a:pPr>
            <a:r>
              <a:rPr lang="en-US" sz="2825">
                <a:solidFill>
                  <a:srgbClr val="94DDDE"/>
                </a:solidFill>
                <a:latin typeface="Josefin Sans"/>
                <a:ea typeface="Josefin Sans"/>
                <a:cs typeface="Josefin Sans"/>
                <a:sym typeface="Josefin Sans"/>
              </a:rPr>
              <a:t>Giảm 50% thời gian điều tra sự cố.</a:t>
            </a:r>
          </a:p>
        </p:txBody>
      </p:sp>
      <p:sp>
        <p:nvSpPr>
          <p:cNvPr id="5" name="TextBox 5"/>
          <p:cNvSpPr txBox="1"/>
          <p:nvPr/>
        </p:nvSpPr>
        <p:spPr>
          <a:xfrm>
            <a:off x="4348491" y="1009650"/>
            <a:ext cx="8709956" cy="933450"/>
          </a:xfrm>
          <a:prstGeom prst="rect">
            <a:avLst/>
          </a:prstGeom>
        </p:spPr>
        <p:txBody>
          <a:bodyPr lIns="0" tIns="0" rIns="0" bIns="0" rtlCol="0" anchor="t">
            <a:spAutoFit/>
          </a:bodyPr>
          <a:lstStyle/>
          <a:p>
            <a:pPr marL="1295402" lvl="1" indent="-647701" algn="l">
              <a:lnSpc>
                <a:spcPts val="7200"/>
              </a:lnSpc>
              <a:buAutoNum type="arabicPeriod"/>
            </a:pPr>
            <a:r>
              <a:rPr lang="en-US" sz="6000" b="1">
                <a:solidFill>
                  <a:srgbClr val="F7B4A7"/>
                </a:solidFill>
                <a:latin typeface="Josefin Sans Bold"/>
                <a:ea typeface="Josefin Sans Bold"/>
                <a:cs typeface="Josefin Sans Bold"/>
                <a:sym typeface="Josefin Sans Bold"/>
              </a:rPr>
              <a:t>Executive Summary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sp>
        <p:nvSpPr>
          <p:cNvPr id="2" name="TextBox 2"/>
          <p:cNvSpPr txBox="1"/>
          <p:nvPr/>
        </p:nvSpPr>
        <p:spPr>
          <a:xfrm>
            <a:off x="5367283" y="3765191"/>
            <a:ext cx="5653279" cy="370522"/>
          </a:xfrm>
          <a:prstGeom prst="rect">
            <a:avLst/>
          </a:prstGeom>
        </p:spPr>
        <p:txBody>
          <a:bodyPr lIns="0" tIns="0" rIns="0" bIns="0" rtlCol="0" anchor="t">
            <a:spAutoFit/>
          </a:bodyPr>
          <a:lstStyle/>
          <a:p>
            <a:pPr algn="l">
              <a:lnSpc>
                <a:spcPts val="3052"/>
              </a:lnSpc>
            </a:pPr>
            <a:endParaRPr/>
          </a:p>
        </p:txBody>
      </p:sp>
      <p:sp>
        <p:nvSpPr>
          <p:cNvPr id="3" name="TextBox 3"/>
          <p:cNvSpPr txBox="1"/>
          <p:nvPr/>
        </p:nvSpPr>
        <p:spPr>
          <a:xfrm>
            <a:off x="4847764" y="2600919"/>
            <a:ext cx="8592473" cy="2461895"/>
          </a:xfrm>
          <a:prstGeom prst="rect">
            <a:avLst/>
          </a:prstGeom>
        </p:spPr>
        <p:txBody>
          <a:bodyPr lIns="0" tIns="0" rIns="0" bIns="0" rtlCol="0" anchor="t">
            <a:spAutoFit/>
          </a:bodyPr>
          <a:lstStyle/>
          <a:p>
            <a:pPr algn="l">
              <a:lnSpc>
                <a:spcPts val="3955"/>
              </a:lnSpc>
            </a:pPr>
            <a:r>
              <a:rPr lang="en-US" sz="2825">
                <a:solidFill>
                  <a:srgbClr val="94DDDE"/>
                </a:solidFill>
                <a:latin typeface="Josefin Sans"/>
                <a:ea typeface="Josefin Sans"/>
                <a:cs typeface="Josefin Sans"/>
                <a:sym typeface="Josefin Sans"/>
              </a:rPr>
              <a:t>📌 Expected Outcomes:</a:t>
            </a:r>
          </a:p>
          <a:p>
            <a:pPr marL="609918" lvl="1" indent="-304959" algn="l">
              <a:lnSpc>
                <a:spcPts val="3955"/>
              </a:lnSpc>
              <a:buFont typeface="Arial"/>
              <a:buChar char="•"/>
            </a:pPr>
            <a:r>
              <a:rPr lang="en-US" sz="2825">
                <a:solidFill>
                  <a:srgbClr val="94DDDE"/>
                </a:solidFill>
                <a:latin typeface="Josefin Sans"/>
                <a:ea typeface="Josefin Sans"/>
                <a:cs typeface="Josefin Sans"/>
                <a:sym typeface="Josefin Sans"/>
              </a:rPr>
              <a:t>Hệ thống nhật ký đáng tin cậy và tuân thủ quy định.</a:t>
            </a:r>
          </a:p>
          <a:p>
            <a:pPr marL="609918" lvl="1" indent="-304959" algn="l">
              <a:lnSpc>
                <a:spcPts val="3955"/>
              </a:lnSpc>
              <a:buFont typeface="Arial"/>
              <a:buChar char="•"/>
            </a:pPr>
            <a:r>
              <a:rPr lang="en-US" sz="2825">
                <a:solidFill>
                  <a:srgbClr val="94DDDE"/>
                </a:solidFill>
                <a:latin typeface="Josefin Sans"/>
                <a:ea typeface="Josefin Sans"/>
                <a:cs typeface="Josefin Sans"/>
                <a:sym typeface="Josefin Sans"/>
              </a:rPr>
              <a:t>Giảm thiểu chi phí điều tra và bảo mật.</a:t>
            </a:r>
          </a:p>
          <a:p>
            <a:pPr marL="609918" lvl="1" indent="-304959" algn="l">
              <a:lnSpc>
                <a:spcPts val="3955"/>
              </a:lnSpc>
              <a:buFont typeface="Arial"/>
              <a:buChar char="•"/>
            </a:pPr>
            <a:r>
              <a:rPr lang="en-US" sz="2825">
                <a:solidFill>
                  <a:srgbClr val="94DDDE"/>
                </a:solidFill>
                <a:latin typeface="Josefin Sans"/>
                <a:ea typeface="Josefin Sans"/>
                <a:cs typeface="Josefin Sans"/>
                <a:sym typeface="Josefin Sans"/>
              </a:rPr>
              <a:t>Tăng tính minh bạch và giám sát nội bộ.</a:t>
            </a:r>
          </a:p>
        </p:txBody>
      </p:sp>
      <p:sp>
        <p:nvSpPr>
          <p:cNvPr id="4" name="TextBox 4"/>
          <p:cNvSpPr txBox="1"/>
          <p:nvPr/>
        </p:nvSpPr>
        <p:spPr>
          <a:xfrm>
            <a:off x="4847764" y="5805805"/>
            <a:ext cx="8592473" cy="2461895"/>
          </a:xfrm>
          <a:prstGeom prst="rect">
            <a:avLst/>
          </a:prstGeom>
        </p:spPr>
        <p:txBody>
          <a:bodyPr lIns="0" tIns="0" rIns="0" bIns="0" rtlCol="0" anchor="t">
            <a:spAutoFit/>
          </a:bodyPr>
          <a:lstStyle/>
          <a:p>
            <a:pPr algn="l">
              <a:lnSpc>
                <a:spcPts val="3955"/>
              </a:lnSpc>
            </a:pPr>
            <a:r>
              <a:rPr lang="en-US" sz="2825">
                <a:solidFill>
                  <a:srgbClr val="94DDDE"/>
                </a:solidFill>
                <a:latin typeface="Josefin Sans"/>
                <a:ea typeface="Josefin Sans"/>
                <a:cs typeface="Josefin Sans"/>
                <a:sym typeface="Josefin Sans"/>
              </a:rPr>
              <a:t>🏆 Executive Value:</a:t>
            </a:r>
          </a:p>
          <a:p>
            <a:pPr marL="609918" lvl="1" indent="-304959" algn="l">
              <a:lnSpc>
                <a:spcPts val="3955"/>
              </a:lnSpc>
              <a:buFont typeface="Arial"/>
              <a:buChar char="•"/>
            </a:pPr>
            <a:r>
              <a:rPr lang="en-US" sz="2825">
                <a:solidFill>
                  <a:srgbClr val="94DDDE"/>
                </a:solidFill>
                <a:latin typeface="Josefin Sans"/>
                <a:ea typeface="Josefin Sans"/>
                <a:cs typeface="Josefin Sans"/>
                <a:sym typeface="Josefin Sans"/>
              </a:rPr>
              <a:t>Đáp ứng yêu cầu tuân thủ (GDPR, SOC2...).</a:t>
            </a:r>
          </a:p>
          <a:p>
            <a:pPr marL="609918" lvl="1" indent="-304959" algn="l">
              <a:lnSpc>
                <a:spcPts val="3955"/>
              </a:lnSpc>
              <a:buFont typeface="Arial"/>
              <a:buChar char="•"/>
            </a:pPr>
            <a:r>
              <a:rPr lang="en-US" sz="2825">
                <a:solidFill>
                  <a:srgbClr val="94DDDE"/>
                </a:solidFill>
                <a:latin typeface="Josefin Sans"/>
                <a:ea typeface="Josefin Sans"/>
                <a:cs typeface="Josefin Sans"/>
                <a:sym typeface="Josefin Sans"/>
              </a:rPr>
              <a:t>Hỗ trợ ra quyết định dựa trên dữ liệu kiểm toán.</a:t>
            </a:r>
          </a:p>
          <a:p>
            <a:pPr marL="609918" lvl="1" indent="-304959" algn="l">
              <a:lnSpc>
                <a:spcPts val="3955"/>
              </a:lnSpc>
              <a:buFont typeface="Arial"/>
              <a:buChar char="•"/>
            </a:pPr>
            <a:r>
              <a:rPr lang="en-US" sz="2825">
                <a:solidFill>
                  <a:srgbClr val="94DDDE"/>
                </a:solidFill>
                <a:latin typeface="Josefin Sans"/>
                <a:ea typeface="Josefin Sans"/>
                <a:cs typeface="Josefin Sans"/>
                <a:sym typeface="Josefin Sans"/>
              </a:rPr>
              <a:t>Tạo nền tảng cho các sáng kiến bảo mật và AI trong tương lai.</a:t>
            </a:r>
          </a:p>
        </p:txBody>
      </p:sp>
      <p:sp>
        <p:nvSpPr>
          <p:cNvPr id="5" name="TextBox 5"/>
          <p:cNvSpPr txBox="1"/>
          <p:nvPr/>
        </p:nvSpPr>
        <p:spPr>
          <a:xfrm>
            <a:off x="4348491" y="1009650"/>
            <a:ext cx="8709956" cy="933450"/>
          </a:xfrm>
          <a:prstGeom prst="rect">
            <a:avLst/>
          </a:prstGeom>
        </p:spPr>
        <p:txBody>
          <a:bodyPr lIns="0" tIns="0" rIns="0" bIns="0" rtlCol="0" anchor="t">
            <a:spAutoFit/>
          </a:bodyPr>
          <a:lstStyle/>
          <a:p>
            <a:pPr marL="1295402" lvl="1" indent="-647701" algn="l">
              <a:lnSpc>
                <a:spcPts val="7200"/>
              </a:lnSpc>
              <a:buAutoNum type="arabicPeriod"/>
            </a:pPr>
            <a:r>
              <a:rPr lang="en-US" sz="6000" b="1">
                <a:solidFill>
                  <a:srgbClr val="F7B4A7"/>
                </a:solidFill>
                <a:latin typeface="Josefin Sans Bold"/>
                <a:ea typeface="Josefin Sans Bold"/>
                <a:cs typeface="Josefin Sans Bold"/>
                <a:sym typeface="Josefin Sans Bold"/>
              </a:rPr>
              <a:t>Executive Summary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94DDDE"/>
        </a:solidFill>
        <a:effectLst/>
      </p:bgPr>
    </p:bg>
    <p:spTree>
      <p:nvGrpSpPr>
        <p:cNvPr id="1" name=""/>
        <p:cNvGrpSpPr/>
        <p:nvPr/>
      </p:nvGrpSpPr>
      <p:grpSpPr>
        <a:xfrm>
          <a:off x="0" y="0"/>
          <a:ext cx="0" cy="0"/>
          <a:chOff x="0" y="0"/>
          <a:chExt cx="0" cy="0"/>
        </a:xfrm>
      </p:grpSpPr>
      <p:sp>
        <p:nvSpPr>
          <p:cNvPr id="2" name="Freeform 2"/>
          <p:cNvSpPr/>
          <p:nvPr/>
        </p:nvSpPr>
        <p:spPr>
          <a:xfrm>
            <a:off x="11497814" y="3086100"/>
            <a:ext cx="5131837" cy="4114800"/>
          </a:xfrm>
          <a:custGeom>
            <a:avLst/>
            <a:gdLst/>
            <a:ahLst/>
            <a:cxnLst/>
            <a:rect l="l" t="t" r="r" b="b"/>
            <a:pathLst>
              <a:path w="5131837" h="4114800">
                <a:moveTo>
                  <a:pt x="0" y="0"/>
                </a:moveTo>
                <a:lnTo>
                  <a:pt x="5131837" y="0"/>
                </a:lnTo>
                <a:lnTo>
                  <a:pt x="513183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1028700" y="3120344"/>
            <a:ext cx="9768230" cy="1962150"/>
          </a:xfrm>
          <a:prstGeom prst="rect">
            <a:avLst/>
          </a:prstGeom>
        </p:spPr>
        <p:txBody>
          <a:bodyPr lIns="0" tIns="0" rIns="0" bIns="0" rtlCol="0" anchor="t">
            <a:spAutoFit/>
          </a:bodyPr>
          <a:lstStyle/>
          <a:p>
            <a:pPr algn="l">
              <a:lnSpc>
                <a:spcPts val="7679"/>
              </a:lnSpc>
            </a:pPr>
            <a:r>
              <a:rPr lang="en-US" sz="6399" b="1">
                <a:solidFill>
                  <a:srgbClr val="31356E"/>
                </a:solidFill>
                <a:latin typeface="Josefin Sans Bold"/>
                <a:ea typeface="Josefin Sans Bold"/>
                <a:cs typeface="Josefin Sans Bold"/>
                <a:sym typeface="Josefin Sans Bold"/>
              </a:rPr>
              <a:t>2. Problem Statement</a:t>
            </a:r>
          </a:p>
          <a:p>
            <a:pPr algn="l">
              <a:lnSpc>
                <a:spcPts val="7680"/>
              </a:lnSpc>
            </a:pPr>
            <a:endParaRPr lang="en-US" sz="6399" b="1">
              <a:solidFill>
                <a:srgbClr val="31356E"/>
              </a:solidFill>
              <a:latin typeface="Josefin Sans Bold"/>
              <a:ea typeface="Josefin Sans Bold"/>
              <a:cs typeface="Josefin Sans Bold"/>
              <a:sym typeface="Josefin Sans Bold"/>
            </a:endParaRPr>
          </a:p>
        </p:txBody>
      </p:sp>
      <p:sp>
        <p:nvSpPr>
          <p:cNvPr id="4" name="TextBox 4"/>
          <p:cNvSpPr txBox="1"/>
          <p:nvPr/>
        </p:nvSpPr>
        <p:spPr>
          <a:xfrm>
            <a:off x="1028700" y="5149169"/>
            <a:ext cx="9358913" cy="2933700"/>
          </a:xfrm>
          <a:prstGeom prst="rect">
            <a:avLst/>
          </a:prstGeom>
        </p:spPr>
        <p:txBody>
          <a:bodyPr lIns="0" tIns="0" rIns="0" bIns="0" rtlCol="0" anchor="t">
            <a:spAutoFit/>
          </a:bodyPr>
          <a:lstStyle/>
          <a:p>
            <a:pPr algn="l">
              <a:lnSpc>
                <a:spcPts val="3360"/>
              </a:lnSpc>
            </a:pPr>
            <a:r>
              <a:rPr lang="en-US" sz="2800">
                <a:solidFill>
                  <a:srgbClr val="2B4B82"/>
                </a:solidFill>
                <a:latin typeface="Josefin Sans"/>
                <a:ea typeface="Josefin Sans"/>
                <a:cs typeface="Josefin Sans"/>
                <a:sym typeface="Josefin Sans"/>
              </a:rPr>
              <a:t>Dự án cá nhân của sinh viên FCJ cần một giải pháp ghi log đơn giản, an toàn và bất biến để theo dõi các hoạt động API trong môi trường AWS. Hiện tại, không có hệ thống ghi log tập trung, dẫn đến khó khăn trong việc theo dõi hoạt động, đảm bảo bảo mật, hoặc đáp ứng các yêu cầu học thuật.</a:t>
            </a:r>
          </a:p>
          <a:p>
            <a:pPr algn="l">
              <a:lnSpc>
                <a:spcPts val="3359"/>
              </a:lnSpc>
            </a:pPr>
            <a:endParaRPr lang="en-US" sz="2800">
              <a:solidFill>
                <a:srgbClr val="2B4B82"/>
              </a:solidFill>
              <a:latin typeface="Josefin Sans"/>
              <a:ea typeface="Josefin Sans"/>
              <a:cs typeface="Josefin Sans"/>
              <a:sym typeface="Josefin Sans"/>
            </a:endParaRPr>
          </a:p>
        </p:txBody>
      </p:sp>
      <p:sp>
        <p:nvSpPr>
          <p:cNvPr id="5" name="TextBox 5"/>
          <p:cNvSpPr txBox="1"/>
          <p:nvPr/>
        </p:nvSpPr>
        <p:spPr>
          <a:xfrm>
            <a:off x="1028700" y="4157486"/>
            <a:ext cx="5221658" cy="500380"/>
          </a:xfrm>
          <a:prstGeom prst="rect">
            <a:avLst/>
          </a:prstGeom>
        </p:spPr>
        <p:txBody>
          <a:bodyPr lIns="0" tIns="0" rIns="0" bIns="0" rtlCol="0" anchor="t">
            <a:spAutoFit/>
          </a:bodyPr>
          <a:lstStyle/>
          <a:p>
            <a:pPr algn="l">
              <a:lnSpc>
                <a:spcPts val="3919"/>
              </a:lnSpc>
            </a:pPr>
            <a:r>
              <a:rPr lang="en-US" sz="2799" b="1" spc="478">
                <a:solidFill>
                  <a:srgbClr val="2B4B82"/>
                </a:solidFill>
                <a:latin typeface="Josefin Sans Bold"/>
                <a:ea typeface="Josefin Sans Bold"/>
                <a:cs typeface="Josefin Sans Bold"/>
                <a:sym typeface="Josefin Sans Bold"/>
              </a:rPr>
              <a:t>CURRENT SITUATION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94DDDE"/>
        </a:solidFill>
        <a:effectLst/>
      </p:bgPr>
    </p:bg>
    <p:spTree>
      <p:nvGrpSpPr>
        <p:cNvPr id="1" name=""/>
        <p:cNvGrpSpPr/>
        <p:nvPr/>
      </p:nvGrpSpPr>
      <p:grpSpPr>
        <a:xfrm>
          <a:off x="0" y="0"/>
          <a:ext cx="0" cy="0"/>
          <a:chOff x="0" y="0"/>
          <a:chExt cx="0" cy="0"/>
        </a:xfrm>
      </p:grpSpPr>
      <p:sp>
        <p:nvSpPr>
          <p:cNvPr id="2" name="TextBox 2"/>
          <p:cNvSpPr txBox="1"/>
          <p:nvPr/>
        </p:nvSpPr>
        <p:spPr>
          <a:xfrm>
            <a:off x="4500367" y="5841364"/>
            <a:ext cx="2401669" cy="1473231"/>
          </a:xfrm>
          <a:prstGeom prst="rect">
            <a:avLst/>
          </a:prstGeom>
        </p:spPr>
        <p:txBody>
          <a:bodyPr lIns="0" tIns="0" rIns="0" bIns="0" rtlCol="0" anchor="t">
            <a:spAutoFit/>
          </a:bodyPr>
          <a:lstStyle/>
          <a:p>
            <a:pPr algn="ctr">
              <a:lnSpc>
                <a:spcPts val="2940"/>
              </a:lnSpc>
            </a:pPr>
            <a:r>
              <a:rPr lang="en-US" sz="2100">
                <a:solidFill>
                  <a:srgbClr val="2B4B82"/>
                </a:solidFill>
                <a:latin typeface="Josefin Sans"/>
                <a:ea typeface="Josefin Sans"/>
                <a:cs typeface="Josefin Sans"/>
                <a:sym typeface="Josefin Sans"/>
              </a:rPr>
              <a:t>Không có cách tập trung để lưu trữ và phân tích log.</a:t>
            </a:r>
          </a:p>
          <a:p>
            <a:pPr algn="ctr">
              <a:lnSpc>
                <a:spcPts val="2940"/>
              </a:lnSpc>
            </a:pPr>
            <a:endParaRPr lang="en-US" sz="2100">
              <a:solidFill>
                <a:srgbClr val="2B4B82"/>
              </a:solidFill>
              <a:latin typeface="Josefin Sans"/>
              <a:ea typeface="Josefin Sans"/>
              <a:cs typeface="Josefin Sans"/>
              <a:sym typeface="Josefin Sans"/>
            </a:endParaRPr>
          </a:p>
        </p:txBody>
      </p:sp>
      <p:sp>
        <p:nvSpPr>
          <p:cNvPr id="3" name="TextBox 3"/>
          <p:cNvSpPr txBox="1"/>
          <p:nvPr/>
        </p:nvSpPr>
        <p:spPr>
          <a:xfrm>
            <a:off x="4500367" y="4351164"/>
            <a:ext cx="2401669" cy="850827"/>
          </a:xfrm>
          <a:prstGeom prst="rect">
            <a:avLst/>
          </a:prstGeom>
        </p:spPr>
        <p:txBody>
          <a:bodyPr lIns="0" tIns="0" rIns="0" bIns="0" rtlCol="0" anchor="t">
            <a:spAutoFit/>
          </a:bodyPr>
          <a:lstStyle/>
          <a:p>
            <a:pPr algn="ctr">
              <a:lnSpc>
                <a:spcPts val="3360"/>
              </a:lnSpc>
            </a:pPr>
            <a:r>
              <a:rPr lang="en-US" sz="2400" b="1">
                <a:solidFill>
                  <a:srgbClr val="2B4B82"/>
                </a:solidFill>
                <a:latin typeface="Josefin Sans Bold"/>
                <a:ea typeface="Josefin Sans Bold"/>
                <a:cs typeface="Josefin Sans Bold"/>
                <a:sym typeface="Josefin Sans Bold"/>
              </a:rPr>
              <a:t>Quản lý Log</a:t>
            </a:r>
          </a:p>
          <a:p>
            <a:pPr algn="ctr">
              <a:lnSpc>
                <a:spcPts val="3359"/>
              </a:lnSpc>
            </a:pPr>
            <a:endParaRPr lang="en-US" sz="2400" b="1">
              <a:solidFill>
                <a:srgbClr val="2B4B82"/>
              </a:solidFill>
              <a:latin typeface="Josefin Sans Bold"/>
              <a:ea typeface="Josefin Sans Bold"/>
              <a:cs typeface="Josefin Sans Bold"/>
              <a:sym typeface="Josefin Sans Bold"/>
            </a:endParaRPr>
          </a:p>
        </p:txBody>
      </p:sp>
      <p:grpSp>
        <p:nvGrpSpPr>
          <p:cNvPr id="4" name="Group 4"/>
          <p:cNvGrpSpPr/>
          <p:nvPr/>
        </p:nvGrpSpPr>
        <p:grpSpPr>
          <a:xfrm>
            <a:off x="1123950" y="4426098"/>
            <a:ext cx="2459408" cy="2925782"/>
            <a:chOff x="0" y="0"/>
            <a:chExt cx="3279211" cy="3901043"/>
          </a:xfrm>
        </p:grpSpPr>
        <p:sp>
          <p:nvSpPr>
            <p:cNvPr id="5" name="TextBox 5"/>
            <p:cNvSpPr txBox="1"/>
            <p:nvPr/>
          </p:nvSpPr>
          <p:spPr>
            <a:xfrm>
              <a:off x="0" y="1952610"/>
              <a:ext cx="3279211" cy="1948433"/>
            </a:xfrm>
            <a:prstGeom prst="rect">
              <a:avLst/>
            </a:prstGeom>
          </p:spPr>
          <p:txBody>
            <a:bodyPr lIns="0" tIns="0" rIns="0" bIns="0" rtlCol="0" anchor="t">
              <a:spAutoFit/>
            </a:bodyPr>
            <a:lstStyle/>
            <a:p>
              <a:pPr algn="ctr">
                <a:lnSpc>
                  <a:spcPts val="2940"/>
                </a:lnSpc>
              </a:pPr>
              <a:r>
                <a:rPr lang="en-US" sz="2100">
                  <a:solidFill>
                    <a:srgbClr val="2B4B82"/>
                  </a:solidFill>
                  <a:latin typeface="Josefin Sans"/>
                  <a:ea typeface="Josefin Sans"/>
                  <a:cs typeface="Josefin Sans"/>
                  <a:sym typeface="Josefin Sans"/>
                </a:rPr>
                <a:t>Log có thể bị sửa đổi hoặc xóa, làm giảm độ tin cậy.</a:t>
              </a:r>
            </a:p>
            <a:p>
              <a:pPr algn="ctr">
                <a:lnSpc>
                  <a:spcPts val="2940"/>
                </a:lnSpc>
              </a:pPr>
              <a:endParaRPr lang="en-US" sz="2100">
                <a:solidFill>
                  <a:srgbClr val="2B4B82"/>
                </a:solidFill>
                <a:latin typeface="Josefin Sans"/>
                <a:ea typeface="Josefin Sans"/>
                <a:cs typeface="Josefin Sans"/>
                <a:sym typeface="Josefin Sans"/>
              </a:endParaRPr>
            </a:p>
          </p:txBody>
        </p:sp>
        <p:sp>
          <p:nvSpPr>
            <p:cNvPr id="6" name="TextBox 6"/>
            <p:cNvSpPr txBox="1"/>
            <p:nvPr/>
          </p:nvSpPr>
          <p:spPr>
            <a:xfrm>
              <a:off x="0" y="-66675"/>
              <a:ext cx="3279211" cy="1675619"/>
            </a:xfrm>
            <a:prstGeom prst="rect">
              <a:avLst/>
            </a:prstGeom>
          </p:spPr>
          <p:txBody>
            <a:bodyPr lIns="0" tIns="0" rIns="0" bIns="0" rtlCol="0" anchor="t">
              <a:spAutoFit/>
            </a:bodyPr>
            <a:lstStyle/>
            <a:p>
              <a:pPr algn="ctr">
                <a:lnSpc>
                  <a:spcPts val="3359"/>
                </a:lnSpc>
              </a:pPr>
              <a:r>
                <a:rPr lang="en-US" sz="2400" b="1">
                  <a:solidFill>
                    <a:srgbClr val="2B4B82"/>
                  </a:solidFill>
                  <a:latin typeface="Josefin Sans Bold"/>
                  <a:ea typeface="Josefin Sans Bold"/>
                  <a:cs typeface="Josefin Sans Bold"/>
                  <a:sym typeface="Josefin Sans Bold"/>
                </a:rPr>
                <a:t>Thiếu Tính Bất biến</a:t>
              </a:r>
            </a:p>
            <a:p>
              <a:pPr algn="ctr">
                <a:lnSpc>
                  <a:spcPts val="3359"/>
                </a:lnSpc>
              </a:pPr>
              <a:endParaRPr lang="en-US" sz="2400" b="1">
                <a:solidFill>
                  <a:srgbClr val="2B4B82"/>
                </a:solidFill>
                <a:latin typeface="Josefin Sans Bold"/>
                <a:ea typeface="Josefin Sans Bold"/>
                <a:cs typeface="Josefin Sans Bold"/>
                <a:sym typeface="Josefin Sans Bold"/>
              </a:endParaRPr>
            </a:p>
          </p:txBody>
        </p:sp>
      </p:grpSp>
      <p:sp>
        <p:nvSpPr>
          <p:cNvPr id="7" name="TextBox 7"/>
          <p:cNvSpPr txBox="1"/>
          <p:nvPr/>
        </p:nvSpPr>
        <p:spPr>
          <a:xfrm>
            <a:off x="7819046" y="5877810"/>
            <a:ext cx="2459408" cy="1842968"/>
          </a:xfrm>
          <a:prstGeom prst="rect">
            <a:avLst/>
          </a:prstGeom>
        </p:spPr>
        <p:txBody>
          <a:bodyPr lIns="0" tIns="0" rIns="0" bIns="0" rtlCol="0" anchor="t">
            <a:spAutoFit/>
          </a:bodyPr>
          <a:lstStyle/>
          <a:p>
            <a:pPr algn="ctr">
              <a:lnSpc>
                <a:spcPts val="2940"/>
              </a:lnSpc>
            </a:pPr>
            <a:r>
              <a:rPr lang="en-US" sz="2100">
                <a:solidFill>
                  <a:srgbClr val="2B4B82"/>
                </a:solidFill>
                <a:latin typeface="Josefin Sans"/>
                <a:ea typeface="Josefin Sans"/>
                <a:cs typeface="Josefin Sans"/>
                <a:sym typeface="Josefin Sans"/>
              </a:rPr>
              <a:t>Sinh viên FCJ cần giải pháp chi phí thấp, tận dụng AWS Free Tier.</a:t>
            </a:r>
          </a:p>
          <a:p>
            <a:pPr algn="ctr">
              <a:lnSpc>
                <a:spcPts val="2940"/>
              </a:lnSpc>
            </a:pPr>
            <a:endParaRPr lang="en-US" sz="2100">
              <a:solidFill>
                <a:srgbClr val="2B4B82"/>
              </a:solidFill>
              <a:latin typeface="Josefin Sans"/>
              <a:ea typeface="Josefin Sans"/>
              <a:cs typeface="Josefin Sans"/>
              <a:sym typeface="Josefin Sans"/>
            </a:endParaRPr>
          </a:p>
        </p:txBody>
      </p:sp>
      <p:sp>
        <p:nvSpPr>
          <p:cNvPr id="8" name="TextBox 8"/>
          <p:cNvSpPr txBox="1"/>
          <p:nvPr/>
        </p:nvSpPr>
        <p:spPr>
          <a:xfrm>
            <a:off x="7819046" y="4356195"/>
            <a:ext cx="2459408" cy="1273383"/>
          </a:xfrm>
          <a:prstGeom prst="rect">
            <a:avLst/>
          </a:prstGeom>
        </p:spPr>
        <p:txBody>
          <a:bodyPr lIns="0" tIns="0" rIns="0" bIns="0" rtlCol="0" anchor="t">
            <a:spAutoFit/>
          </a:bodyPr>
          <a:lstStyle/>
          <a:p>
            <a:pPr algn="ctr">
              <a:lnSpc>
                <a:spcPts val="3360"/>
              </a:lnSpc>
            </a:pPr>
            <a:r>
              <a:rPr lang="en-US" sz="2400" b="1">
                <a:solidFill>
                  <a:srgbClr val="2B4B82"/>
                </a:solidFill>
                <a:latin typeface="Josefin Sans Bold"/>
                <a:ea typeface="Josefin Sans Bold"/>
                <a:cs typeface="Josefin Sans Bold"/>
                <a:sym typeface="Josefin Sans Bold"/>
              </a:rPr>
              <a:t>Hạn chế Ngân sách</a:t>
            </a:r>
          </a:p>
          <a:p>
            <a:pPr algn="ctr">
              <a:lnSpc>
                <a:spcPts val="3359"/>
              </a:lnSpc>
            </a:pPr>
            <a:endParaRPr lang="en-US" sz="2400" b="1">
              <a:solidFill>
                <a:srgbClr val="2B4B82"/>
              </a:solidFill>
              <a:latin typeface="Josefin Sans Bold"/>
              <a:ea typeface="Josefin Sans Bold"/>
              <a:cs typeface="Josefin Sans Bold"/>
              <a:sym typeface="Josefin Sans Bold"/>
            </a:endParaRPr>
          </a:p>
        </p:txBody>
      </p:sp>
      <p:grpSp>
        <p:nvGrpSpPr>
          <p:cNvPr id="9" name="Group 9"/>
          <p:cNvGrpSpPr/>
          <p:nvPr/>
        </p:nvGrpSpPr>
        <p:grpSpPr>
          <a:xfrm>
            <a:off x="11266418" y="4430290"/>
            <a:ext cx="2680634" cy="2928172"/>
            <a:chOff x="0" y="0"/>
            <a:chExt cx="3574179" cy="3904229"/>
          </a:xfrm>
        </p:grpSpPr>
        <p:sp>
          <p:nvSpPr>
            <p:cNvPr id="10" name="TextBox 10"/>
            <p:cNvSpPr txBox="1"/>
            <p:nvPr/>
          </p:nvSpPr>
          <p:spPr>
            <a:xfrm>
              <a:off x="0" y="1955796"/>
              <a:ext cx="3574179" cy="1948433"/>
            </a:xfrm>
            <a:prstGeom prst="rect">
              <a:avLst/>
            </a:prstGeom>
          </p:spPr>
          <p:txBody>
            <a:bodyPr lIns="0" tIns="0" rIns="0" bIns="0" rtlCol="0" anchor="t">
              <a:spAutoFit/>
            </a:bodyPr>
            <a:lstStyle/>
            <a:p>
              <a:pPr algn="ctr">
                <a:lnSpc>
                  <a:spcPts val="2940"/>
                </a:lnSpc>
              </a:pPr>
              <a:r>
                <a:rPr lang="en-US" sz="2100">
                  <a:solidFill>
                    <a:srgbClr val="2B4B82"/>
                  </a:solidFill>
                  <a:latin typeface="Josefin Sans"/>
                  <a:ea typeface="Josefin Sans"/>
                  <a:cs typeface="Josefin Sans"/>
                  <a:sym typeface="Josefin Sans"/>
                </a:rPr>
                <a:t>Cần giải pháp dễ triển khai với kiến thức cơ bản về AWS.</a:t>
              </a:r>
            </a:p>
            <a:p>
              <a:pPr algn="ctr">
                <a:lnSpc>
                  <a:spcPts val="2940"/>
                </a:lnSpc>
              </a:pPr>
              <a:endParaRPr lang="en-US" sz="2100">
                <a:solidFill>
                  <a:srgbClr val="2B4B82"/>
                </a:solidFill>
                <a:latin typeface="Josefin Sans"/>
                <a:ea typeface="Josefin Sans"/>
                <a:cs typeface="Josefin Sans"/>
                <a:sym typeface="Josefin Sans"/>
              </a:endParaRPr>
            </a:p>
          </p:txBody>
        </p:sp>
        <p:sp>
          <p:nvSpPr>
            <p:cNvPr id="11" name="TextBox 11"/>
            <p:cNvSpPr txBox="1"/>
            <p:nvPr/>
          </p:nvSpPr>
          <p:spPr>
            <a:xfrm>
              <a:off x="0" y="-66675"/>
              <a:ext cx="3574179" cy="1675619"/>
            </a:xfrm>
            <a:prstGeom prst="rect">
              <a:avLst/>
            </a:prstGeom>
          </p:spPr>
          <p:txBody>
            <a:bodyPr lIns="0" tIns="0" rIns="0" bIns="0" rtlCol="0" anchor="t">
              <a:spAutoFit/>
            </a:bodyPr>
            <a:lstStyle/>
            <a:p>
              <a:pPr algn="ctr">
                <a:lnSpc>
                  <a:spcPts val="3360"/>
                </a:lnSpc>
              </a:pPr>
              <a:r>
                <a:rPr lang="en-US" sz="2400" b="1">
                  <a:solidFill>
                    <a:srgbClr val="2B4B82"/>
                  </a:solidFill>
                  <a:latin typeface="Josefin Sans Bold"/>
                  <a:ea typeface="Josefin Sans Bold"/>
                  <a:cs typeface="Josefin Sans Bold"/>
                  <a:sym typeface="Josefin Sans Bold"/>
                </a:rPr>
                <a:t>Thiếu Kinh nghiệm</a:t>
              </a:r>
            </a:p>
            <a:p>
              <a:pPr algn="ctr">
                <a:lnSpc>
                  <a:spcPts val="3359"/>
                </a:lnSpc>
              </a:pPr>
              <a:endParaRPr lang="en-US" sz="2400" b="1">
                <a:solidFill>
                  <a:srgbClr val="2B4B82"/>
                </a:solidFill>
                <a:latin typeface="Josefin Sans Bold"/>
                <a:ea typeface="Josefin Sans Bold"/>
                <a:cs typeface="Josefin Sans Bold"/>
                <a:sym typeface="Josefin Sans Bold"/>
              </a:endParaRPr>
            </a:p>
          </p:txBody>
        </p:sp>
      </p:grpSp>
      <p:grpSp>
        <p:nvGrpSpPr>
          <p:cNvPr id="12" name="Group 12"/>
          <p:cNvGrpSpPr/>
          <p:nvPr/>
        </p:nvGrpSpPr>
        <p:grpSpPr>
          <a:xfrm>
            <a:off x="14513790" y="4417839"/>
            <a:ext cx="2459408" cy="2928172"/>
            <a:chOff x="0" y="0"/>
            <a:chExt cx="3279211" cy="3904229"/>
          </a:xfrm>
        </p:grpSpPr>
        <p:sp>
          <p:nvSpPr>
            <p:cNvPr id="13" name="TextBox 13"/>
            <p:cNvSpPr txBox="1"/>
            <p:nvPr/>
          </p:nvSpPr>
          <p:spPr>
            <a:xfrm>
              <a:off x="0" y="1955796"/>
              <a:ext cx="3279211" cy="1948433"/>
            </a:xfrm>
            <a:prstGeom prst="rect">
              <a:avLst/>
            </a:prstGeom>
          </p:spPr>
          <p:txBody>
            <a:bodyPr lIns="0" tIns="0" rIns="0" bIns="0" rtlCol="0" anchor="t">
              <a:spAutoFit/>
            </a:bodyPr>
            <a:lstStyle/>
            <a:p>
              <a:pPr algn="ctr">
                <a:lnSpc>
                  <a:spcPts val="2940"/>
                </a:lnSpc>
              </a:pPr>
              <a:r>
                <a:rPr lang="en-US" sz="2100">
                  <a:solidFill>
                    <a:srgbClr val="2B4B82"/>
                  </a:solidFill>
                  <a:latin typeface="Josefin Sans"/>
                  <a:ea typeface="Josefin Sans"/>
                  <a:cs typeface="Josefin Sans"/>
                  <a:sym typeface="Josefin Sans"/>
                </a:rPr>
                <a:t>Cần tạo báo cáo log để chứng minh hoạt động hệ thống.</a:t>
              </a:r>
            </a:p>
            <a:p>
              <a:pPr algn="ctr">
                <a:lnSpc>
                  <a:spcPts val="2940"/>
                </a:lnSpc>
              </a:pPr>
              <a:endParaRPr lang="en-US" sz="2100">
                <a:solidFill>
                  <a:srgbClr val="2B4B82"/>
                </a:solidFill>
                <a:latin typeface="Josefin Sans"/>
                <a:ea typeface="Josefin Sans"/>
                <a:cs typeface="Josefin Sans"/>
                <a:sym typeface="Josefin Sans"/>
              </a:endParaRPr>
            </a:p>
          </p:txBody>
        </p:sp>
        <p:sp>
          <p:nvSpPr>
            <p:cNvPr id="14" name="TextBox 14"/>
            <p:cNvSpPr txBox="1"/>
            <p:nvPr/>
          </p:nvSpPr>
          <p:spPr>
            <a:xfrm>
              <a:off x="0" y="-66675"/>
              <a:ext cx="3279211" cy="1675619"/>
            </a:xfrm>
            <a:prstGeom prst="rect">
              <a:avLst/>
            </a:prstGeom>
          </p:spPr>
          <p:txBody>
            <a:bodyPr lIns="0" tIns="0" rIns="0" bIns="0" rtlCol="0" anchor="t">
              <a:spAutoFit/>
            </a:bodyPr>
            <a:lstStyle/>
            <a:p>
              <a:pPr algn="ctr">
                <a:lnSpc>
                  <a:spcPts val="3360"/>
                </a:lnSpc>
              </a:pPr>
              <a:r>
                <a:rPr lang="en-US" sz="2400" b="1">
                  <a:solidFill>
                    <a:srgbClr val="2B4B82"/>
                  </a:solidFill>
                  <a:latin typeface="Josefin Sans Bold"/>
                  <a:ea typeface="Josefin Sans Bold"/>
                  <a:cs typeface="Josefin Sans Bold"/>
                  <a:sym typeface="Josefin Sans Bold"/>
                </a:rPr>
                <a:t>Yêu cầu Học thuật</a:t>
              </a:r>
            </a:p>
            <a:p>
              <a:pPr algn="ctr">
                <a:lnSpc>
                  <a:spcPts val="3359"/>
                </a:lnSpc>
              </a:pPr>
              <a:endParaRPr lang="en-US" sz="2400" b="1">
                <a:solidFill>
                  <a:srgbClr val="2B4B82"/>
                </a:solidFill>
                <a:latin typeface="Josefin Sans Bold"/>
                <a:ea typeface="Josefin Sans Bold"/>
                <a:cs typeface="Josefin Sans Bold"/>
                <a:sym typeface="Josefin Sans Bold"/>
              </a:endParaRPr>
            </a:p>
          </p:txBody>
        </p:sp>
      </p:grpSp>
      <p:grpSp>
        <p:nvGrpSpPr>
          <p:cNvPr id="15" name="Group 15"/>
          <p:cNvGrpSpPr/>
          <p:nvPr/>
        </p:nvGrpSpPr>
        <p:grpSpPr>
          <a:xfrm>
            <a:off x="2051969" y="3258915"/>
            <a:ext cx="14021736" cy="669290"/>
            <a:chOff x="0" y="0"/>
            <a:chExt cx="18695648" cy="892387"/>
          </a:xfrm>
        </p:grpSpPr>
        <p:sp>
          <p:nvSpPr>
            <p:cNvPr id="16" name="TextBox 16"/>
            <p:cNvSpPr txBox="1"/>
            <p:nvPr/>
          </p:nvSpPr>
          <p:spPr>
            <a:xfrm>
              <a:off x="0" y="-104775"/>
              <a:ext cx="804493" cy="998855"/>
            </a:xfrm>
            <a:prstGeom prst="rect">
              <a:avLst/>
            </a:prstGeom>
          </p:spPr>
          <p:txBody>
            <a:bodyPr lIns="0" tIns="0" rIns="0" bIns="0" rtlCol="0" anchor="t">
              <a:spAutoFit/>
            </a:bodyPr>
            <a:lstStyle/>
            <a:p>
              <a:pPr algn="ctr">
                <a:lnSpc>
                  <a:spcPts val="6160"/>
                </a:lnSpc>
              </a:pPr>
              <a:r>
                <a:rPr lang="en-US" sz="4400" b="1" spc="752">
                  <a:solidFill>
                    <a:srgbClr val="2B4B82"/>
                  </a:solidFill>
                  <a:latin typeface="Josefin Sans Bold"/>
                  <a:ea typeface="Josefin Sans Bold"/>
                  <a:cs typeface="Josefin Sans Bold"/>
                  <a:sym typeface="Josefin Sans Bold"/>
                </a:rPr>
                <a:t>1</a:t>
              </a:r>
            </a:p>
          </p:txBody>
        </p:sp>
        <p:sp>
          <p:nvSpPr>
            <p:cNvPr id="17" name="TextBox 17"/>
            <p:cNvSpPr txBox="1"/>
            <p:nvPr/>
          </p:nvSpPr>
          <p:spPr>
            <a:xfrm>
              <a:off x="4575484" y="-104775"/>
              <a:ext cx="804493" cy="998855"/>
            </a:xfrm>
            <a:prstGeom prst="rect">
              <a:avLst/>
            </a:prstGeom>
          </p:spPr>
          <p:txBody>
            <a:bodyPr lIns="0" tIns="0" rIns="0" bIns="0" rtlCol="0" anchor="t">
              <a:spAutoFit/>
            </a:bodyPr>
            <a:lstStyle/>
            <a:p>
              <a:pPr algn="ctr">
                <a:lnSpc>
                  <a:spcPts val="6160"/>
                </a:lnSpc>
              </a:pPr>
              <a:r>
                <a:rPr lang="en-US" sz="4400" b="1" spc="752">
                  <a:solidFill>
                    <a:srgbClr val="2B4B82"/>
                  </a:solidFill>
                  <a:latin typeface="Josefin Sans Bold"/>
                  <a:ea typeface="Josefin Sans Bold"/>
                  <a:cs typeface="Josefin Sans Bold"/>
                  <a:sym typeface="Josefin Sans Bold"/>
                </a:rPr>
                <a:t>2</a:t>
              </a:r>
            </a:p>
          </p:txBody>
        </p:sp>
        <p:sp>
          <p:nvSpPr>
            <p:cNvPr id="18" name="TextBox 18"/>
            <p:cNvSpPr txBox="1"/>
            <p:nvPr/>
          </p:nvSpPr>
          <p:spPr>
            <a:xfrm>
              <a:off x="8926794" y="-104775"/>
              <a:ext cx="804493" cy="998855"/>
            </a:xfrm>
            <a:prstGeom prst="rect">
              <a:avLst/>
            </a:prstGeom>
          </p:spPr>
          <p:txBody>
            <a:bodyPr lIns="0" tIns="0" rIns="0" bIns="0" rtlCol="0" anchor="t">
              <a:spAutoFit/>
            </a:bodyPr>
            <a:lstStyle/>
            <a:p>
              <a:pPr algn="ctr">
                <a:lnSpc>
                  <a:spcPts val="6160"/>
                </a:lnSpc>
              </a:pPr>
              <a:r>
                <a:rPr lang="en-US" sz="4400" b="1" spc="752">
                  <a:solidFill>
                    <a:srgbClr val="2B4B82"/>
                  </a:solidFill>
                  <a:latin typeface="Josefin Sans Bold"/>
                  <a:ea typeface="Josefin Sans Bold"/>
                  <a:cs typeface="Josefin Sans Bold"/>
                  <a:sym typeface="Josefin Sans Bold"/>
                </a:rPr>
                <a:t>3</a:t>
              </a:r>
            </a:p>
          </p:txBody>
        </p:sp>
        <p:sp>
          <p:nvSpPr>
            <p:cNvPr id="19" name="TextBox 19"/>
            <p:cNvSpPr txBox="1"/>
            <p:nvPr/>
          </p:nvSpPr>
          <p:spPr>
            <a:xfrm>
              <a:off x="13670775" y="-104775"/>
              <a:ext cx="804493" cy="998855"/>
            </a:xfrm>
            <a:prstGeom prst="rect">
              <a:avLst/>
            </a:prstGeom>
          </p:spPr>
          <p:txBody>
            <a:bodyPr lIns="0" tIns="0" rIns="0" bIns="0" rtlCol="0" anchor="t">
              <a:spAutoFit/>
            </a:bodyPr>
            <a:lstStyle/>
            <a:p>
              <a:pPr algn="ctr">
                <a:lnSpc>
                  <a:spcPts val="6160"/>
                </a:lnSpc>
              </a:pPr>
              <a:r>
                <a:rPr lang="en-US" sz="4400" b="1" spc="752">
                  <a:solidFill>
                    <a:srgbClr val="2B4B82"/>
                  </a:solidFill>
                  <a:latin typeface="Josefin Sans Bold"/>
                  <a:ea typeface="Josefin Sans Bold"/>
                  <a:cs typeface="Josefin Sans Bold"/>
                  <a:sym typeface="Josefin Sans Bold"/>
                </a:rPr>
                <a:t>4</a:t>
              </a:r>
            </a:p>
          </p:txBody>
        </p:sp>
        <p:sp>
          <p:nvSpPr>
            <p:cNvPr id="20" name="TextBox 20"/>
            <p:cNvSpPr txBox="1"/>
            <p:nvPr/>
          </p:nvSpPr>
          <p:spPr>
            <a:xfrm>
              <a:off x="17891155" y="-104775"/>
              <a:ext cx="804493" cy="998855"/>
            </a:xfrm>
            <a:prstGeom prst="rect">
              <a:avLst/>
            </a:prstGeom>
          </p:spPr>
          <p:txBody>
            <a:bodyPr lIns="0" tIns="0" rIns="0" bIns="0" rtlCol="0" anchor="t">
              <a:spAutoFit/>
            </a:bodyPr>
            <a:lstStyle/>
            <a:p>
              <a:pPr algn="ctr">
                <a:lnSpc>
                  <a:spcPts val="6160"/>
                </a:lnSpc>
              </a:pPr>
              <a:r>
                <a:rPr lang="en-US" sz="4400" b="1" spc="752">
                  <a:solidFill>
                    <a:srgbClr val="2B4B82"/>
                  </a:solidFill>
                  <a:latin typeface="Josefin Sans Bold"/>
                  <a:ea typeface="Josefin Sans Bold"/>
                  <a:cs typeface="Josefin Sans Bold"/>
                  <a:sym typeface="Josefin Sans Bold"/>
                </a:rPr>
                <a:t>5</a:t>
              </a:r>
            </a:p>
          </p:txBody>
        </p:sp>
        <p:sp>
          <p:nvSpPr>
            <p:cNvPr id="21" name="AutoShape 21"/>
            <p:cNvSpPr/>
            <p:nvPr/>
          </p:nvSpPr>
          <p:spPr>
            <a:xfrm>
              <a:off x="804493" y="395393"/>
              <a:ext cx="3529461" cy="0"/>
            </a:xfrm>
            <a:prstGeom prst="line">
              <a:avLst/>
            </a:prstGeom>
            <a:ln w="38100" cap="flat">
              <a:solidFill>
                <a:srgbClr val="2B4B82"/>
              </a:solidFill>
              <a:prstDash val="solid"/>
              <a:headEnd type="none" w="sm" len="sm"/>
              <a:tailEnd type="none" w="sm" len="sm"/>
            </a:ln>
          </p:spPr>
          <p:txBody>
            <a:bodyPr/>
            <a:lstStyle/>
            <a:p>
              <a:endParaRPr lang="en-US"/>
            </a:p>
          </p:txBody>
        </p:sp>
        <p:sp>
          <p:nvSpPr>
            <p:cNvPr id="22" name="AutoShape 22"/>
            <p:cNvSpPr/>
            <p:nvPr/>
          </p:nvSpPr>
          <p:spPr>
            <a:xfrm>
              <a:off x="5397334" y="382693"/>
              <a:ext cx="3529461" cy="0"/>
            </a:xfrm>
            <a:prstGeom prst="line">
              <a:avLst/>
            </a:prstGeom>
            <a:ln w="38100" cap="flat">
              <a:solidFill>
                <a:srgbClr val="2B4B82"/>
              </a:solidFill>
              <a:prstDash val="solid"/>
              <a:headEnd type="none" w="sm" len="sm"/>
              <a:tailEnd type="none" w="sm" len="sm"/>
            </a:ln>
          </p:spPr>
          <p:txBody>
            <a:bodyPr/>
            <a:lstStyle/>
            <a:p>
              <a:endParaRPr lang="en-US"/>
            </a:p>
          </p:txBody>
        </p:sp>
        <p:sp>
          <p:nvSpPr>
            <p:cNvPr id="23" name="AutoShape 23"/>
            <p:cNvSpPr/>
            <p:nvPr/>
          </p:nvSpPr>
          <p:spPr>
            <a:xfrm>
              <a:off x="9980379" y="382693"/>
              <a:ext cx="3529461" cy="0"/>
            </a:xfrm>
            <a:prstGeom prst="line">
              <a:avLst/>
            </a:prstGeom>
            <a:ln w="38100" cap="flat">
              <a:solidFill>
                <a:srgbClr val="2B4B82"/>
              </a:solidFill>
              <a:prstDash val="solid"/>
              <a:headEnd type="none" w="sm" len="sm"/>
              <a:tailEnd type="none" w="sm" len="sm"/>
            </a:ln>
          </p:spPr>
          <p:txBody>
            <a:bodyPr/>
            <a:lstStyle/>
            <a:p>
              <a:endParaRPr lang="en-US"/>
            </a:p>
          </p:txBody>
        </p:sp>
        <p:sp>
          <p:nvSpPr>
            <p:cNvPr id="24" name="AutoShape 24"/>
            <p:cNvSpPr/>
            <p:nvPr/>
          </p:nvSpPr>
          <p:spPr>
            <a:xfrm>
              <a:off x="14361695" y="382693"/>
              <a:ext cx="3529461" cy="0"/>
            </a:xfrm>
            <a:prstGeom prst="line">
              <a:avLst/>
            </a:prstGeom>
            <a:ln w="38100" cap="flat">
              <a:solidFill>
                <a:srgbClr val="2B4B82"/>
              </a:solidFill>
              <a:prstDash val="solid"/>
              <a:headEnd type="none" w="sm" len="sm"/>
              <a:tailEnd type="none" w="sm" len="sm"/>
            </a:ln>
          </p:spPr>
          <p:txBody>
            <a:bodyPr/>
            <a:lstStyle/>
            <a:p>
              <a:endParaRPr lang="en-US"/>
            </a:p>
          </p:txBody>
        </p:sp>
      </p:grpSp>
      <p:sp>
        <p:nvSpPr>
          <p:cNvPr id="25" name="TextBox 25"/>
          <p:cNvSpPr txBox="1"/>
          <p:nvPr/>
        </p:nvSpPr>
        <p:spPr>
          <a:xfrm>
            <a:off x="4259885" y="381906"/>
            <a:ext cx="9768230" cy="1962150"/>
          </a:xfrm>
          <a:prstGeom prst="rect">
            <a:avLst/>
          </a:prstGeom>
        </p:spPr>
        <p:txBody>
          <a:bodyPr lIns="0" tIns="0" rIns="0" bIns="0" rtlCol="0" anchor="t">
            <a:spAutoFit/>
          </a:bodyPr>
          <a:lstStyle/>
          <a:p>
            <a:pPr algn="ctr">
              <a:lnSpc>
                <a:spcPts val="7679"/>
              </a:lnSpc>
            </a:pPr>
            <a:r>
              <a:rPr lang="en-US" sz="6399" b="1">
                <a:solidFill>
                  <a:srgbClr val="31356E"/>
                </a:solidFill>
                <a:latin typeface="Josefin Sans Bold"/>
                <a:ea typeface="Josefin Sans Bold"/>
                <a:cs typeface="Josefin Sans Bold"/>
                <a:sym typeface="Josefin Sans Bold"/>
              </a:rPr>
              <a:t>2. Problem Statement</a:t>
            </a:r>
          </a:p>
          <a:p>
            <a:pPr algn="ctr">
              <a:lnSpc>
                <a:spcPts val="7680"/>
              </a:lnSpc>
            </a:pPr>
            <a:endParaRPr lang="en-US" sz="6399" b="1">
              <a:solidFill>
                <a:srgbClr val="31356E"/>
              </a:solidFill>
              <a:latin typeface="Josefin Sans Bold"/>
              <a:ea typeface="Josefin Sans Bold"/>
              <a:cs typeface="Josefin Sans Bold"/>
              <a:sym typeface="Josefin Sans Bold"/>
            </a:endParaRPr>
          </a:p>
        </p:txBody>
      </p:sp>
      <p:sp>
        <p:nvSpPr>
          <p:cNvPr id="26" name="TextBox 26"/>
          <p:cNvSpPr txBox="1"/>
          <p:nvPr/>
        </p:nvSpPr>
        <p:spPr>
          <a:xfrm>
            <a:off x="6452008" y="1466674"/>
            <a:ext cx="5221658" cy="995680"/>
          </a:xfrm>
          <a:prstGeom prst="rect">
            <a:avLst/>
          </a:prstGeom>
        </p:spPr>
        <p:txBody>
          <a:bodyPr lIns="0" tIns="0" rIns="0" bIns="0" rtlCol="0" anchor="t">
            <a:spAutoFit/>
          </a:bodyPr>
          <a:lstStyle/>
          <a:p>
            <a:pPr algn="ctr">
              <a:lnSpc>
                <a:spcPts val="3919"/>
              </a:lnSpc>
            </a:pPr>
            <a:r>
              <a:rPr lang="en-US" sz="2799" b="1" spc="478">
                <a:solidFill>
                  <a:srgbClr val="2B4B82"/>
                </a:solidFill>
                <a:latin typeface="Josefin Sans Bold"/>
                <a:ea typeface="Josefin Sans Bold"/>
                <a:cs typeface="Josefin Sans Bold"/>
                <a:sym typeface="Josefin Sans Bold"/>
              </a:rPr>
              <a:t>KEY CHALLENGES</a:t>
            </a:r>
          </a:p>
          <a:p>
            <a:pPr algn="ctr">
              <a:lnSpc>
                <a:spcPts val="3919"/>
              </a:lnSpc>
            </a:pPr>
            <a:endParaRPr lang="en-US" sz="2799" b="1" spc="478">
              <a:solidFill>
                <a:srgbClr val="2B4B82"/>
              </a:solidFill>
              <a:latin typeface="Josefin Sans Bold"/>
              <a:ea typeface="Josefin Sans Bold"/>
              <a:cs typeface="Josefin Sans Bold"/>
              <a:sym typeface="Josefin Sans Bo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94DDDE"/>
        </a:solidFill>
        <a:effectLst/>
      </p:bgPr>
    </p:bg>
    <p:spTree>
      <p:nvGrpSpPr>
        <p:cNvPr id="1" name=""/>
        <p:cNvGrpSpPr/>
        <p:nvPr/>
      </p:nvGrpSpPr>
      <p:grpSpPr>
        <a:xfrm>
          <a:off x="0" y="0"/>
          <a:ext cx="0" cy="0"/>
          <a:chOff x="0" y="0"/>
          <a:chExt cx="0" cy="0"/>
        </a:xfrm>
      </p:grpSpPr>
      <p:sp>
        <p:nvSpPr>
          <p:cNvPr id="2" name="TextBox 2"/>
          <p:cNvSpPr txBox="1"/>
          <p:nvPr/>
        </p:nvSpPr>
        <p:spPr>
          <a:xfrm>
            <a:off x="7943165" y="5793739"/>
            <a:ext cx="2401669" cy="1842968"/>
          </a:xfrm>
          <a:prstGeom prst="rect">
            <a:avLst/>
          </a:prstGeom>
        </p:spPr>
        <p:txBody>
          <a:bodyPr lIns="0" tIns="0" rIns="0" bIns="0" rtlCol="0" anchor="t">
            <a:spAutoFit/>
          </a:bodyPr>
          <a:lstStyle/>
          <a:p>
            <a:pPr algn="ctr">
              <a:lnSpc>
                <a:spcPts val="2940"/>
              </a:lnSpc>
            </a:pPr>
            <a:r>
              <a:rPr lang="en-US" sz="2100">
                <a:solidFill>
                  <a:srgbClr val="2B4B82"/>
                </a:solidFill>
                <a:latin typeface="Josefin Sans"/>
                <a:ea typeface="Josefin Sans"/>
                <a:cs typeface="Josefin Sans"/>
                <a:sym typeface="Josefin Sans"/>
              </a:rPr>
              <a:t>Thiếu khả năng phát hiện các hoạt động bất thường trong dự án.</a:t>
            </a:r>
          </a:p>
          <a:p>
            <a:pPr algn="ctr">
              <a:lnSpc>
                <a:spcPts val="2940"/>
              </a:lnSpc>
            </a:pPr>
            <a:endParaRPr lang="en-US" sz="2100">
              <a:solidFill>
                <a:srgbClr val="2B4B82"/>
              </a:solidFill>
              <a:latin typeface="Josefin Sans"/>
              <a:ea typeface="Josefin Sans"/>
              <a:cs typeface="Josefin Sans"/>
              <a:sym typeface="Josefin Sans"/>
            </a:endParaRPr>
          </a:p>
        </p:txBody>
      </p:sp>
      <p:sp>
        <p:nvSpPr>
          <p:cNvPr id="3" name="TextBox 3"/>
          <p:cNvSpPr txBox="1"/>
          <p:nvPr/>
        </p:nvSpPr>
        <p:spPr>
          <a:xfrm>
            <a:off x="7943165" y="4402221"/>
            <a:ext cx="2401669" cy="850827"/>
          </a:xfrm>
          <a:prstGeom prst="rect">
            <a:avLst/>
          </a:prstGeom>
        </p:spPr>
        <p:txBody>
          <a:bodyPr lIns="0" tIns="0" rIns="0" bIns="0" rtlCol="0" anchor="t">
            <a:spAutoFit/>
          </a:bodyPr>
          <a:lstStyle/>
          <a:p>
            <a:pPr algn="ctr">
              <a:lnSpc>
                <a:spcPts val="3360"/>
              </a:lnSpc>
            </a:pPr>
            <a:r>
              <a:rPr lang="en-US" sz="2400" b="1">
                <a:solidFill>
                  <a:srgbClr val="2B4B82"/>
                </a:solidFill>
                <a:latin typeface="Josefin Sans Bold"/>
                <a:ea typeface="Josefin Sans Bold"/>
                <a:cs typeface="Josefin Sans Bold"/>
                <a:sym typeface="Josefin Sans Bold"/>
              </a:rPr>
              <a:t>Rủi ro Bảo mật</a:t>
            </a:r>
          </a:p>
          <a:p>
            <a:pPr algn="ctr">
              <a:lnSpc>
                <a:spcPts val="3359"/>
              </a:lnSpc>
            </a:pPr>
            <a:endParaRPr lang="en-US" sz="2400" b="1">
              <a:solidFill>
                <a:srgbClr val="2B4B82"/>
              </a:solidFill>
              <a:latin typeface="Josefin Sans Bold"/>
              <a:ea typeface="Josefin Sans Bold"/>
              <a:cs typeface="Josefin Sans Bold"/>
              <a:sym typeface="Josefin Sans Bold"/>
            </a:endParaRPr>
          </a:p>
        </p:txBody>
      </p:sp>
      <p:grpSp>
        <p:nvGrpSpPr>
          <p:cNvPr id="4" name="Group 4"/>
          <p:cNvGrpSpPr/>
          <p:nvPr/>
        </p:nvGrpSpPr>
        <p:grpSpPr>
          <a:xfrm>
            <a:off x="4566748" y="4378473"/>
            <a:ext cx="2459408" cy="2556046"/>
            <a:chOff x="0" y="0"/>
            <a:chExt cx="3279211" cy="3408061"/>
          </a:xfrm>
        </p:grpSpPr>
        <p:sp>
          <p:nvSpPr>
            <p:cNvPr id="5" name="TextBox 5"/>
            <p:cNvSpPr txBox="1"/>
            <p:nvPr/>
          </p:nvSpPr>
          <p:spPr>
            <a:xfrm>
              <a:off x="0" y="1952610"/>
              <a:ext cx="3279211" cy="1455451"/>
            </a:xfrm>
            <a:prstGeom prst="rect">
              <a:avLst/>
            </a:prstGeom>
          </p:spPr>
          <p:txBody>
            <a:bodyPr lIns="0" tIns="0" rIns="0" bIns="0" rtlCol="0" anchor="t">
              <a:spAutoFit/>
            </a:bodyPr>
            <a:lstStyle/>
            <a:p>
              <a:pPr algn="ctr">
                <a:lnSpc>
                  <a:spcPts val="2940"/>
                </a:lnSpc>
              </a:pPr>
              <a:r>
                <a:rPr lang="en-US" sz="2100">
                  <a:solidFill>
                    <a:srgbClr val="2B4B82"/>
                  </a:solidFill>
                  <a:latin typeface="Josefin Sans"/>
                  <a:ea typeface="Josefin Sans"/>
                  <a:cs typeface="Josefin Sans"/>
                  <a:sym typeface="Josefin Sans"/>
                </a:rPr>
                <a:t>Không thể cung cấp Log đáng tin cậy cho báo cáo dự án.</a:t>
              </a:r>
            </a:p>
          </p:txBody>
        </p:sp>
        <p:sp>
          <p:nvSpPr>
            <p:cNvPr id="6" name="TextBox 6"/>
            <p:cNvSpPr txBox="1"/>
            <p:nvPr/>
          </p:nvSpPr>
          <p:spPr>
            <a:xfrm>
              <a:off x="0" y="-66675"/>
              <a:ext cx="3279211" cy="1675619"/>
            </a:xfrm>
            <a:prstGeom prst="rect">
              <a:avLst/>
            </a:prstGeom>
          </p:spPr>
          <p:txBody>
            <a:bodyPr lIns="0" tIns="0" rIns="0" bIns="0" rtlCol="0" anchor="t">
              <a:spAutoFit/>
            </a:bodyPr>
            <a:lstStyle/>
            <a:p>
              <a:pPr algn="ctr">
                <a:lnSpc>
                  <a:spcPts val="3359"/>
                </a:lnSpc>
              </a:pPr>
              <a:r>
                <a:rPr lang="en-US" sz="2400" b="1">
                  <a:solidFill>
                    <a:srgbClr val="2B4B82"/>
                  </a:solidFill>
                  <a:latin typeface="Josefin Sans Bold"/>
                  <a:ea typeface="Josefin Sans Bold"/>
                  <a:cs typeface="Josefin Sans Bold"/>
                  <a:sym typeface="Josefin Sans Bold"/>
                </a:rPr>
                <a:t>Khó khăn trong Báo cáo</a:t>
              </a:r>
            </a:p>
            <a:p>
              <a:pPr algn="ctr">
                <a:lnSpc>
                  <a:spcPts val="3359"/>
                </a:lnSpc>
              </a:pPr>
              <a:endParaRPr lang="en-US" sz="2400" b="1">
                <a:solidFill>
                  <a:srgbClr val="2B4B82"/>
                </a:solidFill>
                <a:latin typeface="Josefin Sans Bold"/>
                <a:ea typeface="Josefin Sans Bold"/>
                <a:cs typeface="Josefin Sans Bold"/>
                <a:sym typeface="Josefin Sans Bold"/>
              </a:endParaRPr>
            </a:p>
          </p:txBody>
        </p:sp>
      </p:grpSp>
      <p:sp>
        <p:nvSpPr>
          <p:cNvPr id="7" name="TextBox 7"/>
          <p:cNvSpPr txBox="1"/>
          <p:nvPr/>
        </p:nvSpPr>
        <p:spPr>
          <a:xfrm>
            <a:off x="11261844" y="5830185"/>
            <a:ext cx="2459408" cy="1842968"/>
          </a:xfrm>
          <a:prstGeom prst="rect">
            <a:avLst/>
          </a:prstGeom>
        </p:spPr>
        <p:txBody>
          <a:bodyPr lIns="0" tIns="0" rIns="0" bIns="0" rtlCol="0" anchor="t">
            <a:spAutoFit/>
          </a:bodyPr>
          <a:lstStyle/>
          <a:p>
            <a:pPr algn="ctr">
              <a:lnSpc>
                <a:spcPts val="2940"/>
              </a:lnSpc>
            </a:pPr>
            <a:r>
              <a:rPr lang="en-US" sz="2100">
                <a:solidFill>
                  <a:srgbClr val="2B4B82"/>
                </a:solidFill>
                <a:latin typeface="Josefin Sans"/>
                <a:ea typeface="Josefin Sans"/>
                <a:cs typeface="Josefin Sans"/>
                <a:sym typeface="Josefin Sans"/>
              </a:rPr>
              <a:t>Không có cơ hội thực hành các phương pháp quản lý Log hiện đại.</a:t>
            </a:r>
          </a:p>
          <a:p>
            <a:pPr algn="ctr">
              <a:lnSpc>
                <a:spcPts val="2940"/>
              </a:lnSpc>
            </a:pPr>
            <a:endParaRPr lang="en-US" sz="2100">
              <a:solidFill>
                <a:srgbClr val="2B4B82"/>
              </a:solidFill>
              <a:latin typeface="Josefin Sans"/>
              <a:ea typeface="Josefin Sans"/>
              <a:cs typeface="Josefin Sans"/>
              <a:sym typeface="Josefin Sans"/>
            </a:endParaRPr>
          </a:p>
        </p:txBody>
      </p:sp>
      <p:sp>
        <p:nvSpPr>
          <p:cNvPr id="8" name="TextBox 8"/>
          <p:cNvSpPr txBox="1"/>
          <p:nvPr/>
        </p:nvSpPr>
        <p:spPr>
          <a:xfrm>
            <a:off x="11259235" y="4421079"/>
            <a:ext cx="2459408" cy="850827"/>
          </a:xfrm>
          <a:prstGeom prst="rect">
            <a:avLst/>
          </a:prstGeom>
        </p:spPr>
        <p:txBody>
          <a:bodyPr lIns="0" tIns="0" rIns="0" bIns="0" rtlCol="0" anchor="t">
            <a:spAutoFit/>
          </a:bodyPr>
          <a:lstStyle/>
          <a:p>
            <a:pPr algn="ctr">
              <a:lnSpc>
                <a:spcPts val="3360"/>
              </a:lnSpc>
            </a:pPr>
            <a:r>
              <a:rPr lang="en-US" sz="2400" b="1">
                <a:solidFill>
                  <a:srgbClr val="2B4B82"/>
                </a:solidFill>
                <a:latin typeface="Josefin Sans Bold"/>
                <a:ea typeface="Josefin Sans Bold"/>
                <a:cs typeface="Josefin Sans Bold"/>
                <a:sym typeface="Josefin Sans Bold"/>
              </a:rPr>
              <a:t>Cơ hội Học tập</a:t>
            </a:r>
          </a:p>
          <a:p>
            <a:pPr algn="ctr">
              <a:lnSpc>
                <a:spcPts val="3359"/>
              </a:lnSpc>
            </a:pPr>
            <a:endParaRPr lang="en-US" sz="2400" b="1">
              <a:solidFill>
                <a:srgbClr val="2B4B82"/>
              </a:solidFill>
              <a:latin typeface="Josefin Sans Bold"/>
              <a:ea typeface="Josefin Sans Bold"/>
              <a:cs typeface="Josefin Sans Bold"/>
              <a:sym typeface="Josefin Sans Bold"/>
            </a:endParaRPr>
          </a:p>
        </p:txBody>
      </p:sp>
      <p:sp>
        <p:nvSpPr>
          <p:cNvPr id="9" name="TextBox 9"/>
          <p:cNvSpPr txBox="1"/>
          <p:nvPr/>
        </p:nvSpPr>
        <p:spPr>
          <a:xfrm>
            <a:off x="5494767" y="3106515"/>
            <a:ext cx="603369" cy="775335"/>
          </a:xfrm>
          <a:prstGeom prst="rect">
            <a:avLst/>
          </a:prstGeom>
        </p:spPr>
        <p:txBody>
          <a:bodyPr lIns="0" tIns="0" rIns="0" bIns="0" rtlCol="0" anchor="t">
            <a:spAutoFit/>
          </a:bodyPr>
          <a:lstStyle/>
          <a:p>
            <a:pPr algn="ctr">
              <a:lnSpc>
                <a:spcPts val="6160"/>
              </a:lnSpc>
            </a:pPr>
            <a:r>
              <a:rPr lang="en-US" sz="4400" b="1" spc="752">
                <a:solidFill>
                  <a:srgbClr val="2B4B82"/>
                </a:solidFill>
                <a:latin typeface="Josefin Sans Bold"/>
                <a:ea typeface="Josefin Sans Bold"/>
                <a:cs typeface="Josefin Sans Bold"/>
                <a:sym typeface="Josefin Sans Bold"/>
              </a:rPr>
              <a:t>1</a:t>
            </a:r>
          </a:p>
        </p:txBody>
      </p:sp>
      <p:sp>
        <p:nvSpPr>
          <p:cNvPr id="10" name="TextBox 10"/>
          <p:cNvSpPr txBox="1"/>
          <p:nvPr/>
        </p:nvSpPr>
        <p:spPr>
          <a:xfrm>
            <a:off x="8926380" y="3106515"/>
            <a:ext cx="603369" cy="775335"/>
          </a:xfrm>
          <a:prstGeom prst="rect">
            <a:avLst/>
          </a:prstGeom>
        </p:spPr>
        <p:txBody>
          <a:bodyPr lIns="0" tIns="0" rIns="0" bIns="0" rtlCol="0" anchor="t">
            <a:spAutoFit/>
          </a:bodyPr>
          <a:lstStyle/>
          <a:p>
            <a:pPr algn="ctr">
              <a:lnSpc>
                <a:spcPts val="6160"/>
              </a:lnSpc>
            </a:pPr>
            <a:r>
              <a:rPr lang="en-US" sz="4400" b="1" spc="752">
                <a:solidFill>
                  <a:srgbClr val="2B4B82"/>
                </a:solidFill>
                <a:latin typeface="Josefin Sans Bold"/>
                <a:ea typeface="Josefin Sans Bold"/>
                <a:cs typeface="Josefin Sans Bold"/>
                <a:sym typeface="Josefin Sans Bold"/>
              </a:rPr>
              <a:t>2</a:t>
            </a:r>
          </a:p>
        </p:txBody>
      </p:sp>
      <p:sp>
        <p:nvSpPr>
          <p:cNvPr id="11" name="TextBox 11"/>
          <p:cNvSpPr txBox="1"/>
          <p:nvPr/>
        </p:nvSpPr>
        <p:spPr>
          <a:xfrm>
            <a:off x="12189863" y="3106515"/>
            <a:ext cx="603369" cy="775335"/>
          </a:xfrm>
          <a:prstGeom prst="rect">
            <a:avLst/>
          </a:prstGeom>
        </p:spPr>
        <p:txBody>
          <a:bodyPr lIns="0" tIns="0" rIns="0" bIns="0" rtlCol="0" anchor="t">
            <a:spAutoFit/>
          </a:bodyPr>
          <a:lstStyle/>
          <a:p>
            <a:pPr algn="ctr">
              <a:lnSpc>
                <a:spcPts val="6160"/>
              </a:lnSpc>
            </a:pPr>
            <a:r>
              <a:rPr lang="en-US" sz="4400" b="1" spc="752">
                <a:solidFill>
                  <a:srgbClr val="2B4B82"/>
                </a:solidFill>
                <a:latin typeface="Josefin Sans Bold"/>
                <a:ea typeface="Josefin Sans Bold"/>
                <a:cs typeface="Josefin Sans Bold"/>
                <a:sym typeface="Josefin Sans Bold"/>
              </a:rPr>
              <a:t>3</a:t>
            </a:r>
          </a:p>
        </p:txBody>
      </p:sp>
      <p:sp>
        <p:nvSpPr>
          <p:cNvPr id="12" name="AutoShape 12"/>
          <p:cNvSpPr/>
          <p:nvPr/>
        </p:nvSpPr>
        <p:spPr>
          <a:xfrm>
            <a:off x="6098137" y="3522122"/>
            <a:ext cx="2647095" cy="0"/>
          </a:xfrm>
          <a:prstGeom prst="line">
            <a:avLst/>
          </a:prstGeom>
          <a:ln w="28575" cap="flat">
            <a:solidFill>
              <a:srgbClr val="2B4B82"/>
            </a:solidFill>
            <a:prstDash val="solid"/>
            <a:headEnd type="none" w="sm" len="sm"/>
            <a:tailEnd type="none" w="sm" len="sm"/>
          </a:ln>
        </p:spPr>
        <p:txBody>
          <a:bodyPr/>
          <a:lstStyle/>
          <a:p>
            <a:endParaRPr lang="en-US"/>
          </a:p>
        </p:txBody>
      </p:sp>
      <p:sp>
        <p:nvSpPr>
          <p:cNvPr id="13" name="AutoShape 13"/>
          <p:cNvSpPr/>
          <p:nvPr/>
        </p:nvSpPr>
        <p:spPr>
          <a:xfrm>
            <a:off x="9542768" y="3522122"/>
            <a:ext cx="2647095" cy="0"/>
          </a:xfrm>
          <a:prstGeom prst="line">
            <a:avLst/>
          </a:prstGeom>
          <a:ln w="28575" cap="flat">
            <a:solidFill>
              <a:srgbClr val="2B4B82"/>
            </a:solidFill>
            <a:prstDash val="solid"/>
            <a:headEnd type="none" w="sm" len="sm"/>
            <a:tailEnd type="none" w="sm" len="sm"/>
          </a:ln>
        </p:spPr>
        <p:txBody>
          <a:bodyPr/>
          <a:lstStyle/>
          <a:p>
            <a:endParaRPr lang="en-US"/>
          </a:p>
        </p:txBody>
      </p:sp>
      <p:sp>
        <p:nvSpPr>
          <p:cNvPr id="14" name="TextBox 14"/>
          <p:cNvSpPr txBox="1"/>
          <p:nvPr/>
        </p:nvSpPr>
        <p:spPr>
          <a:xfrm>
            <a:off x="4259885" y="381906"/>
            <a:ext cx="9768230" cy="1962150"/>
          </a:xfrm>
          <a:prstGeom prst="rect">
            <a:avLst/>
          </a:prstGeom>
        </p:spPr>
        <p:txBody>
          <a:bodyPr lIns="0" tIns="0" rIns="0" bIns="0" rtlCol="0" anchor="t">
            <a:spAutoFit/>
          </a:bodyPr>
          <a:lstStyle/>
          <a:p>
            <a:pPr algn="ctr">
              <a:lnSpc>
                <a:spcPts val="7679"/>
              </a:lnSpc>
            </a:pPr>
            <a:r>
              <a:rPr lang="en-US" sz="6399" b="1">
                <a:solidFill>
                  <a:srgbClr val="31356E"/>
                </a:solidFill>
                <a:latin typeface="Josefin Sans Bold"/>
                <a:ea typeface="Josefin Sans Bold"/>
                <a:cs typeface="Josefin Sans Bold"/>
                <a:sym typeface="Josefin Sans Bold"/>
              </a:rPr>
              <a:t>2. Problem Statement</a:t>
            </a:r>
          </a:p>
          <a:p>
            <a:pPr algn="ctr">
              <a:lnSpc>
                <a:spcPts val="7680"/>
              </a:lnSpc>
            </a:pPr>
            <a:endParaRPr lang="en-US" sz="6399" b="1">
              <a:solidFill>
                <a:srgbClr val="31356E"/>
              </a:solidFill>
              <a:latin typeface="Josefin Sans Bold"/>
              <a:ea typeface="Josefin Sans Bold"/>
              <a:cs typeface="Josefin Sans Bold"/>
              <a:sym typeface="Josefin Sans Bold"/>
            </a:endParaRPr>
          </a:p>
        </p:txBody>
      </p:sp>
      <p:sp>
        <p:nvSpPr>
          <p:cNvPr id="15" name="TextBox 15"/>
          <p:cNvSpPr txBox="1"/>
          <p:nvPr/>
        </p:nvSpPr>
        <p:spPr>
          <a:xfrm>
            <a:off x="6045015" y="1514299"/>
            <a:ext cx="6007471" cy="500380"/>
          </a:xfrm>
          <a:prstGeom prst="rect">
            <a:avLst/>
          </a:prstGeom>
        </p:spPr>
        <p:txBody>
          <a:bodyPr lIns="0" tIns="0" rIns="0" bIns="0" rtlCol="0" anchor="t">
            <a:spAutoFit/>
          </a:bodyPr>
          <a:lstStyle/>
          <a:p>
            <a:pPr algn="ctr">
              <a:lnSpc>
                <a:spcPts val="3919"/>
              </a:lnSpc>
            </a:pPr>
            <a:r>
              <a:rPr lang="en-US" sz="2799" b="1" spc="478">
                <a:solidFill>
                  <a:srgbClr val="2B4B82"/>
                </a:solidFill>
                <a:latin typeface="Josefin Sans Bold"/>
                <a:ea typeface="Josefin Sans Bold"/>
                <a:cs typeface="Josefin Sans Bold"/>
                <a:sym typeface="Josefin Sans Bold"/>
              </a:rPr>
              <a:t>STAKEHOLDER IMPACT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94DDDE"/>
        </a:solidFill>
        <a:effectLst/>
      </p:bgPr>
    </p:bg>
    <p:spTree>
      <p:nvGrpSpPr>
        <p:cNvPr id="1" name=""/>
        <p:cNvGrpSpPr/>
        <p:nvPr/>
      </p:nvGrpSpPr>
      <p:grpSpPr>
        <a:xfrm>
          <a:off x="0" y="0"/>
          <a:ext cx="0" cy="0"/>
          <a:chOff x="0" y="0"/>
          <a:chExt cx="0" cy="0"/>
        </a:xfrm>
      </p:grpSpPr>
      <p:sp>
        <p:nvSpPr>
          <p:cNvPr id="2" name="TextBox 2"/>
          <p:cNvSpPr txBox="1"/>
          <p:nvPr/>
        </p:nvSpPr>
        <p:spPr>
          <a:xfrm>
            <a:off x="4259885" y="1485900"/>
            <a:ext cx="9768230" cy="1962150"/>
          </a:xfrm>
          <a:prstGeom prst="rect">
            <a:avLst/>
          </a:prstGeom>
        </p:spPr>
        <p:txBody>
          <a:bodyPr lIns="0" tIns="0" rIns="0" bIns="0" rtlCol="0" anchor="t">
            <a:spAutoFit/>
          </a:bodyPr>
          <a:lstStyle/>
          <a:p>
            <a:pPr algn="ctr">
              <a:lnSpc>
                <a:spcPts val="7679"/>
              </a:lnSpc>
            </a:pPr>
            <a:r>
              <a:rPr lang="en-US" sz="6399" b="1">
                <a:solidFill>
                  <a:srgbClr val="31356E"/>
                </a:solidFill>
                <a:latin typeface="Josefin Sans Bold"/>
                <a:ea typeface="Josefin Sans Bold"/>
                <a:cs typeface="Josefin Sans Bold"/>
                <a:sym typeface="Josefin Sans Bold"/>
              </a:rPr>
              <a:t>2. Problem Statement</a:t>
            </a:r>
          </a:p>
          <a:p>
            <a:pPr algn="ctr">
              <a:lnSpc>
                <a:spcPts val="7680"/>
              </a:lnSpc>
            </a:pPr>
            <a:endParaRPr lang="en-US" sz="6399" b="1">
              <a:solidFill>
                <a:srgbClr val="31356E"/>
              </a:solidFill>
              <a:latin typeface="Josefin Sans Bold"/>
              <a:ea typeface="Josefin Sans Bold"/>
              <a:cs typeface="Josefin Sans Bold"/>
              <a:sym typeface="Josefin Sans Bold"/>
            </a:endParaRPr>
          </a:p>
        </p:txBody>
      </p:sp>
      <p:sp>
        <p:nvSpPr>
          <p:cNvPr id="3" name="TextBox 3"/>
          <p:cNvSpPr txBox="1"/>
          <p:nvPr/>
        </p:nvSpPr>
        <p:spPr>
          <a:xfrm>
            <a:off x="4464544" y="3900488"/>
            <a:ext cx="9358913" cy="3371850"/>
          </a:xfrm>
          <a:prstGeom prst="rect">
            <a:avLst/>
          </a:prstGeom>
        </p:spPr>
        <p:txBody>
          <a:bodyPr lIns="0" tIns="0" rIns="0" bIns="0" rtlCol="0" anchor="t">
            <a:spAutoFit/>
          </a:bodyPr>
          <a:lstStyle/>
          <a:p>
            <a:pPr algn="l">
              <a:lnSpc>
                <a:spcPts val="3359"/>
              </a:lnSpc>
            </a:pPr>
            <a:r>
              <a:rPr lang="en-US" sz="2799">
                <a:solidFill>
                  <a:srgbClr val="2B4B82"/>
                </a:solidFill>
                <a:latin typeface="Josefin Sans"/>
                <a:ea typeface="Josefin Sans"/>
                <a:cs typeface="Josefin Sans"/>
                <a:sym typeface="Josefin Sans"/>
              </a:rPr>
              <a:t>Nếu không triển khai giải pháp quản lý nhật ký kiểm toán hiệu quả và bất biến:</a:t>
            </a:r>
          </a:p>
          <a:p>
            <a:pPr marL="604521" lvl="1" indent="-302261" algn="l">
              <a:lnSpc>
                <a:spcPts val="3360"/>
              </a:lnSpc>
              <a:buFont typeface="Arial"/>
              <a:buChar char="•"/>
            </a:pPr>
            <a:r>
              <a:rPr lang="en-US" sz="2800">
                <a:solidFill>
                  <a:srgbClr val="2B4B82"/>
                </a:solidFill>
                <a:latin typeface="Josefin Sans"/>
                <a:ea typeface="Josefin Sans"/>
                <a:cs typeface="Josefin Sans"/>
                <a:sym typeface="Josefin Sans"/>
              </a:rPr>
              <a:t>Mất lòng tin của khách hàng và tổn hại đến uy tín.</a:t>
            </a:r>
          </a:p>
          <a:p>
            <a:pPr marL="604521" lvl="1" indent="-302261" algn="l">
              <a:lnSpc>
                <a:spcPts val="3360"/>
              </a:lnSpc>
              <a:buFont typeface="Arial"/>
              <a:buChar char="•"/>
            </a:pPr>
            <a:r>
              <a:rPr lang="en-US" sz="2800">
                <a:solidFill>
                  <a:srgbClr val="2B4B82"/>
                </a:solidFill>
                <a:latin typeface="Josefin Sans"/>
                <a:ea typeface="Josefin Sans"/>
                <a:cs typeface="Josefin Sans"/>
                <a:sym typeface="Josefin Sans"/>
              </a:rPr>
              <a:t>Hoạt động kém hiệu quả do việc truy xuất và phân tích log thủ công.</a:t>
            </a:r>
          </a:p>
          <a:p>
            <a:pPr marL="604521" lvl="1" indent="-302261" algn="l">
              <a:lnSpc>
                <a:spcPts val="3360"/>
              </a:lnSpc>
              <a:buFont typeface="Arial"/>
              <a:buChar char="•"/>
            </a:pPr>
            <a:r>
              <a:rPr lang="en-US" sz="2800">
                <a:solidFill>
                  <a:srgbClr val="2B4B82"/>
                </a:solidFill>
                <a:latin typeface="Josefin Sans"/>
                <a:ea typeface="Josefin Sans"/>
                <a:cs typeface="Josefin Sans"/>
                <a:sym typeface="Josefin Sans"/>
              </a:rPr>
              <a:t>Các khoản tiền phạt tiềm ẩn do không tuân thủ.</a:t>
            </a:r>
          </a:p>
          <a:p>
            <a:pPr marL="604521" lvl="1" indent="-302261" algn="l">
              <a:lnSpc>
                <a:spcPts val="3360"/>
              </a:lnSpc>
              <a:buFont typeface="Arial"/>
              <a:buChar char="•"/>
            </a:pPr>
            <a:r>
              <a:rPr lang="en-US" sz="2800">
                <a:solidFill>
                  <a:srgbClr val="2B4B82"/>
                </a:solidFill>
                <a:latin typeface="Josefin Sans"/>
                <a:ea typeface="Josefin Sans"/>
                <a:cs typeface="Josefin Sans"/>
                <a:sym typeface="Josefin Sans"/>
              </a:rPr>
              <a:t>Mất khả năng phản ứng nhanh khi có sự cố bảo mật.</a:t>
            </a:r>
          </a:p>
          <a:p>
            <a:pPr algn="l">
              <a:lnSpc>
                <a:spcPts val="3360"/>
              </a:lnSpc>
            </a:pPr>
            <a:endParaRPr lang="en-US" sz="2800">
              <a:solidFill>
                <a:srgbClr val="2B4B82"/>
              </a:solidFill>
              <a:latin typeface="Josefin Sans"/>
              <a:ea typeface="Josefin Sans"/>
              <a:cs typeface="Josefin Sans"/>
              <a:sym typeface="Josefin Sans"/>
            </a:endParaRPr>
          </a:p>
        </p:txBody>
      </p:sp>
      <p:sp>
        <p:nvSpPr>
          <p:cNvPr id="4" name="TextBox 4"/>
          <p:cNvSpPr txBox="1"/>
          <p:nvPr/>
        </p:nvSpPr>
        <p:spPr>
          <a:xfrm>
            <a:off x="5866421" y="2665918"/>
            <a:ext cx="6555158" cy="995680"/>
          </a:xfrm>
          <a:prstGeom prst="rect">
            <a:avLst/>
          </a:prstGeom>
        </p:spPr>
        <p:txBody>
          <a:bodyPr lIns="0" tIns="0" rIns="0" bIns="0" rtlCol="0" anchor="t">
            <a:spAutoFit/>
          </a:bodyPr>
          <a:lstStyle/>
          <a:p>
            <a:pPr algn="ctr">
              <a:lnSpc>
                <a:spcPts val="3919"/>
              </a:lnSpc>
            </a:pPr>
            <a:r>
              <a:rPr lang="en-US" sz="2799" b="1" spc="478">
                <a:solidFill>
                  <a:srgbClr val="2B4B82"/>
                </a:solidFill>
                <a:latin typeface="Josefin Sans Bold"/>
                <a:ea typeface="Josefin Sans Bold"/>
                <a:cs typeface="Josefin Sans Bold"/>
                <a:sym typeface="Josefin Sans Bold"/>
              </a:rPr>
              <a:t>BUSINESS CONSEQUENCES</a:t>
            </a:r>
          </a:p>
          <a:p>
            <a:pPr algn="ctr">
              <a:lnSpc>
                <a:spcPts val="3919"/>
              </a:lnSpc>
            </a:pPr>
            <a:endParaRPr lang="en-US" sz="2799" b="1" spc="478">
              <a:solidFill>
                <a:srgbClr val="2B4B82"/>
              </a:solidFill>
              <a:latin typeface="Josefin Sans Bold"/>
              <a:ea typeface="Josefin Sans Bold"/>
              <a:cs typeface="Josefin Sans Bold"/>
              <a:sym typeface="Josefin Sans 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sp>
        <p:nvSpPr>
          <p:cNvPr id="2" name="Freeform 2"/>
          <p:cNvSpPr/>
          <p:nvPr/>
        </p:nvSpPr>
        <p:spPr>
          <a:xfrm>
            <a:off x="10476342" y="1951228"/>
            <a:ext cx="6338112" cy="6384545"/>
          </a:xfrm>
          <a:custGeom>
            <a:avLst/>
            <a:gdLst/>
            <a:ahLst/>
            <a:cxnLst/>
            <a:rect l="l" t="t" r="r" b="b"/>
            <a:pathLst>
              <a:path w="6338112" h="6384545">
                <a:moveTo>
                  <a:pt x="0" y="0"/>
                </a:moveTo>
                <a:lnTo>
                  <a:pt x="6338112" y="0"/>
                </a:lnTo>
                <a:lnTo>
                  <a:pt x="6338112" y="6384544"/>
                </a:lnTo>
                <a:lnTo>
                  <a:pt x="0" y="6384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1504950" y="2657475"/>
            <a:ext cx="8489114" cy="2228850"/>
          </a:xfrm>
          <a:prstGeom prst="rect">
            <a:avLst/>
          </a:prstGeom>
        </p:spPr>
        <p:txBody>
          <a:bodyPr lIns="0" tIns="0" rIns="0" bIns="0" rtlCol="0" anchor="t">
            <a:spAutoFit/>
          </a:bodyPr>
          <a:lstStyle/>
          <a:p>
            <a:pPr algn="l">
              <a:lnSpc>
                <a:spcPts val="7200"/>
              </a:lnSpc>
            </a:pPr>
            <a:r>
              <a:rPr lang="en-US" sz="6000" b="1">
                <a:solidFill>
                  <a:srgbClr val="F7B4A7"/>
                </a:solidFill>
                <a:latin typeface="Josefin Sans Bold"/>
                <a:ea typeface="Josefin Sans Bold"/>
                <a:cs typeface="Josefin Sans Bold"/>
                <a:sym typeface="Josefin Sans Bold"/>
              </a:rPr>
              <a:t>3. Solution Architecture</a:t>
            </a:r>
          </a:p>
          <a:p>
            <a:pPr algn="l">
              <a:lnSpc>
                <a:spcPts val="10200"/>
              </a:lnSpc>
            </a:pPr>
            <a:endParaRPr lang="en-US" sz="6000" b="1">
              <a:solidFill>
                <a:srgbClr val="F7B4A7"/>
              </a:solidFill>
              <a:latin typeface="Josefin Sans Bold"/>
              <a:ea typeface="Josefin Sans Bold"/>
              <a:cs typeface="Josefin Sans Bold"/>
              <a:sym typeface="Josefin Sans Bold"/>
            </a:endParaRPr>
          </a:p>
        </p:txBody>
      </p:sp>
      <p:sp>
        <p:nvSpPr>
          <p:cNvPr id="4" name="TextBox 4"/>
          <p:cNvSpPr txBox="1"/>
          <p:nvPr/>
        </p:nvSpPr>
        <p:spPr>
          <a:xfrm>
            <a:off x="1504950" y="5695125"/>
            <a:ext cx="8217084" cy="1490980"/>
          </a:xfrm>
          <a:prstGeom prst="rect">
            <a:avLst/>
          </a:prstGeom>
        </p:spPr>
        <p:txBody>
          <a:bodyPr lIns="0" tIns="0" rIns="0" bIns="0" rtlCol="0" anchor="t">
            <a:spAutoFit/>
          </a:bodyPr>
          <a:lstStyle/>
          <a:p>
            <a:pPr algn="l">
              <a:lnSpc>
                <a:spcPts val="3919"/>
              </a:lnSpc>
            </a:pPr>
            <a:r>
              <a:rPr lang="en-US" sz="2799">
                <a:solidFill>
                  <a:srgbClr val="94DDDE"/>
                </a:solidFill>
                <a:latin typeface="Josefin Sans"/>
                <a:ea typeface="Josefin Sans"/>
                <a:cs typeface="Josefin Sans"/>
                <a:sym typeface="Josefin Sans"/>
              </a:rPr>
              <a:t>Dùng AWS CloudTrail + S3 để lưu logs bất biến, mã hóa, dễ truy vấn. Triển khai đơn giản, tận dụng AWS Free Tier.</a:t>
            </a:r>
          </a:p>
        </p:txBody>
      </p:sp>
      <p:sp>
        <p:nvSpPr>
          <p:cNvPr id="5" name="TextBox 5"/>
          <p:cNvSpPr txBox="1"/>
          <p:nvPr/>
        </p:nvSpPr>
        <p:spPr>
          <a:xfrm>
            <a:off x="1504950" y="4419600"/>
            <a:ext cx="8489114" cy="466725"/>
          </a:xfrm>
          <a:prstGeom prst="rect">
            <a:avLst/>
          </a:prstGeom>
        </p:spPr>
        <p:txBody>
          <a:bodyPr lIns="0" tIns="0" rIns="0" bIns="0" rtlCol="0" anchor="t">
            <a:spAutoFit/>
          </a:bodyPr>
          <a:lstStyle/>
          <a:p>
            <a:pPr algn="l">
              <a:lnSpc>
                <a:spcPts val="3600"/>
              </a:lnSpc>
            </a:pPr>
            <a:r>
              <a:rPr lang="en-US" sz="3000" b="1">
                <a:solidFill>
                  <a:srgbClr val="F7B4A7"/>
                </a:solidFill>
                <a:latin typeface="Josefin Sans Bold"/>
                <a:ea typeface="Josefin Sans Bold"/>
                <a:cs typeface="Josefin Sans Bold"/>
                <a:sym typeface="Josefin Sans Bold"/>
              </a:rPr>
              <a:t>Architecture Overview</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sp>
        <p:nvSpPr>
          <p:cNvPr id="2" name="TextBox 2"/>
          <p:cNvSpPr txBox="1"/>
          <p:nvPr/>
        </p:nvSpPr>
        <p:spPr>
          <a:xfrm>
            <a:off x="4899443" y="1428750"/>
            <a:ext cx="8489114" cy="1847850"/>
          </a:xfrm>
          <a:prstGeom prst="rect">
            <a:avLst/>
          </a:prstGeom>
        </p:spPr>
        <p:txBody>
          <a:bodyPr lIns="0" tIns="0" rIns="0" bIns="0" rtlCol="0" anchor="t">
            <a:spAutoFit/>
          </a:bodyPr>
          <a:lstStyle/>
          <a:p>
            <a:pPr algn="ctr">
              <a:lnSpc>
                <a:spcPts val="7200"/>
              </a:lnSpc>
            </a:pPr>
            <a:r>
              <a:rPr lang="en-US" sz="6000" b="1">
                <a:solidFill>
                  <a:srgbClr val="F7B4A7"/>
                </a:solidFill>
                <a:latin typeface="Josefin Sans Bold"/>
                <a:ea typeface="Josefin Sans Bold"/>
                <a:cs typeface="Josefin Sans Bold"/>
                <a:sym typeface="Josefin Sans Bold"/>
              </a:rPr>
              <a:t>3. Solution Architecture</a:t>
            </a:r>
          </a:p>
          <a:p>
            <a:pPr algn="ctr">
              <a:lnSpc>
                <a:spcPts val="7200"/>
              </a:lnSpc>
            </a:pPr>
            <a:endParaRPr lang="en-US" sz="6000" b="1">
              <a:solidFill>
                <a:srgbClr val="F7B4A7"/>
              </a:solidFill>
              <a:latin typeface="Josefin Sans Bold"/>
              <a:ea typeface="Josefin Sans Bold"/>
              <a:cs typeface="Josefin Sans Bold"/>
              <a:sym typeface="Josefin Sans Bold"/>
            </a:endParaRPr>
          </a:p>
        </p:txBody>
      </p:sp>
      <p:grpSp>
        <p:nvGrpSpPr>
          <p:cNvPr id="3" name="Group 3"/>
          <p:cNvGrpSpPr/>
          <p:nvPr/>
        </p:nvGrpSpPr>
        <p:grpSpPr>
          <a:xfrm>
            <a:off x="580018" y="3276600"/>
            <a:ext cx="8638849" cy="5486400"/>
            <a:chOff x="0" y="0"/>
            <a:chExt cx="11518466" cy="7315200"/>
          </a:xfrm>
        </p:grpSpPr>
        <p:sp>
          <p:nvSpPr>
            <p:cNvPr id="4" name="TextBox 4"/>
            <p:cNvSpPr txBox="1"/>
            <p:nvPr/>
          </p:nvSpPr>
          <p:spPr>
            <a:xfrm>
              <a:off x="562353" y="1390227"/>
              <a:ext cx="10956112" cy="5924973"/>
            </a:xfrm>
            <a:prstGeom prst="rect">
              <a:avLst/>
            </a:prstGeom>
          </p:spPr>
          <p:txBody>
            <a:bodyPr lIns="0" tIns="0" rIns="0" bIns="0" rtlCol="0" anchor="t">
              <a:spAutoFit/>
            </a:bodyPr>
            <a:lstStyle/>
            <a:p>
              <a:pPr marL="604519" lvl="1" indent="-302260" algn="l">
                <a:lnSpc>
                  <a:spcPts val="3919"/>
                </a:lnSpc>
                <a:buFont typeface="Arial"/>
                <a:buChar char="•"/>
              </a:pPr>
              <a:r>
                <a:rPr lang="en-US" sz="2799">
                  <a:solidFill>
                    <a:srgbClr val="94DDDE"/>
                  </a:solidFill>
                  <a:latin typeface="Josefin Sans"/>
                  <a:ea typeface="Josefin Sans"/>
                  <a:cs typeface="Josefin Sans"/>
                  <a:sym typeface="Josefin Sans"/>
                </a:rPr>
                <a:t>AWS CloudTrail: Ghi lại các hoạt động API trong tài khoản AWS.</a:t>
              </a:r>
            </a:p>
            <a:p>
              <a:pPr marL="604519" lvl="1" indent="-302260" algn="l">
                <a:lnSpc>
                  <a:spcPts val="3919"/>
                </a:lnSpc>
                <a:buFont typeface="Arial"/>
                <a:buChar char="•"/>
              </a:pPr>
              <a:r>
                <a:rPr lang="en-US" sz="2799">
                  <a:solidFill>
                    <a:srgbClr val="94DDDE"/>
                  </a:solidFill>
                  <a:latin typeface="Josefin Sans"/>
                  <a:ea typeface="Josefin Sans"/>
                  <a:cs typeface="Josefin Sans"/>
                  <a:sym typeface="Josefin Sans"/>
                </a:rPr>
                <a:t>Amazon S3: Lưu trữ logs CloudTrail với Object Lock để đảm bảo immutability.</a:t>
              </a:r>
            </a:p>
            <a:p>
              <a:pPr marL="604519" lvl="1" indent="-302260" algn="l">
                <a:lnSpc>
                  <a:spcPts val="3919"/>
                </a:lnSpc>
                <a:buFont typeface="Arial"/>
                <a:buChar char="•"/>
              </a:pPr>
              <a:r>
                <a:rPr lang="en-US" sz="2799">
                  <a:solidFill>
                    <a:srgbClr val="94DDDE"/>
                  </a:solidFill>
                  <a:latin typeface="Josefin Sans"/>
                  <a:ea typeface="Josefin Sans"/>
                  <a:cs typeface="Josefin Sans"/>
                  <a:sym typeface="Josefin Sans"/>
                </a:rPr>
                <a:t>AWS KMS: Mã hóa nhật ký.</a:t>
              </a:r>
            </a:p>
            <a:p>
              <a:pPr marL="604519" lvl="1" indent="-302260" algn="l">
                <a:lnSpc>
                  <a:spcPts val="3919"/>
                </a:lnSpc>
                <a:buFont typeface="Arial"/>
                <a:buChar char="•"/>
              </a:pPr>
              <a:r>
                <a:rPr lang="en-US" sz="2799">
                  <a:solidFill>
                    <a:srgbClr val="94DDDE"/>
                  </a:solidFill>
                  <a:latin typeface="Josefin Sans"/>
                  <a:ea typeface="Josefin Sans"/>
                  <a:cs typeface="Josefin Sans"/>
                  <a:sym typeface="Josefin Sans"/>
                </a:rPr>
                <a:t>Amazon Athena: Phân tích logs bằng các truy vấn SQL.</a:t>
              </a:r>
            </a:p>
            <a:p>
              <a:pPr marL="604519" lvl="1" indent="-302260" algn="l">
                <a:lnSpc>
                  <a:spcPts val="3919"/>
                </a:lnSpc>
                <a:buFont typeface="Arial"/>
                <a:buChar char="•"/>
              </a:pPr>
              <a:r>
                <a:rPr lang="en-US" sz="2799">
                  <a:solidFill>
                    <a:srgbClr val="94DDDE"/>
                  </a:solidFill>
                  <a:latin typeface="Josefin Sans"/>
                  <a:ea typeface="Josefin Sans"/>
                  <a:cs typeface="Josefin Sans"/>
                  <a:sym typeface="Josefin Sans"/>
                </a:rPr>
                <a:t>AWS IAM: Kiểm soát quyền truy cập vào Logs</a:t>
              </a:r>
            </a:p>
            <a:p>
              <a:pPr algn="l">
                <a:lnSpc>
                  <a:spcPts val="3919"/>
                </a:lnSpc>
              </a:pPr>
              <a:endParaRPr lang="en-US" sz="2799">
                <a:solidFill>
                  <a:srgbClr val="94DDDE"/>
                </a:solidFill>
                <a:latin typeface="Josefin Sans"/>
                <a:ea typeface="Josefin Sans"/>
                <a:cs typeface="Josefin Sans"/>
                <a:sym typeface="Josefin Sans"/>
              </a:endParaRPr>
            </a:p>
          </p:txBody>
        </p:sp>
        <p:sp>
          <p:nvSpPr>
            <p:cNvPr id="5" name="TextBox 5"/>
            <p:cNvSpPr txBox="1"/>
            <p:nvPr/>
          </p:nvSpPr>
          <p:spPr>
            <a:xfrm>
              <a:off x="0" y="-9525"/>
              <a:ext cx="11318819" cy="619125"/>
            </a:xfrm>
            <a:prstGeom prst="rect">
              <a:avLst/>
            </a:prstGeom>
          </p:spPr>
          <p:txBody>
            <a:bodyPr lIns="0" tIns="0" rIns="0" bIns="0" rtlCol="0" anchor="t">
              <a:spAutoFit/>
            </a:bodyPr>
            <a:lstStyle/>
            <a:p>
              <a:pPr algn="ctr">
                <a:lnSpc>
                  <a:spcPts val="3600"/>
                </a:lnSpc>
              </a:pPr>
              <a:r>
                <a:rPr lang="en-US" sz="3000" b="1">
                  <a:solidFill>
                    <a:srgbClr val="F7B4A7"/>
                  </a:solidFill>
                  <a:latin typeface="Josefin Sans Bold"/>
                  <a:ea typeface="Josefin Sans Bold"/>
                  <a:cs typeface="Josefin Sans Bold"/>
                  <a:sym typeface="Josefin Sans Bold"/>
                </a:rPr>
                <a:t>AWS Services Used ( Dự kiến )</a:t>
              </a:r>
            </a:p>
          </p:txBody>
        </p:sp>
      </p:grpSp>
      <p:grpSp>
        <p:nvGrpSpPr>
          <p:cNvPr id="6" name="Group 6"/>
          <p:cNvGrpSpPr/>
          <p:nvPr/>
        </p:nvGrpSpPr>
        <p:grpSpPr>
          <a:xfrm>
            <a:off x="9144000" y="3276600"/>
            <a:ext cx="8489114" cy="6725534"/>
            <a:chOff x="0" y="0"/>
            <a:chExt cx="11318819" cy="8967379"/>
          </a:xfrm>
        </p:grpSpPr>
        <p:sp>
          <p:nvSpPr>
            <p:cNvPr id="7" name="TextBox 7"/>
            <p:cNvSpPr txBox="1"/>
            <p:nvPr/>
          </p:nvSpPr>
          <p:spPr>
            <a:xfrm>
              <a:off x="362707" y="1061205"/>
              <a:ext cx="10956112" cy="7906173"/>
            </a:xfrm>
            <a:prstGeom prst="rect">
              <a:avLst/>
            </a:prstGeom>
          </p:spPr>
          <p:txBody>
            <a:bodyPr lIns="0" tIns="0" rIns="0" bIns="0" rtlCol="0" anchor="t">
              <a:spAutoFit/>
            </a:bodyPr>
            <a:lstStyle/>
            <a:p>
              <a:pPr marL="604519" lvl="1" indent="-302260" algn="l">
                <a:lnSpc>
                  <a:spcPts val="3919"/>
                </a:lnSpc>
                <a:buFont typeface="Arial"/>
                <a:buChar char="•"/>
              </a:pPr>
              <a:r>
                <a:rPr lang="en-US" sz="2799">
                  <a:solidFill>
                    <a:srgbClr val="94DDDE"/>
                  </a:solidFill>
                  <a:latin typeface="Josefin Sans"/>
                  <a:ea typeface="Josefin Sans"/>
                  <a:cs typeface="Josefin Sans"/>
                  <a:sym typeface="Josefin Sans"/>
                </a:rPr>
                <a:t>Log Collection: AWS CloudTrail ghi lại các management events và gửi chúng đến Amazon S3.</a:t>
              </a:r>
            </a:p>
            <a:p>
              <a:pPr marL="604519" lvl="1" indent="-302260" algn="l">
                <a:lnSpc>
                  <a:spcPts val="3919"/>
                </a:lnSpc>
                <a:buFont typeface="Arial"/>
                <a:buChar char="•"/>
              </a:pPr>
              <a:r>
                <a:rPr lang="en-US" sz="2799">
                  <a:solidFill>
                    <a:srgbClr val="94DDDE"/>
                  </a:solidFill>
                  <a:latin typeface="Josefin Sans"/>
                  <a:ea typeface="Josefin Sans"/>
                  <a:cs typeface="Josefin Sans"/>
                  <a:sym typeface="Josefin Sans"/>
                </a:rPr>
                <a:t>Storage Layer: Amazon S3 bucket với Object Lock để lưu trữ bất biến.</a:t>
              </a:r>
            </a:p>
            <a:p>
              <a:pPr marL="604519" lvl="1" indent="-302260" algn="l">
                <a:lnSpc>
                  <a:spcPts val="3919"/>
                </a:lnSpc>
                <a:buFont typeface="Arial"/>
                <a:buChar char="•"/>
              </a:pPr>
              <a:r>
                <a:rPr lang="en-US" sz="2799">
                  <a:solidFill>
                    <a:srgbClr val="94DDDE"/>
                  </a:solidFill>
                  <a:latin typeface="Josefin Sans"/>
                  <a:ea typeface="Josefin Sans"/>
                  <a:cs typeface="Josefin Sans"/>
                  <a:sym typeface="Josefin Sans"/>
                </a:rPr>
                <a:t>Encryption: Nhật ký được mã hóa bằng khóa KMS mặc định.</a:t>
              </a:r>
            </a:p>
            <a:p>
              <a:pPr marL="604519" lvl="1" indent="-302260" algn="l">
                <a:lnSpc>
                  <a:spcPts val="3919"/>
                </a:lnSpc>
                <a:buFont typeface="Arial"/>
                <a:buChar char="•"/>
              </a:pPr>
              <a:r>
                <a:rPr lang="en-US" sz="2799">
                  <a:solidFill>
                    <a:srgbClr val="94DDDE"/>
                  </a:solidFill>
                  <a:latin typeface="Josefin Sans"/>
                  <a:ea typeface="Josefin Sans"/>
                  <a:cs typeface="Josefin Sans"/>
                  <a:sym typeface="Josefin Sans"/>
                </a:rPr>
                <a:t>Access Control: Các chính sách IAM giới hạn quyền truy cập vào Amazon S3 bucket.</a:t>
              </a:r>
            </a:p>
            <a:p>
              <a:pPr marL="604519" lvl="1" indent="-302260" algn="l">
                <a:lnSpc>
                  <a:spcPts val="3919"/>
                </a:lnSpc>
                <a:buFont typeface="Arial"/>
                <a:buChar char="•"/>
              </a:pPr>
              <a:r>
                <a:rPr lang="en-US" sz="2799">
                  <a:solidFill>
                    <a:srgbClr val="94DDDE"/>
                  </a:solidFill>
                  <a:latin typeface="Josefin Sans"/>
                  <a:ea typeface="Josefin Sans"/>
                  <a:cs typeface="Josefin Sans"/>
                  <a:sym typeface="Josefin Sans"/>
                </a:rPr>
                <a:t>Analysis Layer: Amazon Athena thực hiện các truy vấn đơn giản để tạo báo cáo dự án.</a:t>
              </a:r>
            </a:p>
            <a:p>
              <a:pPr algn="l">
                <a:lnSpc>
                  <a:spcPts val="3919"/>
                </a:lnSpc>
              </a:pPr>
              <a:endParaRPr lang="en-US" sz="2799">
                <a:solidFill>
                  <a:srgbClr val="94DDDE"/>
                </a:solidFill>
                <a:latin typeface="Josefin Sans"/>
                <a:ea typeface="Josefin Sans"/>
                <a:cs typeface="Josefin Sans"/>
                <a:sym typeface="Josefin Sans"/>
              </a:endParaRPr>
            </a:p>
          </p:txBody>
        </p:sp>
        <p:sp>
          <p:nvSpPr>
            <p:cNvPr id="8" name="TextBox 8"/>
            <p:cNvSpPr txBox="1"/>
            <p:nvPr/>
          </p:nvSpPr>
          <p:spPr>
            <a:xfrm>
              <a:off x="0" y="-9525"/>
              <a:ext cx="11318819" cy="619125"/>
            </a:xfrm>
            <a:prstGeom prst="rect">
              <a:avLst/>
            </a:prstGeom>
          </p:spPr>
          <p:txBody>
            <a:bodyPr lIns="0" tIns="0" rIns="0" bIns="0" rtlCol="0" anchor="t">
              <a:spAutoFit/>
            </a:bodyPr>
            <a:lstStyle/>
            <a:p>
              <a:pPr algn="ctr">
                <a:lnSpc>
                  <a:spcPts val="3600"/>
                </a:lnSpc>
              </a:pPr>
              <a:r>
                <a:rPr lang="en-US" sz="3000" b="1">
                  <a:solidFill>
                    <a:srgbClr val="F7B4A7"/>
                  </a:solidFill>
                  <a:latin typeface="Josefin Sans Bold"/>
                  <a:ea typeface="Josefin Sans Bold"/>
                  <a:cs typeface="Josefin Sans Bold"/>
                  <a:sym typeface="Josefin Sans Bold"/>
                </a:rPr>
                <a:t>Component Design</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sp>
        <p:nvSpPr>
          <p:cNvPr id="2" name="TextBox 2"/>
          <p:cNvSpPr txBox="1"/>
          <p:nvPr/>
        </p:nvSpPr>
        <p:spPr>
          <a:xfrm>
            <a:off x="4899443" y="1428750"/>
            <a:ext cx="8489114" cy="1847850"/>
          </a:xfrm>
          <a:prstGeom prst="rect">
            <a:avLst/>
          </a:prstGeom>
        </p:spPr>
        <p:txBody>
          <a:bodyPr lIns="0" tIns="0" rIns="0" bIns="0" rtlCol="0" anchor="t">
            <a:spAutoFit/>
          </a:bodyPr>
          <a:lstStyle/>
          <a:p>
            <a:pPr algn="ctr">
              <a:lnSpc>
                <a:spcPts val="7200"/>
              </a:lnSpc>
            </a:pPr>
            <a:r>
              <a:rPr lang="en-US" sz="6000" b="1">
                <a:solidFill>
                  <a:srgbClr val="F7B4A7"/>
                </a:solidFill>
                <a:latin typeface="Josefin Sans Bold"/>
                <a:ea typeface="Josefin Sans Bold"/>
                <a:cs typeface="Josefin Sans Bold"/>
                <a:sym typeface="Josefin Sans Bold"/>
              </a:rPr>
              <a:t>3. Solution Architecture</a:t>
            </a:r>
          </a:p>
          <a:p>
            <a:pPr algn="ctr">
              <a:lnSpc>
                <a:spcPts val="7200"/>
              </a:lnSpc>
            </a:pPr>
            <a:endParaRPr lang="en-US" sz="6000" b="1">
              <a:solidFill>
                <a:srgbClr val="F7B4A7"/>
              </a:solidFill>
              <a:latin typeface="Josefin Sans Bold"/>
              <a:ea typeface="Josefin Sans Bold"/>
              <a:cs typeface="Josefin Sans Bold"/>
              <a:sym typeface="Josefin Sans Bold"/>
            </a:endParaRPr>
          </a:p>
        </p:txBody>
      </p:sp>
      <p:grpSp>
        <p:nvGrpSpPr>
          <p:cNvPr id="3" name="Group 3"/>
          <p:cNvGrpSpPr/>
          <p:nvPr/>
        </p:nvGrpSpPr>
        <p:grpSpPr>
          <a:xfrm>
            <a:off x="1028700" y="3667125"/>
            <a:ext cx="8489114" cy="5591175"/>
            <a:chOff x="0" y="0"/>
            <a:chExt cx="11318819" cy="7454900"/>
          </a:xfrm>
        </p:grpSpPr>
        <p:sp>
          <p:nvSpPr>
            <p:cNvPr id="4" name="TextBox 4"/>
            <p:cNvSpPr txBox="1"/>
            <p:nvPr/>
          </p:nvSpPr>
          <p:spPr>
            <a:xfrm>
              <a:off x="181353" y="1529927"/>
              <a:ext cx="10956112" cy="5924973"/>
            </a:xfrm>
            <a:prstGeom prst="rect">
              <a:avLst/>
            </a:prstGeom>
          </p:spPr>
          <p:txBody>
            <a:bodyPr lIns="0" tIns="0" rIns="0" bIns="0" rtlCol="0" anchor="t">
              <a:spAutoFit/>
            </a:bodyPr>
            <a:lstStyle/>
            <a:p>
              <a:pPr marL="604519" lvl="1" indent="-302260" algn="l">
                <a:lnSpc>
                  <a:spcPts val="3919"/>
                </a:lnSpc>
                <a:buFont typeface="Arial"/>
                <a:buChar char="•"/>
              </a:pPr>
              <a:r>
                <a:rPr lang="en-US" sz="2799">
                  <a:solidFill>
                    <a:srgbClr val="94DDDE"/>
                  </a:solidFill>
                  <a:latin typeface="Josefin Sans"/>
                  <a:ea typeface="Josefin Sans"/>
                  <a:cs typeface="Josefin Sans"/>
                  <a:sym typeface="Josefin Sans"/>
                </a:rPr>
                <a:t>Data Protection: Logs được mã hóa tại chỗ bằng AWS KMS và trong truyền tải bằng TLS</a:t>
              </a:r>
            </a:p>
            <a:p>
              <a:pPr marL="604519" lvl="1" indent="-302260" algn="l">
                <a:lnSpc>
                  <a:spcPts val="3919"/>
                </a:lnSpc>
                <a:buFont typeface="Arial"/>
                <a:buChar char="•"/>
              </a:pPr>
              <a:r>
                <a:rPr lang="en-US" sz="2799">
                  <a:solidFill>
                    <a:srgbClr val="94DDDE"/>
                  </a:solidFill>
                  <a:latin typeface="Josefin Sans"/>
                  <a:ea typeface="Josefin Sans"/>
                  <a:cs typeface="Josefin Sans"/>
                  <a:sym typeface="Josefin Sans"/>
                </a:rPr>
                <a:t>Access Control: AWS IAM giới hạn quyền truy cập vào tài khoản của sinh viên FCJ.</a:t>
              </a:r>
            </a:p>
            <a:p>
              <a:pPr marL="604519" lvl="1" indent="-302260" algn="l">
                <a:lnSpc>
                  <a:spcPts val="3919"/>
                </a:lnSpc>
                <a:buFont typeface="Arial"/>
                <a:buChar char="•"/>
              </a:pPr>
              <a:r>
                <a:rPr lang="en-US" sz="2799">
                  <a:solidFill>
                    <a:srgbClr val="94DDDE"/>
                  </a:solidFill>
                  <a:latin typeface="Josefin Sans"/>
                  <a:ea typeface="Josefin Sans"/>
                  <a:cs typeface="Josefin Sans"/>
                  <a:sym typeface="Josefin Sans"/>
                </a:rPr>
                <a:t>Immutability: Amazon S3 Object Lock ngăn chặn việc xóa hoặc sửa đổi Logs.</a:t>
              </a:r>
            </a:p>
            <a:p>
              <a:pPr marL="604519" lvl="1" indent="-302260" algn="l">
                <a:lnSpc>
                  <a:spcPts val="3919"/>
                </a:lnSpc>
                <a:buFont typeface="Arial"/>
                <a:buChar char="•"/>
              </a:pPr>
              <a:r>
                <a:rPr lang="en-US" sz="2799">
                  <a:solidFill>
                    <a:srgbClr val="94DDDE"/>
                  </a:solidFill>
                  <a:latin typeface="Josefin Sans"/>
                  <a:ea typeface="Josefin Sans"/>
                  <a:cs typeface="Josefin Sans"/>
                  <a:sym typeface="Josefin Sans"/>
                </a:rPr>
                <a:t>Auditing: Các lượt truy cập Logs được ghi lại trong AWS CloudTrail</a:t>
              </a:r>
            </a:p>
            <a:p>
              <a:pPr algn="l">
                <a:lnSpc>
                  <a:spcPts val="3919"/>
                </a:lnSpc>
              </a:pPr>
              <a:endParaRPr lang="en-US" sz="2799">
                <a:solidFill>
                  <a:srgbClr val="94DDDE"/>
                </a:solidFill>
                <a:latin typeface="Josefin Sans"/>
                <a:ea typeface="Josefin Sans"/>
                <a:cs typeface="Josefin Sans"/>
                <a:sym typeface="Josefin Sans"/>
              </a:endParaRPr>
            </a:p>
          </p:txBody>
        </p:sp>
        <p:sp>
          <p:nvSpPr>
            <p:cNvPr id="5" name="TextBox 5"/>
            <p:cNvSpPr txBox="1"/>
            <p:nvPr/>
          </p:nvSpPr>
          <p:spPr>
            <a:xfrm>
              <a:off x="0" y="-9525"/>
              <a:ext cx="11318819" cy="619125"/>
            </a:xfrm>
            <a:prstGeom prst="rect">
              <a:avLst/>
            </a:prstGeom>
          </p:spPr>
          <p:txBody>
            <a:bodyPr lIns="0" tIns="0" rIns="0" bIns="0" rtlCol="0" anchor="t">
              <a:spAutoFit/>
            </a:bodyPr>
            <a:lstStyle/>
            <a:p>
              <a:pPr algn="ctr">
                <a:lnSpc>
                  <a:spcPts val="3600"/>
                </a:lnSpc>
              </a:pPr>
              <a:r>
                <a:rPr lang="en-US" sz="3000" b="1">
                  <a:solidFill>
                    <a:srgbClr val="F7B4A7"/>
                  </a:solidFill>
                  <a:latin typeface="Josefin Sans Bold"/>
                  <a:ea typeface="Josefin Sans Bold"/>
                  <a:cs typeface="Josefin Sans Bold"/>
                  <a:sym typeface="Josefin Sans Bold"/>
                </a:rPr>
                <a:t>Security Architecture</a:t>
              </a:r>
            </a:p>
          </p:txBody>
        </p:sp>
      </p:grpSp>
      <p:sp>
        <p:nvSpPr>
          <p:cNvPr id="6" name="TextBox 6"/>
          <p:cNvSpPr txBox="1"/>
          <p:nvPr/>
        </p:nvSpPr>
        <p:spPr>
          <a:xfrm>
            <a:off x="9416030" y="4871720"/>
            <a:ext cx="8217084" cy="3472180"/>
          </a:xfrm>
          <a:prstGeom prst="rect">
            <a:avLst/>
          </a:prstGeom>
        </p:spPr>
        <p:txBody>
          <a:bodyPr lIns="0" tIns="0" rIns="0" bIns="0" rtlCol="0" anchor="t">
            <a:spAutoFit/>
          </a:bodyPr>
          <a:lstStyle/>
          <a:p>
            <a:pPr marL="604519" lvl="1" indent="-302260" algn="l">
              <a:lnSpc>
                <a:spcPts val="3919"/>
              </a:lnSpc>
              <a:buFont typeface="Arial"/>
              <a:buChar char="•"/>
            </a:pPr>
            <a:r>
              <a:rPr lang="en-US" sz="2799">
                <a:solidFill>
                  <a:srgbClr val="94DDDE"/>
                </a:solidFill>
                <a:latin typeface="Josefin Sans"/>
                <a:ea typeface="Josefin Sans"/>
                <a:cs typeface="Josefin Sans"/>
                <a:sym typeface="Josefin Sans"/>
              </a:rPr>
              <a:t>Log Volume: Amazon S3 tự động mở rộng cho khối lượng dự án nhỏ.</a:t>
            </a:r>
          </a:p>
          <a:p>
            <a:pPr marL="604519" lvl="1" indent="-302260" algn="l">
              <a:lnSpc>
                <a:spcPts val="3919"/>
              </a:lnSpc>
              <a:buFont typeface="Arial"/>
              <a:buChar char="•"/>
            </a:pPr>
            <a:r>
              <a:rPr lang="en-US" sz="2799">
                <a:solidFill>
                  <a:srgbClr val="94DDDE"/>
                </a:solidFill>
                <a:latin typeface="Josefin Sans"/>
                <a:ea typeface="Josefin Sans"/>
                <a:cs typeface="Josefin Sans"/>
                <a:sym typeface="Josefin Sans"/>
              </a:rPr>
              <a:t>Query Performance: Amazon Athena xử lý các truy vấn nhanh cho tập dữ liệu nhỏ.</a:t>
            </a:r>
          </a:p>
          <a:p>
            <a:pPr marL="604519" lvl="1" indent="-302260" algn="l">
              <a:lnSpc>
                <a:spcPts val="3919"/>
              </a:lnSpc>
              <a:buFont typeface="Arial"/>
              <a:buChar char="•"/>
            </a:pPr>
            <a:r>
              <a:rPr lang="en-US" sz="2799">
                <a:solidFill>
                  <a:srgbClr val="94DDDE"/>
                </a:solidFill>
                <a:latin typeface="Josefin Sans"/>
                <a:ea typeface="Josefin Sans"/>
                <a:cs typeface="Josefin Sans"/>
                <a:sym typeface="Josefin Sans"/>
              </a:rPr>
              <a:t>Single Account Support: Chỉ sử dụng tài khoản AWS của sinh viên FCJ.</a:t>
            </a:r>
          </a:p>
          <a:p>
            <a:pPr algn="l">
              <a:lnSpc>
                <a:spcPts val="3919"/>
              </a:lnSpc>
            </a:pPr>
            <a:endParaRPr lang="en-US" sz="2799">
              <a:solidFill>
                <a:srgbClr val="94DDDE"/>
              </a:solidFill>
              <a:latin typeface="Josefin Sans"/>
              <a:ea typeface="Josefin Sans"/>
              <a:cs typeface="Josefin Sans"/>
              <a:sym typeface="Josefin Sans"/>
            </a:endParaRPr>
          </a:p>
        </p:txBody>
      </p:sp>
      <p:sp>
        <p:nvSpPr>
          <p:cNvPr id="7" name="TextBox 7"/>
          <p:cNvSpPr txBox="1"/>
          <p:nvPr/>
        </p:nvSpPr>
        <p:spPr>
          <a:xfrm>
            <a:off x="9144000" y="3657600"/>
            <a:ext cx="8489114" cy="466725"/>
          </a:xfrm>
          <a:prstGeom prst="rect">
            <a:avLst/>
          </a:prstGeom>
        </p:spPr>
        <p:txBody>
          <a:bodyPr lIns="0" tIns="0" rIns="0" bIns="0" rtlCol="0" anchor="t">
            <a:spAutoFit/>
          </a:bodyPr>
          <a:lstStyle/>
          <a:p>
            <a:pPr algn="ctr">
              <a:lnSpc>
                <a:spcPts val="3600"/>
              </a:lnSpc>
            </a:pPr>
            <a:r>
              <a:rPr lang="en-US" sz="3000" b="1">
                <a:solidFill>
                  <a:srgbClr val="F7B4A7"/>
                </a:solidFill>
                <a:latin typeface="Josefin Sans Bold"/>
                <a:ea typeface="Josefin Sans Bold"/>
                <a:cs typeface="Josefin Sans Bold"/>
                <a:sym typeface="Josefin Sans Bold"/>
              </a:rPr>
              <a:t>Scalability Design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a:off x="0" y="-963412"/>
            <a:ext cx="4597438" cy="2842053"/>
          </a:xfrm>
          <a:custGeom>
            <a:avLst/>
            <a:gdLst/>
            <a:ahLst/>
            <a:cxnLst/>
            <a:rect l="l" t="t" r="r" b="b"/>
            <a:pathLst>
              <a:path w="4597438" h="2842053">
                <a:moveTo>
                  <a:pt x="0" y="0"/>
                </a:moveTo>
                <a:lnTo>
                  <a:pt x="4597438" y="0"/>
                </a:lnTo>
                <a:lnTo>
                  <a:pt x="4597438" y="2842052"/>
                </a:lnTo>
                <a:lnTo>
                  <a:pt x="0" y="28420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H="1">
            <a:off x="10551837" y="390596"/>
            <a:ext cx="2076668" cy="1276207"/>
          </a:xfrm>
          <a:custGeom>
            <a:avLst/>
            <a:gdLst/>
            <a:ahLst/>
            <a:cxnLst/>
            <a:rect l="l" t="t" r="r" b="b"/>
            <a:pathLst>
              <a:path w="2076668" h="1276207">
                <a:moveTo>
                  <a:pt x="2076668" y="0"/>
                </a:moveTo>
                <a:lnTo>
                  <a:pt x="0" y="0"/>
                </a:lnTo>
                <a:lnTo>
                  <a:pt x="0" y="1276208"/>
                </a:lnTo>
                <a:lnTo>
                  <a:pt x="2076668" y="1276208"/>
                </a:lnTo>
                <a:lnTo>
                  <a:pt x="2076668"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13138681" y="-2447996"/>
            <a:ext cx="3837986" cy="4114800"/>
          </a:xfrm>
          <a:custGeom>
            <a:avLst/>
            <a:gdLst/>
            <a:ahLst/>
            <a:cxnLst/>
            <a:rect l="l" t="t" r="r" b="b"/>
            <a:pathLst>
              <a:path w="3837986" h="4114800">
                <a:moveTo>
                  <a:pt x="0" y="0"/>
                </a:moveTo>
                <a:lnTo>
                  <a:pt x="3837987" y="0"/>
                </a:lnTo>
                <a:lnTo>
                  <a:pt x="383798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Freeform 5"/>
          <p:cNvSpPr/>
          <p:nvPr/>
        </p:nvSpPr>
        <p:spPr>
          <a:xfrm>
            <a:off x="4994246" y="-3759204"/>
            <a:ext cx="5357753" cy="5591583"/>
          </a:xfrm>
          <a:custGeom>
            <a:avLst/>
            <a:gdLst/>
            <a:ahLst/>
            <a:cxnLst/>
            <a:rect l="l" t="t" r="r" b="b"/>
            <a:pathLst>
              <a:path w="5357753" h="5591583">
                <a:moveTo>
                  <a:pt x="0" y="0"/>
                </a:moveTo>
                <a:lnTo>
                  <a:pt x="5357752" y="0"/>
                </a:lnTo>
                <a:lnTo>
                  <a:pt x="5357752" y="5591583"/>
                </a:lnTo>
                <a:lnTo>
                  <a:pt x="0" y="559158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6" name="TextBox 6"/>
          <p:cNvSpPr txBox="1"/>
          <p:nvPr/>
        </p:nvSpPr>
        <p:spPr>
          <a:xfrm>
            <a:off x="4215625" y="2071840"/>
            <a:ext cx="9162237" cy="1828800"/>
          </a:xfrm>
          <a:prstGeom prst="rect">
            <a:avLst/>
          </a:prstGeom>
        </p:spPr>
        <p:txBody>
          <a:bodyPr lIns="0" tIns="0" rIns="0" bIns="0" rtlCol="0" anchor="t">
            <a:spAutoFit/>
          </a:bodyPr>
          <a:lstStyle/>
          <a:p>
            <a:pPr algn="l">
              <a:lnSpc>
                <a:spcPts val="7230"/>
              </a:lnSpc>
            </a:pPr>
            <a:r>
              <a:rPr lang="en-US" sz="6025" b="1">
                <a:solidFill>
                  <a:srgbClr val="2B4B82"/>
                </a:solidFill>
                <a:latin typeface="Josefin Sans Bold"/>
                <a:ea typeface="Josefin Sans Bold"/>
                <a:cs typeface="Josefin Sans Bold"/>
                <a:sym typeface="Josefin Sans Bold"/>
              </a:rPr>
              <a:t>4. Technical Implementation</a:t>
            </a:r>
          </a:p>
        </p:txBody>
      </p:sp>
      <p:sp>
        <p:nvSpPr>
          <p:cNvPr id="7" name="TextBox 7"/>
          <p:cNvSpPr txBox="1"/>
          <p:nvPr/>
        </p:nvSpPr>
        <p:spPr>
          <a:xfrm>
            <a:off x="4215625" y="4138765"/>
            <a:ext cx="9162237" cy="577215"/>
          </a:xfrm>
          <a:prstGeom prst="rect">
            <a:avLst/>
          </a:prstGeom>
        </p:spPr>
        <p:txBody>
          <a:bodyPr lIns="0" tIns="0" rIns="0" bIns="0" rtlCol="0" anchor="t">
            <a:spAutoFit/>
          </a:bodyPr>
          <a:lstStyle/>
          <a:p>
            <a:pPr algn="l">
              <a:lnSpc>
                <a:spcPts val="4994"/>
              </a:lnSpc>
            </a:pPr>
            <a:r>
              <a:rPr lang="en-US" sz="2699" spc="426">
                <a:solidFill>
                  <a:srgbClr val="2B4B82"/>
                </a:solidFill>
                <a:latin typeface="Josefin Sans"/>
                <a:ea typeface="Josefin Sans"/>
                <a:cs typeface="Josefin Sans"/>
                <a:sym typeface="Josefin Sans"/>
              </a:rPr>
              <a:t>IMPLEMENTATION PHASES</a:t>
            </a:r>
          </a:p>
        </p:txBody>
      </p:sp>
      <p:sp>
        <p:nvSpPr>
          <p:cNvPr id="8" name="TextBox 8"/>
          <p:cNvSpPr txBox="1"/>
          <p:nvPr/>
        </p:nvSpPr>
        <p:spPr>
          <a:xfrm>
            <a:off x="6108866" y="6235749"/>
            <a:ext cx="2401669" cy="1263015"/>
          </a:xfrm>
          <a:prstGeom prst="rect">
            <a:avLst/>
          </a:prstGeom>
        </p:spPr>
        <p:txBody>
          <a:bodyPr lIns="0" tIns="0" rIns="0" bIns="0" rtlCol="0" anchor="t">
            <a:spAutoFit/>
          </a:bodyPr>
          <a:lstStyle/>
          <a:p>
            <a:pPr algn="ctr">
              <a:lnSpc>
                <a:spcPts val="3359"/>
              </a:lnSpc>
            </a:pPr>
            <a:r>
              <a:rPr lang="en-US" sz="2400" b="1">
                <a:solidFill>
                  <a:srgbClr val="2B4B82"/>
                </a:solidFill>
                <a:latin typeface="Josefin Sans Bold"/>
                <a:ea typeface="Josefin Sans Bold"/>
                <a:cs typeface="Josefin Sans Bold"/>
                <a:sym typeface="Josefin Sans Bold"/>
              </a:rPr>
              <a:t>Triển khai Cơ sở Hạ tầng</a:t>
            </a:r>
          </a:p>
          <a:p>
            <a:pPr algn="ctr">
              <a:lnSpc>
                <a:spcPts val="3359"/>
              </a:lnSpc>
            </a:pPr>
            <a:r>
              <a:rPr lang="en-US" sz="2400">
                <a:solidFill>
                  <a:srgbClr val="2B4B82"/>
                </a:solidFill>
                <a:latin typeface="Josefin Sans"/>
                <a:ea typeface="Josefin Sans"/>
                <a:cs typeface="Josefin Sans"/>
                <a:sym typeface="Josefin Sans"/>
              </a:rPr>
              <a:t>Week 2</a:t>
            </a:r>
          </a:p>
        </p:txBody>
      </p:sp>
      <p:grpSp>
        <p:nvGrpSpPr>
          <p:cNvPr id="9" name="Group 9"/>
          <p:cNvGrpSpPr/>
          <p:nvPr/>
        </p:nvGrpSpPr>
        <p:grpSpPr>
          <a:xfrm>
            <a:off x="2732449" y="6310683"/>
            <a:ext cx="2459408" cy="1816573"/>
            <a:chOff x="0" y="0"/>
            <a:chExt cx="3279211" cy="2422097"/>
          </a:xfrm>
        </p:grpSpPr>
        <p:sp>
          <p:nvSpPr>
            <p:cNvPr id="10" name="TextBox 10"/>
            <p:cNvSpPr txBox="1"/>
            <p:nvPr/>
          </p:nvSpPr>
          <p:spPr>
            <a:xfrm>
              <a:off x="0" y="1952610"/>
              <a:ext cx="3279211" cy="469487"/>
            </a:xfrm>
            <a:prstGeom prst="rect">
              <a:avLst/>
            </a:prstGeom>
          </p:spPr>
          <p:txBody>
            <a:bodyPr lIns="0" tIns="0" rIns="0" bIns="0" rtlCol="0" anchor="t">
              <a:spAutoFit/>
            </a:bodyPr>
            <a:lstStyle/>
            <a:p>
              <a:pPr algn="ctr">
                <a:lnSpc>
                  <a:spcPts val="2940"/>
                </a:lnSpc>
              </a:pPr>
              <a:endParaRPr/>
            </a:p>
          </p:txBody>
        </p:sp>
        <p:sp>
          <p:nvSpPr>
            <p:cNvPr id="11" name="TextBox 11"/>
            <p:cNvSpPr txBox="1"/>
            <p:nvPr/>
          </p:nvSpPr>
          <p:spPr>
            <a:xfrm>
              <a:off x="0" y="-66675"/>
              <a:ext cx="3279211" cy="1675619"/>
            </a:xfrm>
            <a:prstGeom prst="rect">
              <a:avLst/>
            </a:prstGeom>
          </p:spPr>
          <p:txBody>
            <a:bodyPr lIns="0" tIns="0" rIns="0" bIns="0" rtlCol="0" anchor="t">
              <a:spAutoFit/>
            </a:bodyPr>
            <a:lstStyle/>
            <a:p>
              <a:pPr algn="ctr">
                <a:lnSpc>
                  <a:spcPts val="3359"/>
                </a:lnSpc>
              </a:pPr>
              <a:r>
                <a:rPr lang="en-US" sz="2400" b="1">
                  <a:solidFill>
                    <a:srgbClr val="2B4B82"/>
                  </a:solidFill>
                  <a:latin typeface="Josefin Sans Bold"/>
                  <a:ea typeface="Josefin Sans Bold"/>
                  <a:cs typeface="Josefin Sans Bold"/>
                  <a:sym typeface="Josefin Sans Bold"/>
                </a:rPr>
                <a:t> Lập kế hoạch và Thiết lập</a:t>
              </a:r>
            </a:p>
            <a:p>
              <a:pPr algn="ctr">
                <a:lnSpc>
                  <a:spcPts val="3359"/>
                </a:lnSpc>
              </a:pPr>
              <a:r>
                <a:rPr lang="en-US" sz="2400">
                  <a:solidFill>
                    <a:srgbClr val="2B4B82"/>
                  </a:solidFill>
                  <a:latin typeface="Josefin Sans"/>
                  <a:ea typeface="Josefin Sans"/>
                  <a:cs typeface="Josefin Sans"/>
                  <a:sym typeface="Josefin Sans"/>
                </a:rPr>
                <a:t>Week 1</a:t>
              </a:r>
            </a:p>
          </p:txBody>
        </p:sp>
      </p:grpSp>
      <p:sp>
        <p:nvSpPr>
          <p:cNvPr id="12" name="TextBox 12"/>
          <p:cNvSpPr txBox="1"/>
          <p:nvPr/>
        </p:nvSpPr>
        <p:spPr>
          <a:xfrm>
            <a:off x="9427545" y="6240780"/>
            <a:ext cx="2459408" cy="1273383"/>
          </a:xfrm>
          <a:prstGeom prst="rect">
            <a:avLst/>
          </a:prstGeom>
        </p:spPr>
        <p:txBody>
          <a:bodyPr lIns="0" tIns="0" rIns="0" bIns="0" rtlCol="0" anchor="t">
            <a:spAutoFit/>
          </a:bodyPr>
          <a:lstStyle/>
          <a:p>
            <a:pPr algn="ctr">
              <a:lnSpc>
                <a:spcPts val="3360"/>
              </a:lnSpc>
            </a:pPr>
            <a:r>
              <a:rPr lang="en-US" sz="2400" b="1">
                <a:solidFill>
                  <a:srgbClr val="2B4B82"/>
                </a:solidFill>
                <a:latin typeface="Josefin Sans Bold"/>
                <a:ea typeface="Josefin Sans Bold"/>
                <a:cs typeface="Josefin Sans Bold"/>
                <a:sym typeface="Josefin Sans Bold"/>
              </a:rPr>
              <a:t>Tích hợp và Kiểm tra</a:t>
            </a:r>
          </a:p>
          <a:p>
            <a:pPr algn="ctr">
              <a:lnSpc>
                <a:spcPts val="3359"/>
              </a:lnSpc>
            </a:pPr>
            <a:r>
              <a:rPr lang="en-US" sz="2400">
                <a:solidFill>
                  <a:srgbClr val="2B4B82"/>
                </a:solidFill>
                <a:latin typeface="Josefin Sans"/>
                <a:ea typeface="Josefin Sans"/>
                <a:cs typeface="Josefin Sans"/>
                <a:sym typeface="Josefin Sans"/>
              </a:rPr>
              <a:t>Week 3</a:t>
            </a:r>
          </a:p>
        </p:txBody>
      </p:sp>
      <p:grpSp>
        <p:nvGrpSpPr>
          <p:cNvPr id="13" name="Group 13"/>
          <p:cNvGrpSpPr/>
          <p:nvPr/>
        </p:nvGrpSpPr>
        <p:grpSpPr>
          <a:xfrm>
            <a:off x="12874917" y="6314875"/>
            <a:ext cx="2680634" cy="1818962"/>
            <a:chOff x="0" y="0"/>
            <a:chExt cx="3574179" cy="2425283"/>
          </a:xfrm>
        </p:grpSpPr>
        <p:sp>
          <p:nvSpPr>
            <p:cNvPr id="14" name="TextBox 14"/>
            <p:cNvSpPr txBox="1"/>
            <p:nvPr/>
          </p:nvSpPr>
          <p:spPr>
            <a:xfrm>
              <a:off x="0" y="1955796"/>
              <a:ext cx="3574179" cy="469487"/>
            </a:xfrm>
            <a:prstGeom prst="rect">
              <a:avLst/>
            </a:prstGeom>
          </p:spPr>
          <p:txBody>
            <a:bodyPr lIns="0" tIns="0" rIns="0" bIns="0" rtlCol="0" anchor="t">
              <a:spAutoFit/>
            </a:bodyPr>
            <a:lstStyle/>
            <a:p>
              <a:pPr algn="ctr">
                <a:lnSpc>
                  <a:spcPts val="2940"/>
                </a:lnSpc>
              </a:pPr>
              <a:endParaRPr/>
            </a:p>
          </p:txBody>
        </p:sp>
        <p:sp>
          <p:nvSpPr>
            <p:cNvPr id="15" name="TextBox 15"/>
            <p:cNvSpPr txBox="1"/>
            <p:nvPr/>
          </p:nvSpPr>
          <p:spPr>
            <a:xfrm>
              <a:off x="0" y="-66675"/>
              <a:ext cx="3574179" cy="1675619"/>
            </a:xfrm>
            <a:prstGeom prst="rect">
              <a:avLst/>
            </a:prstGeom>
          </p:spPr>
          <p:txBody>
            <a:bodyPr lIns="0" tIns="0" rIns="0" bIns="0" rtlCol="0" anchor="t">
              <a:spAutoFit/>
            </a:bodyPr>
            <a:lstStyle/>
            <a:p>
              <a:pPr algn="ctr">
                <a:lnSpc>
                  <a:spcPts val="3360"/>
                </a:lnSpc>
              </a:pPr>
              <a:r>
                <a:rPr lang="en-US" sz="2400" b="1">
                  <a:solidFill>
                    <a:srgbClr val="2B4B82"/>
                  </a:solidFill>
                  <a:latin typeface="Josefin Sans Bold"/>
                  <a:ea typeface="Josefin Sans Bold"/>
                  <a:cs typeface="Josefin Sans Bold"/>
                  <a:sym typeface="Josefin Sans Bold"/>
                </a:rPr>
                <a:t>Báo cáo và Hoàn thiện</a:t>
              </a:r>
            </a:p>
            <a:p>
              <a:pPr algn="ctr">
                <a:lnSpc>
                  <a:spcPts val="3359"/>
                </a:lnSpc>
              </a:pPr>
              <a:r>
                <a:rPr lang="en-US" sz="2400">
                  <a:solidFill>
                    <a:srgbClr val="2B4B82"/>
                  </a:solidFill>
                  <a:latin typeface="Josefin Sans"/>
                  <a:ea typeface="Josefin Sans"/>
                  <a:cs typeface="Josefin Sans"/>
                  <a:sym typeface="Josefin Sans"/>
                </a:rPr>
                <a:t>Week 4</a:t>
              </a:r>
            </a:p>
          </p:txBody>
        </p:sp>
      </p:grpSp>
      <p:sp>
        <p:nvSpPr>
          <p:cNvPr id="16" name="TextBox 16"/>
          <p:cNvSpPr txBox="1"/>
          <p:nvPr/>
        </p:nvSpPr>
        <p:spPr>
          <a:xfrm>
            <a:off x="3660468" y="5038725"/>
            <a:ext cx="603369" cy="775335"/>
          </a:xfrm>
          <a:prstGeom prst="rect">
            <a:avLst/>
          </a:prstGeom>
        </p:spPr>
        <p:txBody>
          <a:bodyPr lIns="0" tIns="0" rIns="0" bIns="0" rtlCol="0" anchor="t">
            <a:spAutoFit/>
          </a:bodyPr>
          <a:lstStyle/>
          <a:p>
            <a:pPr algn="ctr">
              <a:lnSpc>
                <a:spcPts val="6160"/>
              </a:lnSpc>
            </a:pPr>
            <a:r>
              <a:rPr lang="en-US" sz="4400" b="1" spc="752">
                <a:solidFill>
                  <a:srgbClr val="2B4B82"/>
                </a:solidFill>
                <a:latin typeface="Josefin Sans Bold"/>
                <a:ea typeface="Josefin Sans Bold"/>
                <a:cs typeface="Josefin Sans Bold"/>
                <a:sym typeface="Josefin Sans Bold"/>
              </a:rPr>
              <a:t>1</a:t>
            </a:r>
          </a:p>
        </p:txBody>
      </p:sp>
      <p:sp>
        <p:nvSpPr>
          <p:cNvPr id="17" name="TextBox 17"/>
          <p:cNvSpPr txBox="1"/>
          <p:nvPr/>
        </p:nvSpPr>
        <p:spPr>
          <a:xfrm>
            <a:off x="7092081" y="5038725"/>
            <a:ext cx="603369" cy="775335"/>
          </a:xfrm>
          <a:prstGeom prst="rect">
            <a:avLst/>
          </a:prstGeom>
        </p:spPr>
        <p:txBody>
          <a:bodyPr lIns="0" tIns="0" rIns="0" bIns="0" rtlCol="0" anchor="t">
            <a:spAutoFit/>
          </a:bodyPr>
          <a:lstStyle/>
          <a:p>
            <a:pPr algn="ctr">
              <a:lnSpc>
                <a:spcPts val="6160"/>
              </a:lnSpc>
            </a:pPr>
            <a:r>
              <a:rPr lang="en-US" sz="4400" b="1" spc="752">
                <a:solidFill>
                  <a:srgbClr val="2B4B82"/>
                </a:solidFill>
                <a:latin typeface="Josefin Sans Bold"/>
                <a:ea typeface="Josefin Sans Bold"/>
                <a:cs typeface="Josefin Sans Bold"/>
                <a:sym typeface="Josefin Sans Bold"/>
              </a:rPr>
              <a:t>2</a:t>
            </a:r>
          </a:p>
        </p:txBody>
      </p:sp>
      <p:sp>
        <p:nvSpPr>
          <p:cNvPr id="18" name="TextBox 18"/>
          <p:cNvSpPr txBox="1"/>
          <p:nvPr/>
        </p:nvSpPr>
        <p:spPr>
          <a:xfrm>
            <a:off x="10355564" y="5038725"/>
            <a:ext cx="603369" cy="775335"/>
          </a:xfrm>
          <a:prstGeom prst="rect">
            <a:avLst/>
          </a:prstGeom>
        </p:spPr>
        <p:txBody>
          <a:bodyPr lIns="0" tIns="0" rIns="0" bIns="0" rtlCol="0" anchor="t">
            <a:spAutoFit/>
          </a:bodyPr>
          <a:lstStyle/>
          <a:p>
            <a:pPr algn="ctr">
              <a:lnSpc>
                <a:spcPts val="6160"/>
              </a:lnSpc>
            </a:pPr>
            <a:r>
              <a:rPr lang="en-US" sz="4400" b="1" spc="752">
                <a:solidFill>
                  <a:srgbClr val="2B4B82"/>
                </a:solidFill>
                <a:latin typeface="Josefin Sans Bold"/>
                <a:ea typeface="Josefin Sans Bold"/>
                <a:cs typeface="Josefin Sans Bold"/>
                <a:sym typeface="Josefin Sans Bold"/>
              </a:rPr>
              <a:t>3</a:t>
            </a:r>
          </a:p>
        </p:txBody>
      </p:sp>
      <p:sp>
        <p:nvSpPr>
          <p:cNvPr id="19" name="TextBox 19"/>
          <p:cNvSpPr txBox="1"/>
          <p:nvPr/>
        </p:nvSpPr>
        <p:spPr>
          <a:xfrm>
            <a:off x="13913549" y="5038725"/>
            <a:ext cx="603369" cy="775335"/>
          </a:xfrm>
          <a:prstGeom prst="rect">
            <a:avLst/>
          </a:prstGeom>
        </p:spPr>
        <p:txBody>
          <a:bodyPr lIns="0" tIns="0" rIns="0" bIns="0" rtlCol="0" anchor="t">
            <a:spAutoFit/>
          </a:bodyPr>
          <a:lstStyle/>
          <a:p>
            <a:pPr algn="ctr">
              <a:lnSpc>
                <a:spcPts val="6160"/>
              </a:lnSpc>
            </a:pPr>
            <a:r>
              <a:rPr lang="en-US" sz="4400" b="1" spc="752">
                <a:solidFill>
                  <a:srgbClr val="2B4B82"/>
                </a:solidFill>
                <a:latin typeface="Josefin Sans Bold"/>
                <a:ea typeface="Josefin Sans Bold"/>
                <a:cs typeface="Josefin Sans Bold"/>
                <a:sym typeface="Josefin Sans Bold"/>
              </a:rPr>
              <a:t>4</a:t>
            </a:r>
          </a:p>
        </p:txBody>
      </p:sp>
      <p:sp>
        <p:nvSpPr>
          <p:cNvPr id="20" name="AutoShape 20"/>
          <p:cNvSpPr/>
          <p:nvPr/>
        </p:nvSpPr>
        <p:spPr>
          <a:xfrm>
            <a:off x="4263838" y="5454332"/>
            <a:ext cx="2647095" cy="0"/>
          </a:xfrm>
          <a:prstGeom prst="line">
            <a:avLst/>
          </a:prstGeom>
          <a:ln w="28575" cap="flat">
            <a:solidFill>
              <a:srgbClr val="2B4B82"/>
            </a:solidFill>
            <a:prstDash val="solid"/>
            <a:headEnd type="none" w="sm" len="sm"/>
            <a:tailEnd type="none" w="sm" len="sm"/>
          </a:ln>
        </p:spPr>
        <p:txBody>
          <a:bodyPr/>
          <a:lstStyle/>
          <a:p>
            <a:endParaRPr lang="en-US"/>
          </a:p>
        </p:txBody>
      </p:sp>
      <p:sp>
        <p:nvSpPr>
          <p:cNvPr id="21" name="AutoShape 21"/>
          <p:cNvSpPr/>
          <p:nvPr/>
        </p:nvSpPr>
        <p:spPr>
          <a:xfrm>
            <a:off x="7708469" y="5454332"/>
            <a:ext cx="2647095" cy="0"/>
          </a:xfrm>
          <a:prstGeom prst="line">
            <a:avLst/>
          </a:prstGeom>
          <a:ln w="28575" cap="flat">
            <a:solidFill>
              <a:srgbClr val="2B4B82"/>
            </a:solidFill>
            <a:prstDash val="solid"/>
            <a:headEnd type="none" w="sm" len="sm"/>
            <a:tailEnd type="none" w="sm" len="sm"/>
          </a:ln>
        </p:spPr>
        <p:txBody>
          <a:bodyPr/>
          <a:lstStyle/>
          <a:p>
            <a:endParaRPr lang="en-US"/>
          </a:p>
        </p:txBody>
      </p:sp>
      <p:sp>
        <p:nvSpPr>
          <p:cNvPr id="22" name="AutoShape 22"/>
          <p:cNvSpPr/>
          <p:nvPr/>
        </p:nvSpPr>
        <p:spPr>
          <a:xfrm>
            <a:off x="11145753" y="5454332"/>
            <a:ext cx="2647095" cy="0"/>
          </a:xfrm>
          <a:prstGeom prst="line">
            <a:avLst/>
          </a:prstGeom>
          <a:ln w="28575" cap="flat">
            <a:solidFill>
              <a:srgbClr val="2B4B82"/>
            </a:solidFill>
            <a:prstDash val="solid"/>
            <a:headEnd type="none" w="sm" len="sm"/>
            <a:tailEnd type="none" w="sm" len="sm"/>
          </a:ln>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Freeform 2"/>
          <p:cNvSpPr/>
          <p:nvPr/>
        </p:nvSpPr>
        <p:spPr>
          <a:xfrm>
            <a:off x="0" y="0"/>
            <a:ext cx="6912767" cy="10287000"/>
          </a:xfrm>
          <a:custGeom>
            <a:avLst/>
            <a:gdLst/>
            <a:ahLst/>
            <a:cxnLst/>
            <a:rect l="l" t="t" r="r" b="b"/>
            <a:pathLst>
              <a:path w="6912767" h="10287000">
                <a:moveTo>
                  <a:pt x="0" y="0"/>
                </a:moveTo>
                <a:lnTo>
                  <a:pt x="6912767" y="0"/>
                </a:lnTo>
                <a:lnTo>
                  <a:pt x="6912767" y="10287000"/>
                </a:lnTo>
                <a:lnTo>
                  <a:pt x="0" y="10287000"/>
                </a:lnTo>
                <a:lnTo>
                  <a:pt x="0" y="0"/>
                </a:lnTo>
                <a:close/>
              </a:path>
            </a:pathLst>
          </a:custGeom>
          <a:blipFill>
            <a:blip r:embed="rId2"/>
            <a:stretch>
              <a:fillRect l="-26224" r="-96992"/>
            </a:stretch>
          </a:blipFill>
        </p:spPr>
        <p:txBody>
          <a:bodyPr/>
          <a:lstStyle/>
          <a:p>
            <a:endParaRPr lang="en-US"/>
          </a:p>
        </p:txBody>
      </p:sp>
      <p:grpSp>
        <p:nvGrpSpPr>
          <p:cNvPr id="3" name="Group 3"/>
          <p:cNvGrpSpPr/>
          <p:nvPr/>
        </p:nvGrpSpPr>
        <p:grpSpPr>
          <a:xfrm>
            <a:off x="8097063" y="1716558"/>
            <a:ext cx="9162237" cy="7225359"/>
            <a:chOff x="0" y="0"/>
            <a:chExt cx="12216316" cy="9633813"/>
          </a:xfrm>
        </p:grpSpPr>
        <p:sp>
          <p:nvSpPr>
            <p:cNvPr id="4" name="TextBox 4"/>
            <p:cNvSpPr txBox="1"/>
            <p:nvPr/>
          </p:nvSpPr>
          <p:spPr>
            <a:xfrm>
              <a:off x="0" y="71120"/>
              <a:ext cx="12216316" cy="2438400"/>
            </a:xfrm>
            <a:prstGeom prst="rect">
              <a:avLst/>
            </a:prstGeom>
          </p:spPr>
          <p:txBody>
            <a:bodyPr lIns="0" tIns="0" rIns="0" bIns="0" rtlCol="0" anchor="t">
              <a:spAutoFit/>
            </a:bodyPr>
            <a:lstStyle/>
            <a:p>
              <a:pPr algn="l">
                <a:lnSpc>
                  <a:spcPts val="7230"/>
                </a:lnSpc>
              </a:pPr>
              <a:r>
                <a:rPr lang="en-US" sz="6025" b="1">
                  <a:solidFill>
                    <a:srgbClr val="2B4B82"/>
                  </a:solidFill>
                  <a:latin typeface="Josefin Sans Bold"/>
                  <a:ea typeface="Josefin Sans Bold"/>
                  <a:cs typeface="Josefin Sans Bold"/>
                  <a:sym typeface="Josefin Sans Bold"/>
                </a:rPr>
                <a:t>4. Technical Implementation</a:t>
              </a:r>
            </a:p>
          </p:txBody>
        </p:sp>
        <p:sp>
          <p:nvSpPr>
            <p:cNvPr id="5" name="TextBox 5"/>
            <p:cNvSpPr txBox="1"/>
            <p:nvPr/>
          </p:nvSpPr>
          <p:spPr>
            <a:xfrm>
              <a:off x="0" y="3094643"/>
              <a:ext cx="12216316" cy="712470"/>
            </a:xfrm>
            <a:prstGeom prst="rect">
              <a:avLst/>
            </a:prstGeom>
          </p:spPr>
          <p:txBody>
            <a:bodyPr lIns="0" tIns="0" rIns="0" bIns="0" rtlCol="0" anchor="t">
              <a:spAutoFit/>
            </a:bodyPr>
            <a:lstStyle/>
            <a:p>
              <a:pPr algn="l">
                <a:lnSpc>
                  <a:spcPts val="4994"/>
                </a:lnSpc>
              </a:pPr>
              <a:r>
                <a:rPr lang="en-US" sz="2699" spc="426">
                  <a:solidFill>
                    <a:srgbClr val="2B4B82"/>
                  </a:solidFill>
                  <a:latin typeface="Josefin Sans"/>
                  <a:ea typeface="Josefin Sans"/>
                  <a:cs typeface="Josefin Sans"/>
                  <a:sym typeface="Josefin Sans"/>
                </a:rPr>
                <a:t>TECHNICAL REQUIREMENTS</a:t>
              </a:r>
            </a:p>
          </p:txBody>
        </p:sp>
        <p:sp>
          <p:nvSpPr>
            <p:cNvPr id="6" name="TextBox 6"/>
            <p:cNvSpPr txBox="1"/>
            <p:nvPr/>
          </p:nvSpPr>
          <p:spPr>
            <a:xfrm>
              <a:off x="0" y="4598263"/>
              <a:ext cx="12216316" cy="5045710"/>
            </a:xfrm>
            <a:prstGeom prst="rect">
              <a:avLst/>
            </a:prstGeom>
          </p:spPr>
          <p:txBody>
            <a:bodyPr lIns="0" tIns="0" rIns="0" bIns="0" rtlCol="0" anchor="t">
              <a:spAutoFit/>
            </a:bodyPr>
            <a:lstStyle/>
            <a:p>
              <a:pPr algn="l">
                <a:lnSpc>
                  <a:spcPts val="3779"/>
                </a:lnSpc>
              </a:pPr>
              <a:endParaRPr/>
            </a:p>
            <a:p>
              <a:pPr marL="582930" lvl="1" indent="-291465" algn="l">
                <a:lnSpc>
                  <a:spcPts val="3779"/>
                </a:lnSpc>
                <a:buFont typeface="Arial"/>
                <a:buChar char="•"/>
              </a:pPr>
              <a:r>
                <a:rPr lang="en-US" sz="2700">
                  <a:solidFill>
                    <a:srgbClr val="2B4B82"/>
                  </a:solidFill>
                  <a:latin typeface="Josefin Sans"/>
                  <a:ea typeface="Josefin Sans"/>
                  <a:cs typeface="Josefin Sans"/>
                  <a:sym typeface="Josefin Sans"/>
                </a:rPr>
                <a:t>Compute: Nguồn lực tính toán cơ bản (e.g., EC2 t2.micro trong Free Tier nếu cần xử lý dữ liệu bổ sung).</a:t>
              </a:r>
            </a:p>
            <a:p>
              <a:pPr marL="582930" lvl="1" indent="-291465" algn="l">
                <a:lnSpc>
                  <a:spcPts val="3779"/>
                </a:lnSpc>
                <a:buFont typeface="Arial"/>
                <a:buChar char="•"/>
              </a:pPr>
              <a:r>
                <a:rPr lang="en-US" sz="2700">
                  <a:solidFill>
                    <a:srgbClr val="2B4B82"/>
                  </a:solidFill>
                  <a:latin typeface="Josefin Sans"/>
                  <a:ea typeface="Josefin Sans"/>
                  <a:cs typeface="Josefin Sans"/>
                  <a:sym typeface="Josefin Sans"/>
                </a:rPr>
                <a:t>Storage: Dung lượng lưu trữ đủ cho nhật ký, tối đa 5GB miễn phí từ Amazon S3 trong Free Tier.</a:t>
              </a:r>
            </a:p>
            <a:p>
              <a:pPr marL="582930" lvl="1" indent="-291465" algn="l">
                <a:lnSpc>
                  <a:spcPts val="3779"/>
                </a:lnSpc>
                <a:buFont typeface="Arial"/>
                <a:buChar char="•"/>
              </a:pPr>
              <a:r>
                <a:rPr lang="en-US" sz="2700">
                  <a:solidFill>
                    <a:srgbClr val="2B4B82"/>
                  </a:solidFill>
                  <a:latin typeface="Josefin Sans"/>
                  <a:ea typeface="Josefin Sans"/>
                  <a:cs typeface="Josefin Sans"/>
                  <a:sym typeface="Josefin Sans"/>
                </a:rPr>
                <a:t>Network: Kết nối ổn định với AWS qua internet và cấu hình cơ bản VPC nếu cần.</a:t>
              </a:r>
            </a:p>
            <a:p>
              <a:pPr algn="l">
                <a:lnSpc>
                  <a:spcPts val="3779"/>
                </a:lnSpc>
              </a:pPr>
              <a:endParaRPr lang="en-US" sz="2700">
                <a:solidFill>
                  <a:srgbClr val="2B4B82"/>
                </a:solidFill>
                <a:latin typeface="Josefin Sans"/>
                <a:ea typeface="Josefin Sans"/>
                <a:cs typeface="Josefin Sans"/>
                <a:sym typeface="Josefin Sans"/>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TextBox 2"/>
          <p:cNvSpPr txBox="1"/>
          <p:nvPr/>
        </p:nvSpPr>
        <p:spPr>
          <a:xfrm>
            <a:off x="4562881" y="2084223"/>
            <a:ext cx="9162237" cy="1828800"/>
          </a:xfrm>
          <a:prstGeom prst="rect">
            <a:avLst/>
          </a:prstGeom>
        </p:spPr>
        <p:txBody>
          <a:bodyPr lIns="0" tIns="0" rIns="0" bIns="0" rtlCol="0" anchor="t">
            <a:spAutoFit/>
          </a:bodyPr>
          <a:lstStyle/>
          <a:p>
            <a:pPr algn="l">
              <a:lnSpc>
                <a:spcPts val="7230"/>
              </a:lnSpc>
            </a:pPr>
            <a:r>
              <a:rPr lang="en-US" sz="6025" b="1">
                <a:solidFill>
                  <a:srgbClr val="2B4B82"/>
                </a:solidFill>
                <a:latin typeface="Josefin Sans Bold"/>
                <a:ea typeface="Josefin Sans Bold"/>
                <a:cs typeface="Josefin Sans Bold"/>
                <a:sym typeface="Josefin Sans Bold"/>
              </a:rPr>
              <a:t>4. Technical Implementation</a:t>
            </a:r>
          </a:p>
        </p:txBody>
      </p:sp>
      <p:sp>
        <p:nvSpPr>
          <p:cNvPr id="3" name="TextBox 3"/>
          <p:cNvSpPr txBox="1"/>
          <p:nvPr/>
        </p:nvSpPr>
        <p:spPr>
          <a:xfrm>
            <a:off x="4597438" y="4160673"/>
            <a:ext cx="9162237" cy="577215"/>
          </a:xfrm>
          <a:prstGeom prst="rect">
            <a:avLst/>
          </a:prstGeom>
        </p:spPr>
        <p:txBody>
          <a:bodyPr lIns="0" tIns="0" rIns="0" bIns="0" rtlCol="0" anchor="t">
            <a:spAutoFit/>
          </a:bodyPr>
          <a:lstStyle/>
          <a:p>
            <a:pPr algn="l">
              <a:lnSpc>
                <a:spcPts val="4994"/>
              </a:lnSpc>
            </a:pPr>
            <a:r>
              <a:rPr lang="en-US" sz="2699" spc="426">
                <a:solidFill>
                  <a:srgbClr val="2B4B82"/>
                </a:solidFill>
                <a:latin typeface="Josefin Sans"/>
                <a:ea typeface="Josefin Sans"/>
                <a:cs typeface="Josefin Sans"/>
                <a:sym typeface="Josefin Sans"/>
              </a:rPr>
              <a:t>DEVELOPMENT APPROACH</a:t>
            </a:r>
          </a:p>
        </p:txBody>
      </p:sp>
      <p:sp>
        <p:nvSpPr>
          <p:cNvPr id="4" name="TextBox 4"/>
          <p:cNvSpPr txBox="1"/>
          <p:nvPr/>
        </p:nvSpPr>
        <p:spPr>
          <a:xfrm>
            <a:off x="4597438" y="5099838"/>
            <a:ext cx="9162237" cy="1417320"/>
          </a:xfrm>
          <a:prstGeom prst="rect">
            <a:avLst/>
          </a:prstGeom>
        </p:spPr>
        <p:txBody>
          <a:bodyPr lIns="0" tIns="0" rIns="0" bIns="0" rtlCol="0" anchor="t">
            <a:spAutoFit/>
          </a:bodyPr>
          <a:lstStyle/>
          <a:p>
            <a:pPr marL="582930" lvl="1" indent="-291465" algn="l">
              <a:lnSpc>
                <a:spcPts val="3779"/>
              </a:lnSpc>
              <a:buFont typeface="Arial"/>
              <a:buChar char="•"/>
            </a:pPr>
            <a:r>
              <a:rPr lang="en-US" sz="2700">
                <a:solidFill>
                  <a:srgbClr val="2B4B82"/>
                </a:solidFill>
                <a:latin typeface="Josefin Sans"/>
                <a:ea typeface="Josefin Sans"/>
                <a:cs typeface="Josefin Sans"/>
                <a:sym typeface="Josefin Sans"/>
              </a:rPr>
              <a:t>Sử dụng AWS Management Console để đơn giản hóa.</a:t>
            </a:r>
          </a:p>
          <a:p>
            <a:pPr marL="582930" lvl="1" indent="-291465" algn="l">
              <a:lnSpc>
                <a:spcPts val="3779"/>
              </a:lnSpc>
              <a:buFont typeface="Arial"/>
              <a:buChar char="•"/>
            </a:pPr>
            <a:r>
              <a:rPr lang="en-US" sz="2700">
                <a:solidFill>
                  <a:srgbClr val="2B4B82"/>
                </a:solidFill>
                <a:latin typeface="Josefin Sans"/>
                <a:ea typeface="Josefin Sans"/>
                <a:cs typeface="Josefin Sans"/>
                <a:sym typeface="Josefin Sans"/>
              </a:rPr>
              <a:t>Tự học qua tài liệu/ video của AWS miễn phí</a:t>
            </a:r>
          </a:p>
          <a:p>
            <a:pPr marL="582930" lvl="1" indent="-291465" algn="l">
              <a:lnSpc>
                <a:spcPts val="3779"/>
              </a:lnSpc>
              <a:buFont typeface="Arial"/>
              <a:buChar char="•"/>
            </a:pPr>
            <a:r>
              <a:rPr lang="en-US" sz="2700">
                <a:solidFill>
                  <a:srgbClr val="2B4B82"/>
                </a:solidFill>
                <a:latin typeface="Josefin Sans"/>
                <a:ea typeface="Josefin Sans"/>
                <a:cs typeface="Josefin Sans"/>
                <a:sym typeface="Josefin Sans"/>
              </a:rPr>
              <a:t>Tận dụng cộng đồng AWS hoặc diễn đàn sinh viên.</a:t>
            </a:r>
          </a:p>
        </p:txBody>
      </p:sp>
      <p:sp>
        <p:nvSpPr>
          <p:cNvPr id="5" name="TextBox 5"/>
          <p:cNvSpPr txBox="1"/>
          <p:nvPr/>
        </p:nvSpPr>
        <p:spPr>
          <a:xfrm>
            <a:off x="4562881" y="6810482"/>
            <a:ext cx="9162237" cy="577215"/>
          </a:xfrm>
          <a:prstGeom prst="rect">
            <a:avLst/>
          </a:prstGeom>
        </p:spPr>
        <p:txBody>
          <a:bodyPr lIns="0" tIns="0" rIns="0" bIns="0" rtlCol="0" anchor="t">
            <a:spAutoFit/>
          </a:bodyPr>
          <a:lstStyle/>
          <a:p>
            <a:pPr algn="l">
              <a:lnSpc>
                <a:spcPts val="4994"/>
              </a:lnSpc>
            </a:pPr>
            <a:r>
              <a:rPr lang="en-US" sz="2699" spc="426">
                <a:solidFill>
                  <a:srgbClr val="2B4B82"/>
                </a:solidFill>
                <a:latin typeface="Josefin Sans"/>
                <a:ea typeface="Josefin Sans"/>
                <a:cs typeface="Josefin Sans"/>
                <a:sym typeface="Josefin Sans"/>
              </a:rPr>
              <a:t>TESTING STRATEGY</a:t>
            </a:r>
          </a:p>
        </p:txBody>
      </p:sp>
      <p:sp>
        <p:nvSpPr>
          <p:cNvPr id="6" name="TextBox 6"/>
          <p:cNvSpPr txBox="1"/>
          <p:nvPr/>
        </p:nvSpPr>
        <p:spPr>
          <a:xfrm>
            <a:off x="4562881" y="7749647"/>
            <a:ext cx="9162237" cy="1893570"/>
          </a:xfrm>
          <a:prstGeom prst="rect">
            <a:avLst/>
          </a:prstGeom>
        </p:spPr>
        <p:txBody>
          <a:bodyPr lIns="0" tIns="0" rIns="0" bIns="0" rtlCol="0" anchor="t">
            <a:spAutoFit/>
          </a:bodyPr>
          <a:lstStyle/>
          <a:p>
            <a:pPr marL="582930" lvl="1" indent="-291465" algn="l">
              <a:lnSpc>
                <a:spcPts val="3779"/>
              </a:lnSpc>
              <a:buFont typeface="Arial"/>
              <a:buChar char="•"/>
            </a:pPr>
            <a:r>
              <a:rPr lang="en-US" sz="2700">
                <a:solidFill>
                  <a:srgbClr val="2B4B82"/>
                </a:solidFill>
                <a:latin typeface="Josefin Sans"/>
                <a:ea typeface="Josefin Sans"/>
                <a:cs typeface="Josefin Sans"/>
                <a:sym typeface="Josefin Sans"/>
              </a:rPr>
              <a:t>Basic Testing: Xác minh logs được ghi vào Amazon S3.</a:t>
            </a:r>
          </a:p>
          <a:p>
            <a:pPr marL="582930" lvl="1" indent="-291465" algn="l">
              <a:lnSpc>
                <a:spcPts val="3779"/>
              </a:lnSpc>
              <a:buFont typeface="Arial"/>
              <a:buChar char="•"/>
            </a:pPr>
            <a:r>
              <a:rPr lang="en-US" sz="2700">
                <a:solidFill>
                  <a:srgbClr val="2B4B82"/>
                </a:solidFill>
                <a:latin typeface="Josefin Sans"/>
                <a:ea typeface="Josefin Sans"/>
                <a:cs typeface="Josefin Sans"/>
                <a:sym typeface="Josefin Sans"/>
              </a:rPr>
              <a:t>Security Testing: Đảm bảo Object Lock hoạt động và logs được mã hóa.</a:t>
            </a:r>
          </a:p>
          <a:p>
            <a:pPr marL="582930" lvl="1" indent="-291465" algn="l">
              <a:lnSpc>
                <a:spcPts val="3779"/>
              </a:lnSpc>
              <a:buFont typeface="Arial"/>
              <a:buChar char="•"/>
            </a:pPr>
            <a:r>
              <a:rPr lang="en-US" sz="2700">
                <a:solidFill>
                  <a:srgbClr val="2B4B82"/>
                </a:solidFill>
                <a:latin typeface="Josefin Sans"/>
                <a:ea typeface="Josefin Sans"/>
                <a:cs typeface="Josefin Sans"/>
                <a:sym typeface="Josefin Sans"/>
              </a:rPr>
              <a:t>Query Testing: Thực hiện các truy vấn Amazon Athena. </a:t>
            </a:r>
          </a:p>
        </p:txBody>
      </p:sp>
      <p:sp>
        <p:nvSpPr>
          <p:cNvPr id="7" name="Freeform 7"/>
          <p:cNvSpPr/>
          <p:nvPr/>
        </p:nvSpPr>
        <p:spPr>
          <a:xfrm>
            <a:off x="0" y="-963412"/>
            <a:ext cx="4597438" cy="2842053"/>
          </a:xfrm>
          <a:custGeom>
            <a:avLst/>
            <a:gdLst/>
            <a:ahLst/>
            <a:cxnLst/>
            <a:rect l="l" t="t" r="r" b="b"/>
            <a:pathLst>
              <a:path w="4597438" h="2842053">
                <a:moveTo>
                  <a:pt x="0" y="0"/>
                </a:moveTo>
                <a:lnTo>
                  <a:pt x="4597438" y="0"/>
                </a:lnTo>
                <a:lnTo>
                  <a:pt x="4597438" y="2842052"/>
                </a:lnTo>
                <a:lnTo>
                  <a:pt x="0" y="28420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p:cNvSpPr/>
          <p:nvPr/>
        </p:nvSpPr>
        <p:spPr>
          <a:xfrm flipH="1">
            <a:off x="10551837" y="390596"/>
            <a:ext cx="2076668" cy="1276207"/>
          </a:xfrm>
          <a:custGeom>
            <a:avLst/>
            <a:gdLst/>
            <a:ahLst/>
            <a:cxnLst/>
            <a:rect l="l" t="t" r="r" b="b"/>
            <a:pathLst>
              <a:path w="2076668" h="1276207">
                <a:moveTo>
                  <a:pt x="2076668" y="0"/>
                </a:moveTo>
                <a:lnTo>
                  <a:pt x="0" y="0"/>
                </a:lnTo>
                <a:lnTo>
                  <a:pt x="0" y="1276208"/>
                </a:lnTo>
                <a:lnTo>
                  <a:pt x="2076668" y="1276208"/>
                </a:lnTo>
                <a:lnTo>
                  <a:pt x="2076668"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Freeform 9"/>
          <p:cNvSpPr/>
          <p:nvPr/>
        </p:nvSpPr>
        <p:spPr>
          <a:xfrm>
            <a:off x="13138681" y="-2447996"/>
            <a:ext cx="3837986" cy="4114800"/>
          </a:xfrm>
          <a:custGeom>
            <a:avLst/>
            <a:gdLst/>
            <a:ahLst/>
            <a:cxnLst/>
            <a:rect l="l" t="t" r="r" b="b"/>
            <a:pathLst>
              <a:path w="3837986" h="4114800">
                <a:moveTo>
                  <a:pt x="0" y="0"/>
                </a:moveTo>
                <a:lnTo>
                  <a:pt x="3837987" y="0"/>
                </a:lnTo>
                <a:lnTo>
                  <a:pt x="383798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0" name="Freeform 10"/>
          <p:cNvSpPr/>
          <p:nvPr/>
        </p:nvSpPr>
        <p:spPr>
          <a:xfrm>
            <a:off x="4994246" y="-3759204"/>
            <a:ext cx="5357753" cy="5591583"/>
          </a:xfrm>
          <a:custGeom>
            <a:avLst/>
            <a:gdLst/>
            <a:ahLst/>
            <a:cxnLst/>
            <a:rect l="l" t="t" r="r" b="b"/>
            <a:pathLst>
              <a:path w="5357753" h="5591583">
                <a:moveTo>
                  <a:pt x="0" y="0"/>
                </a:moveTo>
                <a:lnTo>
                  <a:pt x="5357752" y="0"/>
                </a:lnTo>
                <a:lnTo>
                  <a:pt x="5357752" y="5591583"/>
                </a:lnTo>
                <a:lnTo>
                  <a:pt x="0" y="559158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TextBox 2"/>
          <p:cNvSpPr txBox="1"/>
          <p:nvPr/>
        </p:nvSpPr>
        <p:spPr>
          <a:xfrm>
            <a:off x="4545603" y="2927033"/>
            <a:ext cx="9162237" cy="1828800"/>
          </a:xfrm>
          <a:prstGeom prst="rect">
            <a:avLst/>
          </a:prstGeom>
        </p:spPr>
        <p:txBody>
          <a:bodyPr lIns="0" tIns="0" rIns="0" bIns="0" rtlCol="0" anchor="t">
            <a:spAutoFit/>
          </a:bodyPr>
          <a:lstStyle/>
          <a:p>
            <a:pPr algn="l">
              <a:lnSpc>
                <a:spcPts val="7230"/>
              </a:lnSpc>
            </a:pPr>
            <a:r>
              <a:rPr lang="en-US" sz="6025" b="1">
                <a:solidFill>
                  <a:srgbClr val="2B4B82"/>
                </a:solidFill>
                <a:latin typeface="Josefin Sans Bold"/>
                <a:ea typeface="Josefin Sans Bold"/>
                <a:cs typeface="Josefin Sans Bold"/>
                <a:sym typeface="Josefin Sans Bold"/>
              </a:rPr>
              <a:t>4. Technical Implementation</a:t>
            </a:r>
          </a:p>
        </p:txBody>
      </p:sp>
      <p:sp>
        <p:nvSpPr>
          <p:cNvPr id="3" name="TextBox 3"/>
          <p:cNvSpPr txBox="1"/>
          <p:nvPr/>
        </p:nvSpPr>
        <p:spPr>
          <a:xfrm>
            <a:off x="4580160" y="5003482"/>
            <a:ext cx="9162237" cy="577215"/>
          </a:xfrm>
          <a:prstGeom prst="rect">
            <a:avLst/>
          </a:prstGeom>
        </p:spPr>
        <p:txBody>
          <a:bodyPr lIns="0" tIns="0" rIns="0" bIns="0" rtlCol="0" anchor="t">
            <a:spAutoFit/>
          </a:bodyPr>
          <a:lstStyle/>
          <a:p>
            <a:pPr algn="l">
              <a:lnSpc>
                <a:spcPts val="4994"/>
              </a:lnSpc>
            </a:pPr>
            <a:r>
              <a:rPr lang="en-US" sz="2699" spc="426">
                <a:solidFill>
                  <a:srgbClr val="2B4B82"/>
                </a:solidFill>
                <a:latin typeface="Josefin Sans"/>
                <a:ea typeface="Josefin Sans"/>
                <a:cs typeface="Josefin Sans"/>
                <a:sym typeface="Josefin Sans"/>
              </a:rPr>
              <a:t>DEPLOYMENT PLAN</a:t>
            </a:r>
          </a:p>
        </p:txBody>
      </p:sp>
      <p:sp>
        <p:nvSpPr>
          <p:cNvPr id="4" name="TextBox 4"/>
          <p:cNvSpPr txBox="1"/>
          <p:nvPr/>
        </p:nvSpPr>
        <p:spPr>
          <a:xfrm>
            <a:off x="4580160" y="5942647"/>
            <a:ext cx="9162237" cy="1417320"/>
          </a:xfrm>
          <a:prstGeom prst="rect">
            <a:avLst/>
          </a:prstGeom>
        </p:spPr>
        <p:txBody>
          <a:bodyPr lIns="0" tIns="0" rIns="0" bIns="0" rtlCol="0" anchor="t">
            <a:spAutoFit/>
          </a:bodyPr>
          <a:lstStyle/>
          <a:p>
            <a:pPr marL="582930" lvl="1" indent="-291465" algn="l">
              <a:lnSpc>
                <a:spcPts val="3779"/>
              </a:lnSpc>
              <a:buFont typeface="Arial"/>
              <a:buChar char="•"/>
            </a:pPr>
            <a:r>
              <a:rPr lang="en-US" sz="2700">
                <a:solidFill>
                  <a:srgbClr val="2B4B82"/>
                </a:solidFill>
                <a:latin typeface="Josefin Sans"/>
                <a:ea typeface="Josefin Sans"/>
                <a:cs typeface="Josefin Sans"/>
                <a:sym typeface="Josefin Sans"/>
              </a:rPr>
              <a:t>Sử dụng tài khoản AWS Free tier để test</a:t>
            </a:r>
          </a:p>
          <a:p>
            <a:pPr marL="582930" lvl="1" indent="-291465" algn="l">
              <a:lnSpc>
                <a:spcPts val="3779"/>
              </a:lnSpc>
              <a:buFont typeface="Arial"/>
              <a:buChar char="•"/>
            </a:pPr>
            <a:r>
              <a:rPr lang="en-US" sz="2700">
                <a:solidFill>
                  <a:srgbClr val="2B4B82"/>
                </a:solidFill>
                <a:latin typeface="Josefin Sans"/>
                <a:ea typeface="Josefin Sans"/>
                <a:cs typeface="Josefin Sans"/>
                <a:sym typeface="Josefin Sans"/>
              </a:rPr>
              <a:t>Deploy trực tiếp </a:t>
            </a:r>
          </a:p>
          <a:p>
            <a:pPr marL="582930" lvl="1" indent="-291465" algn="l">
              <a:lnSpc>
                <a:spcPts val="3779"/>
              </a:lnSpc>
              <a:buFont typeface="Arial"/>
              <a:buChar char="•"/>
            </a:pPr>
            <a:r>
              <a:rPr lang="en-US" sz="2700">
                <a:solidFill>
                  <a:srgbClr val="2B4B82"/>
                </a:solidFill>
                <a:latin typeface="Josefin Sans"/>
                <a:ea typeface="Josefin Sans"/>
                <a:cs typeface="Josefin Sans"/>
                <a:sym typeface="Josefin Sans"/>
              </a:rPr>
              <a:t>Tạo báo cáo Logs cho workshop.</a:t>
            </a:r>
          </a:p>
        </p:txBody>
      </p:sp>
      <p:sp>
        <p:nvSpPr>
          <p:cNvPr id="5" name="Freeform 5"/>
          <p:cNvSpPr/>
          <p:nvPr/>
        </p:nvSpPr>
        <p:spPr>
          <a:xfrm>
            <a:off x="0" y="-963412"/>
            <a:ext cx="4597438" cy="2842053"/>
          </a:xfrm>
          <a:custGeom>
            <a:avLst/>
            <a:gdLst/>
            <a:ahLst/>
            <a:cxnLst/>
            <a:rect l="l" t="t" r="r" b="b"/>
            <a:pathLst>
              <a:path w="4597438" h="2842053">
                <a:moveTo>
                  <a:pt x="0" y="0"/>
                </a:moveTo>
                <a:lnTo>
                  <a:pt x="4597438" y="0"/>
                </a:lnTo>
                <a:lnTo>
                  <a:pt x="4597438" y="2842052"/>
                </a:lnTo>
                <a:lnTo>
                  <a:pt x="0" y="28420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flipH="1">
            <a:off x="10551837" y="390596"/>
            <a:ext cx="2076668" cy="1276207"/>
          </a:xfrm>
          <a:custGeom>
            <a:avLst/>
            <a:gdLst/>
            <a:ahLst/>
            <a:cxnLst/>
            <a:rect l="l" t="t" r="r" b="b"/>
            <a:pathLst>
              <a:path w="2076668" h="1276207">
                <a:moveTo>
                  <a:pt x="2076668" y="0"/>
                </a:moveTo>
                <a:lnTo>
                  <a:pt x="0" y="0"/>
                </a:lnTo>
                <a:lnTo>
                  <a:pt x="0" y="1276208"/>
                </a:lnTo>
                <a:lnTo>
                  <a:pt x="2076668" y="1276208"/>
                </a:lnTo>
                <a:lnTo>
                  <a:pt x="2076668"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a:off x="13138681" y="-2447996"/>
            <a:ext cx="3837986" cy="4114800"/>
          </a:xfrm>
          <a:custGeom>
            <a:avLst/>
            <a:gdLst/>
            <a:ahLst/>
            <a:cxnLst/>
            <a:rect l="l" t="t" r="r" b="b"/>
            <a:pathLst>
              <a:path w="3837986" h="4114800">
                <a:moveTo>
                  <a:pt x="0" y="0"/>
                </a:moveTo>
                <a:lnTo>
                  <a:pt x="3837987" y="0"/>
                </a:lnTo>
                <a:lnTo>
                  <a:pt x="383798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8" name="Freeform 8"/>
          <p:cNvSpPr/>
          <p:nvPr/>
        </p:nvSpPr>
        <p:spPr>
          <a:xfrm>
            <a:off x="4994246" y="-3759204"/>
            <a:ext cx="5357753" cy="5591583"/>
          </a:xfrm>
          <a:custGeom>
            <a:avLst/>
            <a:gdLst/>
            <a:ahLst/>
            <a:cxnLst/>
            <a:rect l="l" t="t" r="r" b="b"/>
            <a:pathLst>
              <a:path w="5357753" h="5591583">
                <a:moveTo>
                  <a:pt x="0" y="0"/>
                </a:moveTo>
                <a:lnTo>
                  <a:pt x="5357752" y="0"/>
                </a:lnTo>
                <a:lnTo>
                  <a:pt x="5357752" y="5591583"/>
                </a:lnTo>
                <a:lnTo>
                  <a:pt x="0" y="559158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343025" y="2538412"/>
          <a:ext cx="15601950" cy="6000750"/>
        </p:xfrm>
        <a:graphic>
          <a:graphicData uri="http://schemas.openxmlformats.org/drawingml/2006/table">
            <a:tbl>
              <a:tblPr/>
              <a:tblGrid>
                <a:gridCol w="5200650">
                  <a:extLst>
                    <a:ext uri="{9D8B030D-6E8A-4147-A177-3AD203B41FA5}">
                      <a16:colId xmlns:a16="http://schemas.microsoft.com/office/drawing/2014/main" val="20000"/>
                    </a:ext>
                  </a:extLst>
                </a:gridCol>
                <a:gridCol w="5200650">
                  <a:extLst>
                    <a:ext uri="{9D8B030D-6E8A-4147-A177-3AD203B41FA5}">
                      <a16:colId xmlns:a16="http://schemas.microsoft.com/office/drawing/2014/main" val="20001"/>
                    </a:ext>
                  </a:extLst>
                </a:gridCol>
                <a:gridCol w="5200650">
                  <a:extLst>
                    <a:ext uri="{9D8B030D-6E8A-4147-A177-3AD203B41FA5}">
                      <a16:colId xmlns:a16="http://schemas.microsoft.com/office/drawing/2014/main" val="20002"/>
                    </a:ext>
                  </a:extLst>
                </a:gridCol>
              </a:tblGrid>
              <a:tr h="901071">
                <a:tc>
                  <a:txBody>
                    <a:bodyPr/>
                    <a:lstStyle/>
                    <a:p>
                      <a:pPr algn="ctr">
                        <a:lnSpc>
                          <a:spcPts val="2940"/>
                        </a:lnSpc>
                        <a:defRPr/>
                      </a:pPr>
                      <a:r>
                        <a:rPr lang="en-US" sz="2100" b="1">
                          <a:solidFill>
                            <a:srgbClr val="94DDDE"/>
                          </a:solidFill>
                          <a:latin typeface="Josefin Sans Bold"/>
                          <a:ea typeface="Josefin Sans Bold"/>
                          <a:cs typeface="Josefin Sans Bold"/>
                          <a:sym typeface="Josefin Sans Bold"/>
                        </a:rPr>
                        <a:t>Project Timeline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940"/>
                        </a:lnSpc>
                        <a:defRPr/>
                      </a:pPr>
                      <a:r>
                        <a:rPr lang="en-US" sz="2100" b="1">
                          <a:solidFill>
                            <a:srgbClr val="94DDDE"/>
                          </a:solidFill>
                          <a:latin typeface="Josefin Sans Bold"/>
                          <a:ea typeface="Josefin Sans Bold"/>
                          <a:cs typeface="Josefin Sans Bold"/>
                          <a:sym typeface="Josefin Sans Bold"/>
                        </a:rPr>
                        <a:t>Key Milestones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940"/>
                        </a:lnSpc>
                        <a:defRPr/>
                      </a:pPr>
                      <a:r>
                        <a:rPr lang="en-US" sz="2100" b="1">
                          <a:solidFill>
                            <a:srgbClr val="94DDDE"/>
                          </a:solidFill>
                          <a:latin typeface="Josefin Sans Bold"/>
                          <a:ea typeface="Josefin Sans Bold"/>
                          <a:cs typeface="Josefin Sans Bold"/>
                          <a:sym typeface="Josefin Sans Bold"/>
                        </a:rPr>
                        <a:t>Resource Allocation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1274920">
                <a:tc>
                  <a:txBody>
                    <a:bodyPr/>
                    <a:lstStyle/>
                    <a:p>
                      <a:pPr algn="ctr">
                        <a:lnSpc>
                          <a:spcPts val="2940"/>
                        </a:lnSpc>
                        <a:defRPr/>
                      </a:pPr>
                      <a:r>
                        <a:rPr lang="en-US" sz="2100">
                          <a:solidFill>
                            <a:srgbClr val="94DDDE"/>
                          </a:solidFill>
                          <a:latin typeface="Josefin Sans"/>
                          <a:ea typeface="Josefin Sans"/>
                          <a:cs typeface="Josefin Sans"/>
                          <a:sym typeface="Josefin Sans"/>
                        </a:rPr>
                        <a:t>Tuần 1</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940"/>
                        </a:lnSpc>
                        <a:defRPr/>
                      </a:pPr>
                      <a:r>
                        <a:rPr lang="en-US" sz="2100">
                          <a:solidFill>
                            <a:srgbClr val="94DDDE"/>
                          </a:solidFill>
                          <a:latin typeface="Josefin Sans"/>
                          <a:ea typeface="Josefin Sans"/>
                          <a:cs typeface="Josefin Sans"/>
                          <a:sym typeface="Josefin Sans"/>
                        </a:rPr>
                        <a:t>Hoàn thành lập kế hoạch và thiết lập Amazon S3 bucket</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940"/>
                        </a:lnSpc>
                        <a:defRPr/>
                      </a:pPr>
                      <a:r>
                        <a:rPr lang="en-US" sz="2100">
                          <a:solidFill>
                            <a:srgbClr val="94DDDE"/>
                          </a:solidFill>
                          <a:latin typeface="Josefin Sans"/>
                          <a:ea typeface="Josefin Sans"/>
                          <a:cs typeface="Josefin Sans"/>
                          <a:sym typeface="Josefin Sans"/>
                        </a:rPr>
                        <a:t>Trần Lê Minh Hiếu / Support Tài liệu AWS và Diễn đàn FCJ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1274920">
                <a:tc>
                  <a:txBody>
                    <a:bodyPr/>
                    <a:lstStyle/>
                    <a:p>
                      <a:pPr algn="ctr">
                        <a:lnSpc>
                          <a:spcPts val="2940"/>
                        </a:lnSpc>
                        <a:defRPr/>
                      </a:pPr>
                      <a:r>
                        <a:rPr lang="en-US" sz="2100">
                          <a:solidFill>
                            <a:srgbClr val="94DDDE"/>
                          </a:solidFill>
                          <a:latin typeface="Josefin Sans"/>
                          <a:ea typeface="Josefin Sans"/>
                          <a:cs typeface="Josefin Sans"/>
                          <a:sym typeface="Josefin Sans"/>
                        </a:rPr>
                        <a:t>Tuần 2</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940"/>
                        </a:lnSpc>
                        <a:defRPr/>
                      </a:pPr>
                      <a:r>
                        <a:rPr lang="en-US" sz="2100">
                          <a:solidFill>
                            <a:srgbClr val="94DDDE"/>
                          </a:solidFill>
                          <a:latin typeface="Josefin Sans"/>
                          <a:ea typeface="Josefin Sans"/>
                          <a:cs typeface="Josefin Sans"/>
                          <a:sym typeface="Josefin Sans"/>
                        </a:rPr>
                        <a:t>Kích hoạt AWS CloudTrail và xác minh logs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940"/>
                        </a:lnSpc>
                        <a:defRPr/>
                      </a:pPr>
                      <a:r>
                        <a:rPr lang="en-US" sz="2100">
                          <a:solidFill>
                            <a:srgbClr val="94DDDE"/>
                          </a:solidFill>
                          <a:latin typeface="Josefin Sans"/>
                          <a:ea typeface="Josefin Sans"/>
                          <a:cs typeface="Josefin Sans"/>
                          <a:sym typeface="Josefin Sans"/>
                        </a:rPr>
                        <a:t>Trần Lê Minh Hiếu / Support Tài liệu AWS và Diễn đàn FCJ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1274920">
                <a:tc>
                  <a:txBody>
                    <a:bodyPr/>
                    <a:lstStyle/>
                    <a:p>
                      <a:pPr algn="ctr">
                        <a:lnSpc>
                          <a:spcPts val="2940"/>
                        </a:lnSpc>
                        <a:defRPr/>
                      </a:pPr>
                      <a:r>
                        <a:rPr lang="en-US" sz="2100">
                          <a:solidFill>
                            <a:srgbClr val="94DDDE"/>
                          </a:solidFill>
                          <a:latin typeface="Josefin Sans"/>
                          <a:ea typeface="Josefin Sans"/>
                          <a:cs typeface="Josefin Sans"/>
                          <a:sym typeface="Josefin Sans"/>
                        </a:rPr>
                        <a:t>Tuần 3</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940"/>
                        </a:lnSpc>
                        <a:defRPr/>
                      </a:pPr>
                      <a:r>
                        <a:rPr lang="en-US" sz="2100">
                          <a:solidFill>
                            <a:srgbClr val="94DDDE"/>
                          </a:solidFill>
                          <a:latin typeface="Josefin Sans"/>
                          <a:ea typeface="Josefin Sans"/>
                          <a:cs typeface="Josefin Sans"/>
                          <a:sym typeface="Josefin Sans"/>
                        </a:rPr>
                        <a:t>Tích hợp Amazon Athena và kiểm tra truy vấn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940"/>
                        </a:lnSpc>
                        <a:defRPr/>
                      </a:pPr>
                      <a:r>
                        <a:rPr lang="en-US" sz="2100">
                          <a:solidFill>
                            <a:srgbClr val="94DDDE"/>
                          </a:solidFill>
                          <a:latin typeface="Josefin Sans"/>
                          <a:ea typeface="Josefin Sans"/>
                          <a:cs typeface="Josefin Sans"/>
                          <a:sym typeface="Josefin Sans"/>
                        </a:rPr>
                        <a:t>Trần Lê Minh Hiếu / Support Tài liệu AWS và Diễn đàn FCJ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1274920">
                <a:tc>
                  <a:txBody>
                    <a:bodyPr/>
                    <a:lstStyle/>
                    <a:p>
                      <a:pPr algn="ctr">
                        <a:lnSpc>
                          <a:spcPts val="2940"/>
                        </a:lnSpc>
                        <a:defRPr/>
                      </a:pPr>
                      <a:r>
                        <a:rPr lang="en-US" sz="2100">
                          <a:solidFill>
                            <a:srgbClr val="94DDDE"/>
                          </a:solidFill>
                          <a:latin typeface="Josefin Sans"/>
                          <a:ea typeface="Josefin Sans"/>
                          <a:cs typeface="Josefin Sans"/>
                          <a:sym typeface="Josefin Sans"/>
                        </a:rPr>
                        <a:t>Tuần 4</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940"/>
                        </a:lnSpc>
                        <a:defRPr/>
                      </a:pPr>
                      <a:r>
                        <a:rPr lang="en-US" sz="2100">
                          <a:solidFill>
                            <a:srgbClr val="94DDDE"/>
                          </a:solidFill>
                          <a:latin typeface="Josefin Sans"/>
                          <a:ea typeface="Josefin Sans"/>
                          <a:cs typeface="Josefin Sans"/>
                          <a:sym typeface="Josefin Sans"/>
                        </a:rPr>
                        <a:t>Hoàn thiện báo cáo và trình bày workshop</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940"/>
                        </a:lnSpc>
                        <a:defRPr/>
                      </a:pPr>
                      <a:r>
                        <a:rPr lang="en-US" sz="2100">
                          <a:solidFill>
                            <a:srgbClr val="94DDDE"/>
                          </a:solidFill>
                          <a:latin typeface="Josefin Sans"/>
                          <a:ea typeface="Josefin Sans"/>
                          <a:cs typeface="Josefin Sans"/>
                          <a:sym typeface="Josefin Sans"/>
                        </a:rPr>
                        <a:t>Trần Lê Minh Hiếu / Support Tài liệu AWS và Diễn đàn FCJ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 name="TextBox 3"/>
          <p:cNvSpPr txBox="1"/>
          <p:nvPr/>
        </p:nvSpPr>
        <p:spPr>
          <a:xfrm>
            <a:off x="2513067" y="1114425"/>
            <a:ext cx="13261867" cy="1002983"/>
          </a:xfrm>
          <a:prstGeom prst="rect">
            <a:avLst/>
          </a:prstGeom>
        </p:spPr>
        <p:txBody>
          <a:bodyPr lIns="0" tIns="0" rIns="0" bIns="0" rtlCol="0" anchor="t">
            <a:spAutoFit/>
          </a:bodyPr>
          <a:lstStyle/>
          <a:p>
            <a:pPr algn="ctr">
              <a:lnSpc>
                <a:spcPts val="7507"/>
              </a:lnSpc>
            </a:pPr>
            <a:r>
              <a:rPr lang="en-US" sz="7150" b="1">
                <a:solidFill>
                  <a:srgbClr val="F7B4A7"/>
                </a:solidFill>
                <a:latin typeface="Josefin Sans Bold"/>
                <a:ea typeface="Josefin Sans Bold"/>
                <a:cs typeface="Josefin Sans Bold"/>
                <a:sym typeface="Josefin Sans Bold"/>
              </a:rPr>
              <a:t>5. Timeline &amp; Milestones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94DDDE"/>
        </a:solidFill>
        <a:effectLst/>
      </p:bgPr>
    </p:bg>
    <p:spTree>
      <p:nvGrpSpPr>
        <p:cNvPr id="1" name=""/>
        <p:cNvGrpSpPr/>
        <p:nvPr/>
      </p:nvGrpSpPr>
      <p:grpSpPr>
        <a:xfrm>
          <a:off x="0" y="0"/>
          <a:ext cx="0" cy="0"/>
          <a:chOff x="0" y="0"/>
          <a:chExt cx="0" cy="0"/>
        </a:xfrm>
      </p:grpSpPr>
      <p:sp>
        <p:nvSpPr>
          <p:cNvPr id="2" name="Freeform 2"/>
          <p:cNvSpPr/>
          <p:nvPr/>
        </p:nvSpPr>
        <p:spPr>
          <a:xfrm>
            <a:off x="0" y="0"/>
            <a:ext cx="8184311" cy="10287000"/>
          </a:xfrm>
          <a:custGeom>
            <a:avLst/>
            <a:gdLst/>
            <a:ahLst/>
            <a:cxnLst/>
            <a:rect l="l" t="t" r="r" b="b"/>
            <a:pathLst>
              <a:path w="8184311" h="10287000">
                <a:moveTo>
                  <a:pt x="0" y="0"/>
                </a:moveTo>
                <a:lnTo>
                  <a:pt x="8184311" y="0"/>
                </a:lnTo>
                <a:lnTo>
                  <a:pt x="8184311" y="10287000"/>
                </a:lnTo>
                <a:lnTo>
                  <a:pt x="0" y="10287000"/>
                </a:lnTo>
                <a:lnTo>
                  <a:pt x="0" y="0"/>
                </a:lnTo>
                <a:close/>
              </a:path>
            </a:pathLst>
          </a:custGeom>
          <a:blipFill>
            <a:blip r:embed="rId2"/>
            <a:stretch>
              <a:fillRect t="-9669" b="-9669"/>
            </a:stretch>
          </a:blipFill>
        </p:spPr>
        <p:txBody>
          <a:bodyPr/>
          <a:lstStyle/>
          <a:p>
            <a:endParaRPr lang="en-US"/>
          </a:p>
        </p:txBody>
      </p:sp>
      <p:grpSp>
        <p:nvGrpSpPr>
          <p:cNvPr id="3" name="Group 3"/>
          <p:cNvGrpSpPr/>
          <p:nvPr/>
        </p:nvGrpSpPr>
        <p:grpSpPr>
          <a:xfrm>
            <a:off x="9460529" y="433330"/>
            <a:ext cx="7312205" cy="9049715"/>
            <a:chOff x="0" y="0"/>
            <a:chExt cx="9749607" cy="12066286"/>
          </a:xfrm>
        </p:grpSpPr>
        <p:sp>
          <p:nvSpPr>
            <p:cNvPr id="4" name="TextBox 4"/>
            <p:cNvSpPr txBox="1"/>
            <p:nvPr/>
          </p:nvSpPr>
          <p:spPr>
            <a:xfrm>
              <a:off x="0" y="417830"/>
              <a:ext cx="9749607" cy="2457450"/>
            </a:xfrm>
            <a:prstGeom prst="rect">
              <a:avLst/>
            </a:prstGeom>
          </p:spPr>
          <p:txBody>
            <a:bodyPr lIns="0" tIns="0" rIns="0" bIns="0" rtlCol="0" anchor="t">
              <a:spAutoFit/>
            </a:bodyPr>
            <a:lstStyle/>
            <a:p>
              <a:pPr algn="l">
                <a:lnSpc>
                  <a:spcPts val="7200"/>
                </a:lnSpc>
              </a:pPr>
              <a:r>
                <a:rPr lang="en-US" sz="6000" b="1">
                  <a:solidFill>
                    <a:srgbClr val="2B4B82"/>
                  </a:solidFill>
                  <a:latin typeface="Josefin Sans Bold"/>
                  <a:ea typeface="Josefin Sans Bold"/>
                  <a:cs typeface="Josefin Sans Bold"/>
                  <a:sym typeface="Josefin Sans Bold"/>
                </a:rPr>
                <a:t>6. Budget Estimation</a:t>
              </a:r>
            </a:p>
          </p:txBody>
        </p:sp>
        <p:sp>
          <p:nvSpPr>
            <p:cNvPr id="5" name="TextBox 5"/>
            <p:cNvSpPr txBox="1"/>
            <p:nvPr/>
          </p:nvSpPr>
          <p:spPr>
            <a:xfrm>
              <a:off x="0" y="3939616"/>
              <a:ext cx="9749607" cy="1235710"/>
            </a:xfrm>
            <a:prstGeom prst="rect">
              <a:avLst/>
            </a:prstGeom>
          </p:spPr>
          <p:txBody>
            <a:bodyPr lIns="0" tIns="0" rIns="0" bIns="0" rtlCol="0" anchor="t">
              <a:spAutoFit/>
            </a:bodyPr>
            <a:lstStyle/>
            <a:p>
              <a:pPr algn="l">
                <a:lnSpc>
                  <a:spcPts val="3779"/>
                </a:lnSpc>
              </a:pPr>
              <a:r>
                <a:rPr lang="en-US" sz="2700" spc="540">
                  <a:solidFill>
                    <a:srgbClr val="2B4B82"/>
                  </a:solidFill>
                  <a:latin typeface="Josefin Sans"/>
                  <a:ea typeface="Josefin Sans"/>
                  <a:cs typeface="Josefin Sans"/>
                  <a:sym typeface="Josefin Sans"/>
                </a:rPr>
                <a:t>INFRASTRUCTURE </a:t>
              </a:r>
            </a:p>
            <a:p>
              <a:pPr algn="l">
                <a:lnSpc>
                  <a:spcPts val="3779"/>
                </a:lnSpc>
              </a:pPr>
              <a:r>
                <a:rPr lang="en-US" sz="2700" spc="540">
                  <a:solidFill>
                    <a:srgbClr val="2B4B82"/>
                  </a:solidFill>
                  <a:latin typeface="Josefin Sans"/>
                  <a:ea typeface="Josefin Sans"/>
                  <a:cs typeface="Josefin Sans"/>
                  <a:sym typeface="Josefin Sans"/>
                </a:rPr>
                <a:t>COSTS (DỰ KIẾN)</a:t>
              </a:r>
            </a:p>
          </p:txBody>
        </p:sp>
        <p:sp>
          <p:nvSpPr>
            <p:cNvPr id="6" name="TextBox 6"/>
            <p:cNvSpPr txBox="1"/>
            <p:nvPr/>
          </p:nvSpPr>
          <p:spPr>
            <a:xfrm>
              <a:off x="0" y="6166289"/>
              <a:ext cx="9749607" cy="5709497"/>
            </a:xfrm>
            <a:prstGeom prst="rect">
              <a:avLst/>
            </a:prstGeom>
          </p:spPr>
          <p:txBody>
            <a:bodyPr lIns="0" tIns="0" rIns="0" bIns="0" rtlCol="0" anchor="t">
              <a:spAutoFit/>
            </a:bodyPr>
            <a:lstStyle/>
            <a:p>
              <a:pPr marL="480376" lvl="1" indent="-240188" algn="l">
                <a:lnSpc>
                  <a:spcPts val="3114"/>
                </a:lnSpc>
                <a:buFont typeface="Arial"/>
                <a:buChar char="•"/>
              </a:pPr>
              <a:r>
                <a:rPr lang="en-US" sz="2224">
                  <a:solidFill>
                    <a:srgbClr val="2B4B82"/>
                  </a:solidFill>
                  <a:latin typeface="Josefin Sans"/>
                  <a:ea typeface="Josefin Sans"/>
                  <a:cs typeface="Josefin Sans"/>
                  <a:sym typeface="Josefin Sans"/>
                </a:rPr>
                <a:t>AWS CloudTrail: Miễn phí cho 1 trail và các management events cơ bản (Free Tier).</a:t>
              </a:r>
            </a:p>
            <a:p>
              <a:pPr marL="480376" lvl="1" indent="-240188" algn="l">
                <a:lnSpc>
                  <a:spcPts val="3114"/>
                </a:lnSpc>
                <a:buFont typeface="Arial"/>
                <a:buChar char="•"/>
              </a:pPr>
              <a:r>
                <a:rPr lang="en-US" sz="2224">
                  <a:solidFill>
                    <a:srgbClr val="2B4B82"/>
                  </a:solidFill>
                  <a:latin typeface="Josefin Sans"/>
                  <a:ea typeface="Josefin Sans"/>
                  <a:cs typeface="Josefin Sans"/>
                  <a:sym typeface="Josefin Sans"/>
                </a:rPr>
                <a:t>Amazon S3: Miễn phí cho 5GB/tháng (Free Tier); $0.023/GB nếu vượt.</a:t>
              </a:r>
            </a:p>
            <a:p>
              <a:pPr marL="480376" lvl="1" indent="-240188" algn="l">
                <a:lnSpc>
                  <a:spcPts val="3114"/>
                </a:lnSpc>
                <a:buFont typeface="Arial"/>
                <a:buChar char="•"/>
              </a:pPr>
              <a:r>
                <a:rPr lang="en-US" sz="2224">
                  <a:solidFill>
                    <a:srgbClr val="2B4B82"/>
                  </a:solidFill>
                  <a:latin typeface="Josefin Sans"/>
                  <a:ea typeface="Josefin Sans"/>
                  <a:cs typeface="Josefin Sans"/>
                  <a:sym typeface="Josefin Sans"/>
                </a:rPr>
                <a:t>Amazon Athena: Miễn phí cho 10GB scanning; $5/TB nếu vượt.</a:t>
              </a:r>
            </a:p>
            <a:p>
              <a:pPr marL="480376" lvl="1" indent="-240188" algn="l">
                <a:lnSpc>
                  <a:spcPts val="3114"/>
                </a:lnSpc>
                <a:buFont typeface="Arial"/>
                <a:buChar char="•"/>
              </a:pPr>
              <a:r>
                <a:rPr lang="en-US" sz="2224">
                  <a:solidFill>
                    <a:srgbClr val="2B4B82"/>
                  </a:solidFill>
                  <a:latin typeface="Josefin Sans"/>
                  <a:ea typeface="Josefin Sans"/>
                  <a:cs typeface="Josefin Sans"/>
                  <a:sym typeface="Josefin Sans"/>
                </a:rPr>
                <a:t>AWS KMS: Miễn phí cho các khóa mặc định trong Free Tier.</a:t>
              </a:r>
            </a:p>
            <a:p>
              <a:pPr marL="480376" lvl="1" indent="-240188" algn="l">
                <a:lnSpc>
                  <a:spcPts val="3114"/>
                </a:lnSpc>
                <a:buFont typeface="Arial"/>
                <a:buChar char="•"/>
              </a:pPr>
              <a:r>
                <a:rPr lang="en-US" sz="2224">
                  <a:solidFill>
                    <a:srgbClr val="2B4B82"/>
                  </a:solidFill>
                  <a:latin typeface="Josefin Sans"/>
                  <a:ea typeface="Josefin Sans"/>
                  <a:cs typeface="Josefin Sans"/>
                  <a:sym typeface="Josefin Sans"/>
                </a:rPr>
                <a:t>Chi phí Hàng năm Ước tính (Estimated Annual Cost): ~$0 (trong Free Tier); tối đa $10 cho 100MB nhật ký.</a:t>
              </a:r>
            </a:p>
            <a:p>
              <a:pPr algn="l">
                <a:lnSpc>
                  <a:spcPts val="3114"/>
                </a:lnSpc>
              </a:pPr>
              <a:endParaRPr lang="en-US" sz="2224">
                <a:solidFill>
                  <a:srgbClr val="2B4B82"/>
                </a:solidFill>
                <a:latin typeface="Josefin Sans"/>
                <a:ea typeface="Josefin Sans"/>
                <a:cs typeface="Josefin Sans"/>
                <a:sym typeface="Josefin Sans"/>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TextBox 2"/>
          <p:cNvSpPr txBox="1"/>
          <p:nvPr/>
        </p:nvSpPr>
        <p:spPr>
          <a:xfrm>
            <a:off x="595312" y="703852"/>
            <a:ext cx="9162237" cy="1828800"/>
          </a:xfrm>
          <a:prstGeom prst="rect">
            <a:avLst/>
          </a:prstGeom>
        </p:spPr>
        <p:txBody>
          <a:bodyPr lIns="0" tIns="0" rIns="0" bIns="0" rtlCol="0" anchor="t">
            <a:spAutoFit/>
          </a:bodyPr>
          <a:lstStyle/>
          <a:p>
            <a:pPr algn="l">
              <a:lnSpc>
                <a:spcPts val="7229"/>
              </a:lnSpc>
            </a:pPr>
            <a:r>
              <a:rPr lang="en-US" sz="6024" b="1">
                <a:solidFill>
                  <a:srgbClr val="2B4B82"/>
                </a:solidFill>
                <a:latin typeface="Josefin Sans Bold"/>
                <a:ea typeface="Josefin Sans Bold"/>
                <a:cs typeface="Josefin Sans Bold"/>
                <a:sym typeface="Josefin Sans Bold"/>
              </a:rPr>
              <a:t>6. Budget Estimation</a:t>
            </a:r>
          </a:p>
          <a:p>
            <a:pPr algn="l">
              <a:lnSpc>
                <a:spcPts val="7230"/>
              </a:lnSpc>
            </a:pPr>
            <a:endParaRPr lang="en-US" sz="6024" b="1">
              <a:solidFill>
                <a:srgbClr val="2B4B82"/>
              </a:solidFill>
              <a:latin typeface="Josefin Sans Bold"/>
              <a:ea typeface="Josefin Sans Bold"/>
              <a:cs typeface="Josefin Sans Bold"/>
              <a:sym typeface="Josefin Sans Bold"/>
            </a:endParaRPr>
          </a:p>
        </p:txBody>
      </p:sp>
      <p:sp>
        <p:nvSpPr>
          <p:cNvPr id="3" name="TextBox 3"/>
          <p:cNvSpPr txBox="1"/>
          <p:nvPr/>
        </p:nvSpPr>
        <p:spPr>
          <a:xfrm>
            <a:off x="595312" y="2158319"/>
            <a:ext cx="9162237" cy="577215"/>
          </a:xfrm>
          <a:prstGeom prst="rect">
            <a:avLst/>
          </a:prstGeom>
        </p:spPr>
        <p:txBody>
          <a:bodyPr lIns="0" tIns="0" rIns="0" bIns="0" rtlCol="0" anchor="t">
            <a:spAutoFit/>
          </a:bodyPr>
          <a:lstStyle/>
          <a:p>
            <a:pPr algn="l">
              <a:lnSpc>
                <a:spcPts val="4994"/>
              </a:lnSpc>
            </a:pPr>
            <a:r>
              <a:rPr lang="en-US" sz="2699" spc="426">
                <a:solidFill>
                  <a:srgbClr val="2B4B82"/>
                </a:solidFill>
                <a:latin typeface="Josefin Sans"/>
                <a:ea typeface="Josefin Sans"/>
                <a:cs typeface="Josefin Sans"/>
                <a:sym typeface="Josefin Sans"/>
              </a:rPr>
              <a:t>DEVELOPMENT COSTS ( DỰ KIẾN )</a:t>
            </a:r>
          </a:p>
        </p:txBody>
      </p:sp>
      <p:sp>
        <p:nvSpPr>
          <p:cNvPr id="4" name="TextBox 4"/>
          <p:cNvSpPr txBox="1"/>
          <p:nvPr/>
        </p:nvSpPr>
        <p:spPr>
          <a:xfrm>
            <a:off x="595312" y="2947896"/>
            <a:ext cx="9162237" cy="1893570"/>
          </a:xfrm>
          <a:prstGeom prst="rect">
            <a:avLst/>
          </a:prstGeom>
        </p:spPr>
        <p:txBody>
          <a:bodyPr lIns="0" tIns="0" rIns="0" bIns="0" rtlCol="0" anchor="t">
            <a:spAutoFit/>
          </a:bodyPr>
          <a:lstStyle/>
          <a:p>
            <a:pPr marL="582930" lvl="1" indent="-291465" algn="l">
              <a:lnSpc>
                <a:spcPts val="3779"/>
              </a:lnSpc>
              <a:buFont typeface="Arial"/>
              <a:buChar char="•"/>
            </a:pPr>
            <a:r>
              <a:rPr lang="en-US" sz="2700">
                <a:solidFill>
                  <a:srgbClr val="2B4B82"/>
                </a:solidFill>
                <a:latin typeface="Josefin Sans"/>
                <a:ea typeface="Josefin Sans"/>
                <a:cs typeface="Josefin Sans"/>
                <a:sym typeface="Josefin Sans"/>
              </a:rPr>
              <a:t>Personnel: $0 (sinh viên tự thực hiện).</a:t>
            </a:r>
          </a:p>
          <a:p>
            <a:pPr marL="582930" lvl="1" indent="-291465" algn="l">
              <a:lnSpc>
                <a:spcPts val="3779"/>
              </a:lnSpc>
              <a:buFont typeface="Arial"/>
              <a:buChar char="•"/>
            </a:pPr>
            <a:r>
              <a:rPr lang="en-US" sz="2700">
                <a:solidFill>
                  <a:srgbClr val="2B4B82"/>
                </a:solidFill>
                <a:latin typeface="Josefin Sans"/>
                <a:ea typeface="Josefin Sans"/>
                <a:cs typeface="Josefin Sans"/>
                <a:sym typeface="Josefin Sans"/>
              </a:rPr>
              <a:t>Tools: ~$2 (sử dụng AWS Management Console).</a:t>
            </a:r>
          </a:p>
          <a:p>
            <a:pPr marL="582930" lvl="1" indent="-291465" algn="l">
              <a:lnSpc>
                <a:spcPts val="3779"/>
              </a:lnSpc>
              <a:buFont typeface="Arial"/>
              <a:buChar char="•"/>
            </a:pPr>
            <a:r>
              <a:rPr lang="en-US" sz="2700">
                <a:solidFill>
                  <a:srgbClr val="2B4B82"/>
                </a:solidFill>
                <a:latin typeface="Josefin Sans"/>
                <a:ea typeface="Josefin Sans"/>
                <a:cs typeface="Josefin Sans"/>
                <a:sym typeface="Josefin Sans"/>
              </a:rPr>
              <a:t>Total: $0.</a:t>
            </a:r>
          </a:p>
          <a:p>
            <a:pPr algn="l">
              <a:lnSpc>
                <a:spcPts val="3780"/>
              </a:lnSpc>
            </a:pPr>
            <a:endParaRPr lang="en-US" sz="2700">
              <a:solidFill>
                <a:srgbClr val="2B4B82"/>
              </a:solidFill>
              <a:latin typeface="Josefin Sans"/>
              <a:ea typeface="Josefin Sans"/>
              <a:cs typeface="Josefin Sans"/>
              <a:sym typeface="Josefin Sans"/>
            </a:endParaRPr>
          </a:p>
        </p:txBody>
      </p:sp>
      <p:sp>
        <p:nvSpPr>
          <p:cNvPr id="5" name="Freeform 5"/>
          <p:cNvSpPr/>
          <p:nvPr/>
        </p:nvSpPr>
        <p:spPr>
          <a:xfrm>
            <a:off x="13310404" y="6745617"/>
            <a:ext cx="4597438" cy="2842053"/>
          </a:xfrm>
          <a:custGeom>
            <a:avLst/>
            <a:gdLst/>
            <a:ahLst/>
            <a:cxnLst/>
            <a:rect l="l" t="t" r="r" b="b"/>
            <a:pathLst>
              <a:path w="4597438" h="2842053">
                <a:moveTo>
                  <a:pt x="0" y="0"/>
                </a:moveTo>
                <a:lnTo>
                  <a:pt x="4597439" y="0"/>
                </a:lnTo>
                <a:lnTo>
                  <a:pt x="4597439" y="2842053"/>
                </a:lnTo>
                <a:lnTo>
                  <a:pt x="0" y="28420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12930247" y="0"/>
            <a:ext cx="5357753" cy="5591583"/>
          </a:xfrm>
          <a:custGeom>
            <a:avLst/>
            <a:gdLst/>
            <a:ahLst/>
            <a:cxnLst/>
            <a:rect l="l" t="t" r="r" b="b"/>
            <a:pathLst>
              <a:path w="5357753" h="5591583">
                <a:moveTo>
                  <a:pt x="0" y="0"/>
                </a:moveTo>
                <a:lnTo>
                  <a:pt x="5357753" y="0"/>
                </a:lnTo>
                <a:lnTo>
                  <a:pt x="5357753" y="5591583"/>
                </a:lnTo>
                <a:lnTo>
                  <a:pt x="0" y="559158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TextBox 7"/>
          <p:cNvSpPr txBox="1"/>
          <p:nvPr/>
        </p:nvSpPr>
        <p:spPr>
          <a:xfrm>
            <a:off x="595312" y="4655729"/>
            <a:ext cx="9162237" cy="577215"/>
          </a:xfrm>
          <a:prstGeom prst="rect">
            <a:avLst/>
          </a:prstGeom>
        </p:spPr>
        <p:txBody>
          <a:bodyPr lIns="0" tIns="0" rIns="0" bIns="0" rtlCol="0" anchor="t">
            <a:spAutoFit/>
          </a:bodyPr>
          <a:lstStyle/>
          <a:p>
            <a:pPr algn="l">
              <a:lnSpc>
                <a:spcPts val="4994"/>
              </a:lnSpc>
            </a:pPr>
            <a:r>
              <a:rPr lang="en-US" sz="2699" spc="426">
                <a:solidFill>
                  <a:srgbClr val="2B4B82"/>
                </a:solidFill>
                <a:latin typeface="Josefin Sans"/>
                <a:ea typeface="Josefin Sans"/>
                <a:cs typeface="Josefin Sans"/>
                <a:sym typeface="Josefin Sans"/>
              </a:rPr>
              <a:t>OPERATIONAL COSTS ( DỰ KIẾN )</a:t>
            </a:r>
          </a:p>
        </p:txBody>
      </p:sp>
      <p:sp>
        <p:nvSpPr>
          <p:cNvPr id="8" name="TextBox 8"/>
          <p:cNvSpPr txBox="1"/>
          <p:nvPr/>
        </p:nvSpPr>
        <p:spPr>
          <a:xfrm>
            <a:off x="595312" y="5445306"/>
            <a:ext cx="9162237" cy="1893570"/>
          </a:xfrm>
          <a:prstGeom prst="rect">
            <a:avLst/>
          </a:prstGeom>
        </p:spPr>
        <p:txBody>
          <a:bodyPr lIns="0" tIns="0" rIns="0" bIns="0" rtlCol="0" anchor="t">
            <a:spAutoFit/>
          </a:bodyPr>
          <a:lstStyle/>
          <a:p>
            <a:pPr marL="582930" lvl="1" indent="-291465" algn="l">
              <a:lnSpc>
                <a:spcPts val="3779"/>
              </a:lnSpc>
              <a:buFont typeface="Arial"/>
              <a:buChar char="•"/>
            </a:pPr>
            <a:r>
              <a:rPr lang="en-US" sz="2700">
                <a:solidFill>
                  <a:srgbClr val="2B4B82"/>
                </a:solidFill>
                <a:latin typeface="Josefin Sans"/>
                <a:ea typeface="Josefin Sans"/>
                <a:cs typeface="Josefin Sans"/>
                <a:sym typeface="Josefin Sans"/>
              </a:rPr>
              <a:t>Maintenance: ~$2 (sinh viên tự quản lý).</a:t>
            </a:r>
          </a:p>
          <a:p>
            <a:pPr marL="582930" lvl="1" indent="-291465" algn="l">
              <a:lnSpc>
                <a:spcPts val="3779"/>
              </a:lnSpc>
              <a:buFont typeface="Arial"/>
              <a:buChar char="•"/>
            </a:pPr>
            <a:r>
              <a:rPr lang="en-US" sz="2700">
                <a:solidFill>
                  <a:srgbClr val="2B4B82"/>
                </a:solidFill>
                <a:latin typeface="Josefin Sans"/>
                <a:ea typeface="Josefin Sans"/>
                <a:cs typeface="Josefin Sans"/>
                <a:sym typeface="Josefin Sans"/>
              </a:rPr>
              <a:t>Documentation: $0 (tài liệu AWS miễn phí).</a:t>
            </a:r>
          </a:p>
          <a:p>
            <a:pPr marL="582930" lvl="1" indent="-291465" algn="l">
              <a:lnSpc>
                <a:spcPts val="3779"/>
              </a:lnSpc>
              <a:buFont typeface="Arial"/>
              <a:buChar char="•"/>
            </a:pPr>
            <a:r>
              <a:rPr lang="en-US" sz="2700">
                <a:solidFill>
                  <a:srgbClr val="2B4B82"/>
                </a:solidFill>
                <a:latin typeface="Josefin Sans"/>
                <a:ea typeface="Josefin Sans"/>
                <a:cs typeface="Josefin Sans"/>
                <a:sym typeface="Josefin Sans"/>
              </a:rPr>
              <a:t>Total: $0.</a:t>
            </a:r>
          </a:p>
          <a:p>
            <a:pPr algn="l">
              <a:lnSpc>
                <a:spcPts val="3780"/>
              </a:lnSpc>
            </a:pPr>
            <a:endParaRPr lang="en-US" sz="2700">
              <a:solidFill>
                <a:srgbClr val="2B4B82"/>
              </a:solidFill>
              <a:latin typeface="Josefin Sans"/>
              <a:ea typeface="Josefin Sans"/>
              <a:cs typeface="Josefin Sans"/>
              <a:sym typeface="Josefin Sans"/>
            </a:endParaRPr>
          </a:p>
        </p:txBody>
      </p:sp>
      <p:sp>
        <p:nvSpPr>
          <p:cNvPr id="9" name="TextBox 9"/>
          <p:cNvSpPr txBox="1"/>
          <p:nvPr/>
        </p:nvSpPr>
        <p:spPr>
          <a:xfrm>
            <a:off x="595312" y="7167426"/>
            <a:ext cx="9162237" cy="577215"/>
          </a:xfrm>
          <a:prstGeom prst="rect">
            <a:avLst/>
          </a:prstGeom>
        </p:spPr>
        <p:txBody>
          <a:bodyPr lIns="0" tIns="0" rIns="0" bIns="0" rtlCol="0" anchor="t">
            <a:spAutoFit/>
          </a:bodyPr>
          <a:lstStyle/>
          <a:p>
            <a:pPr algn="l">
              <a:lnSpc>
                <a:spcPts val="4994"/>
              </a:lnSpc>
            </a:pPr>
            <a:r>
              <a:rPr lang="en-US" sz="2699" spc="426">
                <a:solidFill>
                  <a:srgbClr val="2B4B82"/>
                </a:solidFill>
                <a:latin typeface="Josefin Sans"/>
                <a:ea typeface="Josefin Sans"/>
                <a:cs typeface="Josefin Sans"/>
                <a:sym typeface="Josefin Sans"/>
              </a:rPr>
              <a:t>ROI ANALYSIS</a:t>
            </a:r>
          </a:p>
        </p:txBody>
      </p:sp>
      <p:sp>
        <p:nvSpPr>
          <p:cNvPr id="10" name="TextBox 10"/>
          <p:cNvSpPr txBox="1"/>
          <p:nvPr/>
        </p:nvSpPr>
        <p:spPr>
          <a:xfrm>
            <a:off x="577075" y="8109494"/>
            <a:ext cx="9162237" cy="2369820"/>
          </a:xfrm>
          <a:prstGeom prst="rect">
            <a:avLst/>
          </a:prstGeom>
        </p:spPr>
        <p:txBody>
          <a:bodyPr lIns="0" tIns="0" rIns="0" bIns="0" rtlCol="0" anchor="t">
            <a:spAutoFit/>
          </a:bodyPr>
          <a:lstStyle/>
          <a:p>
            <a:pPr marL="582930" lvl="1" indent="-291465" algn="l">
              <a:lnSpc>
                <a:spcPts val="3779"/>
              </a:lnSpc>
              <a:buFont typeface="Arial"/>
              <a:buChar char="•"/>
            </a:pPr>
            <a:r>
              <a:rPr lang="en-US" sz="2700">
                <a:solidFill>
                  <a:srgbClr val="2B4B82"/>
                </a:solidFill>
                <a:latin typeface="Josefin Sans"/>
                <a:ea typeface="Josefin Sans"/>
                <a:cs typeface="Josefin Sans"/>
                <a:sym typeface="Josefin Sans"/>
              </a:rPr>
              <a:t>Cost Savings: Miễn phí với Free Tier.</a:t>
            </a:r>
          </a:p>
          <a:p>
            <a:pPr marL="582930" lvl="1" indent="-291465" algn="l">
              <a:lnSpc>
                <a:spcPts val="3779"/>
              </a:lnSpc>
              <a:buFont typeface="Arial"/>
              <a:buChar char="•"/>
            </a:pPr>
            <a:r>
              <a:rPr lang="en-US" sz="2700">
                <a:solidFill>
                  <a:srgbClr val="2B4B82"/>
                </a:solidFill>
                <a:latin typeface="Josefin Sans"/>
                <a:ea typeface="Josefin Sans"/>
                <a:cs typeface="Josefin Sans"/>
                <a:sym typeface="Josefin Sans"/>
              </a:rPr>
              <a:t>Learning: Nắm vững các kỹ năng AWS thực tế.</a:t>
            </a:r>
          </a:p>
          <a:p>
            <a:pPr marL="582930" lvl="1" indent="-291465" algn="l">
              <a:lnSpc>
                <a:spcPts val="3779"/>
              </a:lnSpc>
              <a:buFont typeface="Arial"/>
              <a:buChar char="•"/>
            </a:pPr>
            <a:r>
              <a:rPr lang="en-US" sz="2700">
                <a:solidFill>
                  <a:srgbClr val="2B4B82"/>
                </a:solidFill>
                <a:latin typeface="Josefin Sans"/>
                <a:ea typeface="Josefin Sans"/>
                <a:cs typeface="Josefin Sans"/>
                <a:sym typeface="Josefin Sans"/>
              </a:rPr>
              <a:t>Academic Benefit: Đáp ứng yêu cầu workshop, cải thiện điểm dự án.</a:t>
            </a:r>
          </a:p>
          <a:p>
            <a:pPr algn="l">
              <a:lnSpc>
                <a:spcPts val="3780"/>
              </a:lnSpc>
            </a:pPr>
            <a:endParaRPr lang="en-US" sz="2700">
              <a:solidFill>
                <a:srgbClr val="2B4B82"/>
              </a:solidFill>
              <a:latin typeface="Josefin Sans"/>
              <a:ea typeface="Josefin Sans"/>
              <a:cs typeface="Josefin Sans"/>
              <a:sym typeface="Josefi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990600" y="1651922"/>
          <a:ext cx="16268700" cy="8408028"/>
        </p:xfrm>
        <a:graphic>
          <a:graphicData uri="http://schemas.openxmlformats.org/drawingml/2006/table">
            <a:tbl>
              <a:tblPr/>
              <a:tblGrid>
                <a:gridCol w="2711450">
                  <a:extLst>
                    <a:ext uri="{9D8B030D-6E8A-4147-A177-3AD203B41FA5}">
                      <a16:colId xmlns:a16="http://schemas.microsoft.com/office/drawing/2014/main" val="20000"/>
                    </a:ext>
                  </a:extLst>
                </a:gridCol>
                <a:gridCol w="2711450">
                  <a:extLst>
                    <a:ext uri="{9D8B030D-6E8A-4147-A177-3AD203B41FA5}">
                      <a16:colId xmlns:a16="http://schemas.microsoft.com/office/drawing/2014/main" val="20001"/>
                    </a:ext>
                  </a:extLst>
                </a:gridCol>
                <a:gridCol w="2711450">
                  <a:extLst>
                    <a:ext uri="{9D8B030D-6E8A-4147-A177-3AD203B41FA5}">
                      <a16:colId xmlns:a16="http://schemas.microsoft.com/office/drawing/2014/main" val="20002"/>
                    </a:ext>
                  </a:extLst>
                </a:gridCol>
                <a:gridCol w="2711450">
                  <a:extLst>
                    <a:ext uri="{9D8B030D-6E8A-4147-A177-3AD203B41FA5}">
                      <a16:colId xmlns:a16="http://schemas.microsoft.com/office/drawing/2014/main" val="20003"/>
                    </a:ext>
                  </a:extLst>
                </a:gridCol>
                <a:gridCol w="2711450">
                  <a:extLst>
                    <a:ext uri="{9D8B030D-6E8A-4147-A177-3AD203B41FA5}">
                      <a16:colId xmlns:a16="http://schemas.microsoft.com/office/drawing/2014/main" val="20004"/>
                    </a:ext>
                  </a:extLst>
                </a:gridCol>
                <a:gridCol w="2711450">
                  <a:extLst>
                    <a:ext uri="{9D8B030D-6E8A-4147-A177-3AD203B41FA5}">
                      <a16:colId xmlns:a16="http://schemas.microsoft.com/office/drawing/2014/main" val="20005"/>
                    </a:ext>
                  </a:extLst>
                </a:gridCol>
              </a:tblGrid>
              <a:tr h="2406295">
                <a:tc>
                  <a:txBody>
                    <a:bodyPr/>
                    <a:lstStyle/>
                    <a:p>
                      <a:pPr algn="ctr">
                        <a:lnSpc>
                          <a:spcPts val="2939"/>
                        </a:lnSpc>
                        <a:defRPr/>
                      </a:pPr>
                      <a:r>
                        <a:rPr lang="en-US" sz="2099" b="1">
                          <a:solidFill>
                            <a:srgbClr val="94DDDE"/>
                          </a:solidFill>
                          <a:latin typeface="Josefin Sans Bold"/>
                          <a:ea typeface="Josefin Sans Bold"/>
                          <a:cs typeface="Josefin Sans Bold"/>
                          <a:sym typeface="Josefin Sans Bold"/>
                        </a:rPr>
                        <a:t>Rủi ro (Risk)</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939"/>
                        </a:lnSpc>
                        <a:defRPr/>
                      </a:pPr>
                      <a:r>
                        <a:rPr lang="en-US" sz="2099" b="1">
                          <a:solidFill>
                            <a:srgbClr val="94DDDE"/>
                          </a:solidFill>
                          <a:latin typeface="Josefin Sans Bold"/>
                          <a:ea typeface="Josefin Sans Bold"/>
                          <a:cs typeface="Josefin Sans Bold"/>
                          <a:sym typeface="Josefin Sans Bold"/>
                        </a:rPr>
                        <a:t>Khả năng (Likelihood)</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939"/>
                        </a:lnSpc>
                        <a:defRPr/>
                      </a:pPr>
                      <a:r>
                        <a:rPr lang="en-US" sz="2099" b="1">
                          <a:solidFill>
                            <a:srgbClr val="94DDDE"/>
                          </a:solidFill>
                          <a:latin typeface="Josefin Sans Bold"/>
                          <a:ea typeface="Josefin Sans Bold"/>
                          <a:cs typeface="Josefin Sans Bold"/>
                          <a:sym typeface="Josefin Sans Bold"/>
                        </a:rPr>
                        <a:t>Tác động (Impact)</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939"/>
                        </a:lnSpc>
                        <a:defRPr/>
                      </a:pPr>
                      <a:r>
                        <a:rPr lang="en-US" sz="2099" b="1">
                          <a:solidFill>
                            <a:srgbClr val="94DDDE"/>
                          </a:solidFill>
                          <a:latin typeface="Josefin Sans Bold"/>
                          <a:ea typeface="Josefin Sans Bold"/>
                          <a:cs typeface="Josefin Sans Bold"/>
                          <a:sym typeface="Josefin Sans Bold"/>
                        </a:rPr>
                        <a:t>Chiến lược Giảm thiểu (Mitigation Strategies)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939"/>
                        </a:lnSpc>
                        <a:defRPr/>
                      </a:pPr>
                      <a:r>
                        <a:rPr lang="en-US" sz="2099" b="1">
                          <a:solidFill>
                            <a:srgbClr val="94DDDE"/>
                          </a:solidFill>
                          <a:latin typeface="Josefin Sans Bold"/>
                          <a:ea typeface="Josefin Sans Bold"/>
                          <a:cs typeface="Josefin Sans Bold"/>
                          <a:sym typeface="Josefin Sans Bold"/>
                        </a:rPr>
                        <a:t>Kế hoạch Dự phòng (Contingeny Plan)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939"/>
                        </a:lnSpc>
                        <a:defRPr/>
                      </a:pPr>
                      <a:r>
                        <a:rPr lang="en-US" sz="2099" b="1">
                          <a:solidFill>
                            <a:srgbClr val="94DDDE"/>
                          </a:solidFill>
                          <a:latin typeface="Josefin Sans Bold"/>
                          <a:ea typeface="Josefin Sans Bold"/>
                          <a:cs typeface="Josefin Sans Bold"/>
                          <a:sym typeface="Josefin Sans Bold"/>
                        </a:rPr>
                        <a:t>Điểm (Score)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1638562">
                <a:tc>
                  <a:txBody>
                    <a:bodyPr/>
                    <a:lstStyle/>
                    <a:p>
                      <a:pPr algn="ctr">
                        <a:lnSpc>
                          <a:spcPts val="2520"/>
                        </a:lnSpc>
                        <a:defRPr/>
                      </a:pPr>
                      <a:r>
                        <a:rPr lang="en-US" sz="1800">
                          <a:solidFill>
                            <a:srgbClr val="94DDDE"/>
                          </a:solidFill>
                          <a:latin typeface="Josefin Sans"/>
                          <a:ea typeface="Josefin Sans"/>
                          <a:cs typeface="Josefin Sans"/>
                          <a:sym typeface="Josefin Sans"/>
                        </a:rPr>
                        <a:t>Cấu hình sai</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94DDDE"/>
                          </a:solidFill>
                          <a:latin typeface="Josefin Sans"/>
                          <a:ea typeface="Josefin Sans"/>
                          <a:cs typeface="Josefin Sans"/>
                          <a:sym typeface="Josefin Sans"/>
                        </a:rPr>
                        <a:t>Trung bình</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94DDDE"/>
                          </a:solidFill>
                          <a:latin typeface="Josefin Sans"/>
                          <a:ea typeface="Josefin Sans"/>
                          <a:cs typeface="Josefin Sans"/>
                          <a:sym typeface="Josefin Sans"/>
                        </a:rPr>
                        <a:t>Trung bình</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94DDDE"/>
                          </a:solidFill>
                          <a:latin typeface="Josefin Sans"/>
                          <a:ea typeface="Josefin Sans"/>
                          <a:cs typeface="Josefin Sans"/>
                          <a:sym typeface="Josefin Sans"/>
                        </a:rPr>
                        <a:t>Tuân theo hướng dẫn chính thức của AWS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94DDDE"/>
                          </a:solidFill>
                          <a:latin typeface="Josefin Sans"/>
                          <a:ea typeface="Josefin Sans"/>
                          <a:cs typeface="Josefin Sans"/>
                          <a:sym typeface="Josefin Sans"/>
                        </a:rPr>
                        <a:t>Xóa và cấu hình lại tài nguyên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94DDDE"/>
                          </a:solidFill>
                          <a:latin typeface="Josefin Sans"/>
                          <a:ea typeface="Josefin Sans"/>
                          <a:cs typeface="Josefin Sans"/>
                          <a:sym typeface="Josefin Sans"/>
                        </a:rPr>
                        <a:t>4</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1454390">
                <a:tc>
                  <a:txBody>
                    <a:bodyPr/>
                    <a:lstStyle/>
                    <a:p>
                      <a:pPr algn="ctr">
                        <a:lnSpc>
                          <a:spcPts val="2520"/>
                        </a:lnSpc>
                        <a:defRPr/>
                      </a:pPr>
                      <a:r>
                        <a:rPr lang="en-US" sz="1800">
                          <a:solidFill>
                            <a:srgbClr val="94DDDE"/>
                          </a:solidFill>
                          <a:latin typeface="Josefin Sans"/>
                          <a:ea typeface="Josefin Sans"/>
                          <a:cs typeface="Josefin Sans"/>
                          <a:sym typeface="Josefin Sans"/>
                        </a:rPr>
                        <a:t>Vượt Free Tier</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94DDDE"/>
                          </a:solidFill>
                          <a:latin typeface="Josefin Sans"/>
                          <a:ea typeface="Josefin Sans"/>
                          <a:cs typeface="Josefin Sans"/>
                          <a:sym typeface="Josefin Sans"/>
                        </a:rPr>
                        <a:t>Thấp</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94DDDE"/>
                          </a:solidFill>
                          <a:latin typeface="Josefin Sans"/>
                          <a:ea typeface="Josefin Sans"/>
                          <a:cs typeface="Josefin Sans"/>
                          <a:sym typeface="Josefin Sans"/>
                        </a:rPr>
                        <a:t>Thấp</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94DDDE"/>
                          </a:solidFill>
                          <a:latin typeface="Josefin Sans"/>
                          <a:ea typeface="Josefin Sans"/>
                          <a:cs typeface="Josefin Sans"/>
                          <a:sym typeface="Josefin Sans"/>
                        </a:rPr>
                        <a:t>Theo dõi chi phí bằng AWS Budgets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94DDDE"/>
                          </a:solidFill>
                          <a:latin typeface="Josefin Sans"/>
                          <a:ea typeface="Josefin Sans"/>
                          <a:cs typeface="Josefin Sans"/>
                          <a:sym typeface="Josefin Sans"/>
                        </a:rPr>
                        <a:t>Chuyển sang Amazon S3 Glacier ($0.004/GB)</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94DDDE"/>
                          </a:solidFill>
                          <a:latin typeface="Josefin Sans"/>
                          <a:ea typeface="Josefin Sans"/>
                          <a:cs typeface="Josefin Sans"/>
                          <a:sym typeface="Josefin Sans"/>
                        </a:rPr>
                        <a:t>2</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1454390">
                <a:tc>
                  <a:txBody>
                    <a:bodyPr/>
                    <a:lstStyle/>
                    <a:p>
                      <a:pPr algn="ctr">
                        <a:lnSpc>
                          <a:spcPts val="2520"/>
                        </a:lnSpc>
                        <a:defRPr/>
                      </a:pPr>
                      <a:r>
                        <a:rPr lang="en-US" sz="1800">
                          <a:solidFill>
                            <a:srgbClr val="94DDDE"/>
                          </a:solidFill>
                          <a:latin typeface="Josefin Sans"/>
                          <a:ea typeface="Josefin Sans"/>
                          <a:cs typeface="Josefin Sans"/>
                          <a:sym typeface="Josefin Sans"/>
                        </a:rPr>
                        <a:t>Thiếu thời gian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94DDDE"/>
                          </a:solidFill>
                          <a:latin typeface="Josefin Sans"/>
                          <a:ea typeface="Josefin Sans"/>
                          <a:cs typeface="Josefin Sans"/>
                          <a:sym typeface="Josefin Sans"/>
                        </a:rPr>
                        <a:t>Trung bình</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94DDDE"/>
                          </a:solidFill>
                          <a:latin typeface="Josefin Sans"/>
                          <a:ea typeface="Josefin Sans"/>
                          <a:cs typeface="Josefin Sans"/>
                          <a:sym typeface="Josefin Sans"/>
                        </a:rPr>
                        <a:t>Cao</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94DDDE"/>
                          </a:solidFill>
                          <a:latin typeface="Josefin Sans"/>
                          <a:ea typeface="Josefin Sans"/>
                          <a:cs typeface="Josefin Sans"/>
                          <a:sym typeface="Josefin Sans"/>
                        </a:rPr>
                        <a:t>Lập kế hoạch chi tiết và ưu tiên công việc</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94DDDE"/>
                          </a:solidFill>
                          <a:latin typeface="Josefin Sans"/>
                          <a:ea typeface="Josefin Sans"/>
                          <a:cs typeface="Josefin Sans"/>
                          <a:sym typeface="Josefin Sans"/>
                        </a:rPr>
                        <a:t>Giảm phạm vi (chỉ theo dõi các API cơ bản)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94DDDE"/>
                          </a:solidFill>
                          <a:latin typeface="Josefin Sans"/>
                          <a:ea typeface="Josefin Sans"/>
                          <a:cs typeface="Josefin Sans"/>
                          <a:sym typeface="Josefin Sans"/>
                        </a:rPr>
                        <a:t>5</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1454390">
                <a:tc>
                  <a:txBody>
                    <a:bodyPr/>
                    <a:lstStyle/>
                    <a:p>
                      <a:pPr algn="ctr">
                        <a:lnSpc>
                          <a:spcPts val="2520"/>
                        </a:lnSpc>
                        <a:defRPr/>
                      </a:pPr>
                      <a:r>
                        <a:rPr lang="en-US" sz="1800">
                          <a:solidFill>
                            <a:srgbClr val="94DDDE"/>
                          </a:solidFill>
                          <a:latin typeface="Josefin Sans"/>
                          <a:ea typeface="Josefin Sans"/>
                          <a:cs typeface="Josefin Sans"/>
                          <a:sym typeface="Josefin Sans"/>
                        </a:rPr>
                        <a:t>Thiếu kỹ năng</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94DDDE"/>
                          </a:solidFill>
                          <a:latin typeface="Josefin Sans"/>
                          <a:ea typeface="Josefin Sans"/>
                          <a:cs typeface="Josefin Sans"/>
                          <a:sym typeface="Josefin Sans"/>
                        </a:rPr>
                        <a:t>Trung bình</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94DDDE"/>
                          </a:solidFill>
                          <a:latin typeface="Josefin Sans"/>
                          <a:ea typeface="Josefin Sans"/>
                          <a:cs typeface="Josefin Sans"/>
                          <a:sym typeface="Josefin Sans"/>
                        </a:rPr>
                        <a:t>Trung bình</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94DDDE"/>
                          </a:solidFill>
                          <a:latin typeface="Josefin Sans"/>
                          <a:ea typeface="Josefin Sans"/>
                          <a:cs typeface="Josefin Sans"/>
                          <a:sym typeface="Josefin Sans"/>
                        </a:rPr>
                        <a:t>Sử dụng tài liệu AWS và diễn đàn FCJ</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94DDDE"/>
                          </a:solidFill>
                          <a:latin typeface="Josefin Sans"/>
                          <a:ea typeface="Josefin Sans"/>
                          <a:cs typeface="Josefin Sans"/>
                          <a:sym typeface="Josefin Sans"/>
                        </a:rPr>
                        <a:t>Tìm hướng dẫn trên YouTube hoặc AWS Educate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94DDDE"/>
                          </a:solidFill>
                          <a:latin typeface="Josefin Sans"/>
                          <a:ea typeface="Josefin Sans"/>
                          <a:cs typeface="Josefin Sans"/>
                          <a:sym typeface="Josefin Sans"/>
                        </a:rPr>
                        <a:t>4</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 name="TextBox 3"/>
          <p:cNvSpPr txBox="1"/>
          <p:nvPr/>
        </p:nvSpPr>
        <p:spPr>
          <a:xfrm>
            <a:off x="5132724" y="523875"/>
            <a:ext cx="7984452" cy="990600"/>
          </a:xfrm>
          <a:prstGeom prst="rect">
            <a:avLst/>
          </a:prstGeom>
        </p:spPr>
        <p:txBody>
          <a:bodyPr lIns="0" tIns="0" rIns="0" bIns="0" rtlCol="0" anchor="t">
            <a:spAutoFit/>
          </a:bodyPr>
          <a:lstStyle/>
          <a:p>
            <a:pPr algn="ctr">
              <a:lnSpc>
                <a:spcPts val="7680"/>
              </a:lnSpc>
            </a:pPr>
            <a:r>
              <a:rPr lang="en-US" sz="6400" b="1">
                <a:solidFill>
                  <a:srgbClr val="F7B4A7"/>
                </a:solidFill>
                <a:latin typeface="Josefin Sans Bold"/>
                <a:ea typeface="Josefin Sans Bold"/>
                <a:cs typeface="Josefin Sans Bold"/>
                <a:sym typeface="Josefin Sans Bold"/>
              </a:rPr>
              <a:t>7. Risk Assessment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B4A7"/>
        </a:solidFill>
        <a:effectLst/>
      </p:bgPr>
    </p:bg>
    <p:spTree>
      <p:nvGrpSpPr>
        <p:cNvPr id="1" name=""/>
        <p:cNvGrpSpPr/>
        <p:nvPr/>
      </p:nvGrpSpPr>
      <p:grpSpPr>
        <a:xfrm>
          <a:off x="0" y="0"/>
          <a:ext cx="0" cy="0"/>
          <a:chOff x="0" y="0"/>
          <a:chExt cx="0" cy="0"/>
        </a:xfrm>
      </p:grpSpPr>
      <p:grpSp>
        <p:nvGrpSpPr>
          <p:cNvPr id="2" name="Group 2"/>
          <p:cNvGrpSpPr/>
          <p:nvPr/>
        </p:nvGrpSpPr>
        <p:grpSpPr>
          <a:xfrm>
            <a:off x="946160" y="824590"/>
            <a:ext cx="9569415" cy="2702313"/>
            <a:chOff x="0" y="0"/>
            <a:chExt cx="12759220" cy="3603084"/>
          </a:xfrm>
        </p:grpSpPr>
        <p:sp>
          <p:nvSpPr>
            <p:cNvPr id="3" name="TextBox 3"/>
            <p:cNvSpPr txBox="1"/>
            <p:nvPr/>
          </p:nvSpPr>
          <p:spPr>
            <a:xfrm>
              <a:off x="0" y="190500"/>
              <a:ext cx="12759220" cy="2743200"/>
            </a:xfrm>
            <a:prstGeom prst="rect">
              <a:avLst/>
            </a:prstGeom>
          </p:spPr>
          <p:txBody>
            <a:bodyPr lIns="0" tIns="0" rIns="0" bIns="0" rtlCol="0" anchor="t">
              <a:spAutoFit/>
            </a:bodyPr>
            <a:lstStyle/>
            <a:p>
              <a:pPr algn="l">
                <a:lnSpc>
                  <a:spcPts val="7694"/>
                </a:lnSpc>
              </a:pPr>
              <a:r>
                <a:rPr lang="en-US" sz="8099" b="1" spc="-80">
                  <a:solidFill>
                    <a:srgbClr val="2B4B82"/>
                  </a:solidFill>
                  <a:latin typeface="Josefin Sans Bold"/>
                  <a:ea typeface="Josefin Sans Bold"/>
                  <a:cs typeface="Josefin Sans Bold"/>
                  <a:sym typeface="Josefin Sans Bold"/>
                </a:rPr>
                <a:t>8. Expected Outcomes</a:t>
              </a:r>
            </a:p>
          </p:txBody>
        </p:sp>
        <p:sp>
          <p:nvSpPr>
            <p:cNvPr id="4" name="TextBox 4"/>
            <p:cNvSpPr txBox="1"/>
            <p:nvPr/>
          </p:nvSpPr>
          <p:spPr>
            <a:xfrm>
              <a:off x="0" y="2985187"/>
              <a:ext cx="12759220" cy="620014"/>
            </a:xfrm>
            <a:prstGeom prst="rect">
              <a:avLst/>
            </a:prstGeom>
          </p:spPr>
          <p:txBody>
            <a:bodyPr lIns="0" tIns="0" rIns="0" bIns="0" rtlCol="0" anchor="t">
              <a:spAutoFit/>
            </a:bodyPr>
            <a:lstStyle/>
            <a:p>
              <a:pPr algn="l">
                <a:lnSpc>
                  <a:spcPts val="4055"/>
                </a:lnSpc>
              </a:pPr>
              <a:endParaRPr/>
            </a:p>
          </p:txBody>
        </p:sp>
      </p:grpSp>
      <p:sp>
        <p:nvSpPr>
          <p:cNvPr id="5" name="Freeform 5"/>
          <p:cNvSpPr/>
          <p:nvPr/>
        </p:nvSpPr>
        <p:spPr>
          <a:xfrm>
            <a:off x="12443088" y="-1095217"/>
            <a:ext cx="6414740" cy="6631780"/>
          </a:xfrm>
          <a:custGeom>
            <a:avLst/>
            <a:gdLst/>
            <a:ahLst/>
            <a:cxnLst/>
            <a:rect l="l" t="t" r="r" b="b"/>
            <a:pathLst>
              <a:path w="6414740" h="6631780">
                <a:moveTo>
                  <a:pt x="0" y="0"/>
                </a:moveTo>
                <a:lnTo>
                  <a:pt x="6414740" y="0"/>
                </a:lnTo>
                <a:lnTo>
                  <a:pt x="6414740" y="6631780"/>
                </a:lnTo>
                <a:lnTo>
                  <a:pt x="0" y="663178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TextBox 6"/>
          <p:cNvSpPr txBox="1"/>
          <p:nvPr/>
        </p:nvSpPr>
        <p:spPr>
          <a:xfrm>
            <a:off x="9203106" y="6159140"/>
            <a:ext cx="4310914" cy="4023537"/>
          </a:xfrm>
          <a:prstGeom prst="rect">
            <a:avLst/>
          </a:prstGeom>
        </p:spPr>
        <p:txBody>
          <a:bodyPr lIns="0" tIns="0" rIns="0" bIns="0" rtlCol="0" anchor="t">
            <a:spAutoFit/>
          </a:bodyPr>
          <a:lstStyle/>
          <a:p>
            <a:pPr marL="539751" lvl="1" indent="-269876" algn="l">
              <a:lnSpc>
                <a:spcPts val="3500"/>
              </a:lnSpc>
              <a:buFont typeface="Arial"/>
              <a:buChar char="•"/>
            </a:pPr>
            <a:r>
              <a:rPr lang="en-US" sz="2500" dirty="0">
                <a:solidFill>
                  <a:srgbClr val="2B4B82"/>
                </a:solidFill>
                <a:latin typeface="Josefin Sans"/>
                <a:ea typeface="Josefin Sans"/>
                <a:cs typeface="Josefin Sans"/>
                <a:sym typeface="Josefin Sans"/>
              </a:rPr>
              <a:t>AWS Skills Thành </a:t>
            </a:r>
            <a:r>
              <a:rPr lang="en-US" sz="2500" dirty="0" err="1">
                <a:solidFill>
                  <a:srgbClr val="2B4B82"/>
                </a:solidFill>
                <a:latin typeface="Josefin Sans"/>
                <a:ea typeface="Josefin Sans"/>
                <a:cs typeface="Josefin Sans"/>
                <a:sym typeface="Josefin Sans"/>
              </a:rPr>
              <a:t>thạo</a:t>
            </a:r>
            <a:r>
              <a:rPr lang="en-US" sz="2500" dirty="0">
                <a:solidFill>
                  <a:srgbClr val="2B4B82"/>
                </a:solidFill>
                <a:latin typeface="Josefin Sans"/>
                <a:ea typeface="Josefin Sans"/>
                <a:cs typeface="Josefin Sans"/>
                <a:sym typeface="Josefin Sans"/>
              </a:rPr>
              <a:t> AWS CloudTrail, Amazon S3 </a:t>
            </a:r>
            <a:r>
              <a:rPr lang="en-US" sz="2500" dirty="0" err="1">
                <a:solidFill>
                  <a:srgbClr val="2B4B82"/>
                </a:solidFill>
                <a:latin typeface="Josefin Sans"/>
                <a:ea typeface="Josefin Sans"/>
                <a:cs typeface="Josefin Sans"/>
                <a:sym typeface="Josefin Sans"/>
              </a:rPr>
              <a:t>và</a:t>
            </a:r>
            <a:r>
              <a:rPr lang="en-US" sz="2500" dirty="0">
                <a:solidFill>
                  <a:srgbClr val="2B4B82"/>
                </a:solidFill>
                <a:latin typeface="Josefin Sans"/>
                <a:ea typeface="Josefin Sans"/>
                <a:cs typeface="Josefin Sans"/>
                <a:sym typeface="Josefin Sans"/>
              </a:rPr>
              <a:t> Amazon Athena.</a:t>
            </a:r>
          </a:p>
          <a:p>
            <a:pPr marL="539751" lvl="1" indent="-269876" algn="l">
              <a:lnSpc>
                <a:spcPts val="3500"/>
              </a:lnSpc>
              <a:buFont typeface="Arial"/>
              <a:buChar char="•"/>
            </a:pPr>
            <a:r>
              <a:rPr lang="en-US" sz="2500" dirty="0" err="1">
                <a:solidFill>
                  <a:srgbClr val="2B4B82"/>
                </a:solidFill>
                <a:latin typeface="Josefin Sans"/>
                <a:ea typeface="Josefin Sans"/>
                <a:cs typeface="Josefin Sans"/>
                <a:sym typeface="Josefin Sans"/>
              </a:rPr>
              <a:t>Đáp</a:t>
            </a:r>
            <a:r>
              <a:rPr lang="en-US" sz="2500" dirty="0">
                <a:solidFill>
                  <a:srgbClr val="2B4B82"/>
                </a:solidFill>
                <a:latin typeface="Josefin Sans"/>
                <a:ea typeface="Josefin Sans"/>
                <a:cs typeface="Josefin Sans"/>
                <a:sym typeface="Josefin Sans"/>
              </a:rPr>
              <a:t> </a:t>
            </a:r>
            <a:r>
              <a:rPr lang="en-US" sz="2500" dirty="0" err="1">
                <a:solidFill>
                  <a:srgbClr val="2B4B82"/>
                </a:solidFill>
                <a:latin typeface="Josefin Sans"/>
                <a:ea typeface="Josefin Sans"/>
                <a:cs typeface="Josefin Sans"/>
                <a:sym typeface="Josefin Sans"/>
              </a:rPr>
              <a:t>ứng</a:t>
            </a:r>
            <a:r>
              <a:rPr lang="en-US" sz="2500" dirty="0">
                <a:solidFill>
                  <a:srgbClr val="2B4B82"/>
                </a:solidFill>
                <a:latin typeface="Josefin Sans"/>
                <a:ea typeface="Josefin Sans"/>
                <a:cs typeface="Josefin Sans"/>
                <a:sym typeface="Josefin Sans"/>
              </a:rPr>
              <a:t> </a:t>
            </a:r>
            <a:r>
              <a:rPr lang="en-US" sz="2500" dirty="0" err="1">
                <a:solidFill>
                  <a:srgbClr val="2B4B82"/>
                </a:solidFill>
                <a:latin typeface="Josefin Sans"/>
                <a:ea typeface="Josefin Sans"/>
                <a:cs typeface="Josefin Sans"/>
                <a:sym typeface="Josefin Sans"/>
              </a:rPr>
              <a:t>yêu</a:t>
            </a:r>
            <a:r>
              <a:rPr lang="en-US" sz="2500" dirty="0">
                <a:solidFill>
                  <a:srgbClr val="2B4B82"/>
                </a:solidFill>
                <a:latin typeface="Josefin Sans"/>
                <a:ea typeface="Josefin Sans"/>
                <a:cs typeface="Josefin Sans"/>
                <a:sym typeface="Josefin Sans"/>
              </a:rPr>
              <a:t> </a:t>
            </a:r>
            <a:r>
              <a:rPr lang="en-US" sz="2500" dirty="0" err="1">
                <a:solidFill>
                  <a:srgbClr val="2B4B82"/>
                </a:solidFill>
                <a:latin typeface="Josefin Sans"/>
                <a:ea typeface="Josefin Sans"/>
                <a:cs typeface="Josefin Sans"/>
                <a:sym typeface="Josefin Sans"/>
              </a:rPr>
              <a:t>cầu</a:t>
            </a:r>
            <a:r>
              <a:rPr lang="en-US" sz="2500" dirty="0">
                <a:solidFill>
                  <a:srgbClr val="2B4B82"/>
                </a:solidFill>
                <a:latin typeface="Josefin Sans"/>
                <a:ea typeface="Josefin Sans"/>
                <a:cs typeface="Josefin Sans"/>
                <a:sym typeface="Josefin Sans"/>
              </a:rPr>
              <a:t> workshop.</a:t>
            </a:r>
          </a:p>
          <a:p>
            <a:pPr marL="539751" lvl="1" indent="-269876" algn="l">
              <a:lnSpc>
                <a:spcPts val="3500"/>
              </a:lnSpc>
              <a:buFont typeface="Arial"/>
              <a:buChar char="•"/>
            </a:pPr>
            <a:r>
              <a:rPr lang="en-US" sz="2500" dirty="0">
                <a:solidFill>
                  <a:srgbClr val="2B4B82"/>
                </a:solidFill>
                <a:latin typeface="Josefin Sans"/>
                <a:ea typeface="Josefin Sans"/>
                <a:cs typeface="Josefin Sans"/>
                <a:sym typeface="Josefin Sans"/>
              </a:rPr>
              <a:t>Security Knowledge: </a:t>
            </a:r>
            <a:r>
              <a:rPr lang="en-US" sz="2500" dirty="0" err="1">
                <a:solidFill>
                  <a:srgbClr val="2B4B82"/>
                </a:solidFill>
                <a:latin typeface="Josefin Sans"/>
                <a:ea typeface="Josefin Sans"/>
                <a:cs typeface="Josefin Sans"/>
                <a:sym typeface="Josefin Sans"/>
              </a:rPr>
              <a:t>Hiểu</a:t>
            </a:r>
            <a:r>
              <a:rPr lang="en-US" sz="2500" dirty="0">
                <a:solidFill>
                  <a:srgbClr val="2B4B82"/>
                </a:solidFill>
                <a:latin typeface="Josefin Sans"/>
                <a:ea typeface="Josefin Sans"/>
                <a:cs typeface="Josefin Sans"/>
                <a:sym typeface="Josefin Sans"/>
              </a:rPr>
              <a:t> </a:t>
            </a:r>
            <a:r>
              <a:rPr lang="en-US" sz="2500" dirty="0" err="1">
                <a:solidFill>
                  <a:srgbClr val="2B4B82"/>
                </a:solidFill>
                <a:latin typeface="Josefin Sans"/>
                <a:ea typeface="Josefin Sans"/>
                <a:cs typeface="Josefin Sans"/>
                <a:sym typeface="Josefin Sans"/>
              </a:rPr>
              <a:t>về</a:t>
            </a:r>
            <a:r>
              <a:rPr lang="en-US" sz="2500" dirty="0">
                <a:solidFill>
                  <a:srgbClr val="2B4B82"/>
                </a:solidFill>
                <a:latin typeface="Josefin Sans"/>
                <a:ea typeface="Josefin Sans"/>
                <a:cs typeface="Josefin Sans"/>
                <a:sym typeface="Josefin Sans"/>
              </a:rPr>
              <a:t> immutable logging </a:t>
            </a:r>
            <a:r>
              <a:rPr lang="en-US" sz="2500" dirty="0" err="1">
                <a:solidFill>
                  <a:srgbClr val="2B4B82"/>
                </a:solidFill>
                <a:latin typeface="Josefin Sans"/>
                <a:ea typeface="Josefin Sans"/>
                <a:cs typeface="Josefin Sans"/>
                <a:sym typeface="Josefin Sans"/>
              </a:rPr>
              <a:t>và</a:t>
            </a:r>
            <a:r>
              <a:rPr lang="en-US" sz="2500" dirty="0">
                <a:solidFill>
                  <a:srgbClr val="2B4B82"/>
                </a:solidFill>
                <a:latin typeface="Josefin Sans"/>
                <a:ea typeface="Josefin Sans"/>
                <a:cs typeface="Josefin Sans"/>
                <a:sym typeface="Josefin Sans"/>
              </a:rPr>
              <a:t> </a:t>
            </a:r>
            <a:r>
              <a:rPr lang="en-US" sz="2500" dirty="0" err="1">
                <a:solidFill>
                  <a:srgbClr val="2B4B82"/>
                </a:solidFill>
                <a:latin typeface="Josefin Sans"/>
                <a:ea typeface="Josefin Sans"/>
                <a:cs typeface="Josefin Sans"/>
                <a:sym typeface="Josefin Sans"/>
              </a:rPr>
              <a:t>mã</a:t>
            </a:r>
            <a:r>
              <a:rPr lang="en-US" sz="2500" dirty="0">
                <a:solidFill>
                  <a:srgbClr val="2B4B82"/>
                </a:solidFill>
                <a:latin typeface="Josefin Sans"/>
                <a:ea typeface="Josefin Sans"/>
                <a:cs typeface="Josefin Sans"/>
                <a:sym typeface="Josefin Sans"/>
              </a:rPr>
              <a:t> </a:t>
            </a:r>
            <a:r>
              <a:rPr lang="en-US" sz="2500" dirty="0" err="1">
                <a:solidFill>
                  <a:srgbClr val="2B4B82"/>
                </a:solidFill>
                <a:latin typeface="Josefin Sans"/>
                <a:ea typeface="Josefin Sans"/>
                <a:cs typeface="Josefin Sans"/>
                <a:sym typeface="Josefin Sans"/>
              </a:rPr>
              <a:t>hóa</a:t>
            </a:r>
            <a:r>
              <a:rPr lang="en-US" sz="2500" dirty="0">
                <a:solidFill>
                  <a:srgbClr val="2B4B82"/>
                </a:solidFill>
                <a:latin typeface="Josefin Sans"/>
                <a:ea typeface="Josefin Sans"/>
                <a:cs typeface="Josefin Sans"/>
                <a:sym typeface="Josefin Sans"/>
              </a:rPr>
              <a:t>.</a:t>
            </a:r>
          </a:p>
          <a:p>
            <a:pPr algn="l">
              <a:lnSpc>
                <a:spcPts val="3499"/>
              </a:lnSpc>
            </a:pPr>
            <a:endParaRPr lang="en-US" sz="2500" dirty="0">
              <a:solidFill>
                <a:srgbClr val="2B4B82"/>
              </a:solidFill>
              <a:latin typeface="Josefin Sans"/>
              <a:ea typeface="Josefin Sans"/>
              <a:cs typeface="Josefin Sans"/>
              <a:sym typeface="Josefin Sans"/>
            </a:endParaRPr>
          </a:p>
        </p:txBody>
      </p:sp>
      <p:sp>
        <p:nvSpPr>
          <p:cNvPr id="7" name="TextBox 7"/>
          <p:cNvSpPr txBox="1"/>
          <p:nvPr/>
        </p:nvSpPr>
        <p:spPr>
          <a:xfrm>
            <a:off x="1933575" y="5234591"/>
            <a:ext cx="4310914" cy="507365"/>
          </a:xfrm>
          <a:prstGeom prst="rect">
            <a:avLst/>
          </a:prstGeom>
        </p:spPr>
        <p:txBody>
          <a:bodyPr lIns="0" tIns="0" rIns="0" bIns="0" rtlCol="0" anchor="t">
            <a:spAutoFit/>
          </a:bodyPr>
          <a:lstStyle/>
          <a:p>
            <a:pPr algn="l">
              <a:lnSpc>
                <a:spcPts val="4060"/>
              </a:lnSpc>
            </a:pPr>
            <a:r>
              <a:rPr lang="en-US" sz="2900" b="1">
                <a:solidFill>
                  <a:srgbClr val="2B4B82"/>
                </a:solidFill>
                <a:latin typeface="Josefin Sans Bold"/>
                <a:ea typeface="Josefin Sans Bold"/>
                <a:cs typeface="Josefin Sans Bold"/>
                <a:sym typeface="Josefin Sans Bold"/>
              </a:rPr>
              <a:t>Success Metrics</a:t>
            </a:r>
          </a:p>
        </p:txBody>
      </p:sp>
      <p:sp>
        <p:nvSpPr>
          <p:cNvPr id="8" name="TextBox 8"/>
          <p:cNvSpPr txBox="1"/>
          <p:nvPr/>
        </p:nvSpPr>
        <p:spPr>
          <a:xfrm>
            <a:off x="1933575" y="6159140"/>
            <a:ext cx="4310914" cy="3070225"/>
          </a:xfrm>
          <a:prstGeom prst="rect">
            <a:avLst/>
          </a:prstGeom>
        </p:spPr>
        <p:txBody>
          <a:bodyPr lIns="0" tIns="0" rIns="0" bIns="0" rtlCol="0" anchor="t">
            <a:spAutoFit/>
          </a:bodyPr>
          <a:lstStyle/>
          <a:p>
            <a:pPr marL="539751" lvl="1" indent="-269876" algn="l">
              <a:lnSpc>
                <a:spcPts val="3500"/>
              </a:lnSpc>
              <a:buFont typeface="Arial"/>
              <a:buChar char="•"/>
            </a:pPr>
            <a:r>
              <a:rPr lang="en-US" sz="2500">
                <a:solidFill>
                  <a:srgbClr val="2B4B82"/>
                </a:solidFill>
                <a:latin typeface="Josefin Sans"/>
                <a:ea typeface="Josefin Sans"/>
                <a:cs typeface="Josefin Sans"/>
                <a:sym typeface="Josefin Sans"/>
              </a:rPr>
              <a:t>100% logs được bảo vệ bằng Object Lock</a:t>
            </a:r>
          </a:p>
          <a:p>
            <a:pPr marL="539751" lvl="1" indent="-269876" algn="l">
              <a:lnSpc>
                <a:spcPts val="3500"/>
              </a:lnSpc>
              <a:buFont typeface="Arial"/>
              <a:buChar char="•"/>
            </a:pPr>
            <a:r>
              <a:rPr lang="en-US" sz="2500">
                <a:solidFill>
                  <a:srgbClr val="2B4B82"/>
                </a:solidFill>
                <a:latin typeface="Josefin Sans"/>
                <a:ea typeface="Josefin Sans"/>
                <a:cs typeface="Josefin Sans"/>
                <a:sym typeface="Josefin Sans"/>
              </a:rPr>
              <a:t>Truy vấn &lt;10 giây cho các truy vấn Amazon Athena</a:t>
            </a:r>
          </a:p>
          <a:p>
            <a:pPr marL="539749" lvl="1" indent="-269875" algn="l">
              <a:lnSpc>
                <a:spcPts val="3499"/>
              </a:lnSpc>
              <a:buFont typeface="Arial"/>
              <a:buChar char="•"/>
            </a:pPr>
            <a:r>
              <a:rPr lang="en-US" sz="2499">
                <a:solidFill>
                  <a:srgbClr val="2B4B82"/>
                </a:solidFill>
                <a:latin typeface="Josefin Sans"/>
                <a:ea typeface="Josefin Sans"/>
                <a:cs typeface="Josefin Sans"/>
                <a:sym typeface="Josefin Sans"/>
              </a:rPr>
              <a:t>Tạo báo cáo logs cho workshop</a:t>
            </a:r>
          </a:p>
          <a:p>
            <a:pPr algn="l">
              <a:lnSpc>
                <a:spcPts val="3499"/>
              </a:lnSpc>
            </a:pPr>
            <a:endParaRPr lang="en-US" sz="2499">
              <a:solidFill>
                <a:srgbClr val="2B4B82"/>
              </a:solidFill>
              <a:latin typeface="Josefin Sans"/>
              <a:ea typeface="Josefin Sans"/>
              <a:cs typeface="Josefin Sans"/>
              <a:sym typeface="Josefin Sans"/>
            </a:endParaRPr>
          </a:p>
        </p:txBody>
      </p:sp>
      <p:sp>
        <p:nvSpPr>
          <p:cNvPr id="9" name="TextBox 9"/>
          <p:cNvSpPr txBox="1"/>
          <p:nvPr/>
        </p:nvSpPr>
        <p:spPr>
          <a:xfrm>
            <a:off x="9203106" y="5234591"/>
            <a:ext cx="4310914" cy="507365"/>
          </a:xfrm>
          <a:prstGeom prst="rect">
            <a:avLst/>
          </a:prstGeom>
        </p:spPr>
        <p:txBody>
          <a:bodyPr lIns="0" tIns="0" rIns="0" bIns="0" rtlCol="0" anchor="t">
            <a:spAutoFit/>
          </a:bodyPr>
          <a:lstStyle/>
          <a:p>
            <a:pPr algn="l">
              <a:lnSpc>
                <a:spcPts val="4060"/>
              </a:lnSpc>
            </a:pPr>
            <a:r>
              <a:rPr lang="en-US" sz="2900" b="1">
                <a:solidFill>
                  <a:srgbClr val="2B4B82"/>
                </a:solidFill>
                <a:latin typeface="Josefin Sans Bold"/>
                <a:ea typeface="Josefin Sans Bold"/>
                <a:cs typeface="Josefin Sans Bold"/>
                <a:sym typeface="Josefin Sans Bold"/>
              </a:rPr>
              <a:t>Learning Benefits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B4A7"/>
        </a:solidFill>
        <a:effectLst/>
      </p:bgPr>
    </p:bg>
    <p:spTree>
      <p:nvGrpSpPr>
        <p:cNvPr id="1" name=""/>
        <p:cNvGrpSpPr/>
        <p:nvPr/>
      </p:nvGrpSpPr>
      <p:grpSpPr>
        <a:xfrm>
          <a:off x="0" y="0"/>
          <a:ext cx="0" cy="0"/>
          <a:chOff x="0" y="0"/>
          <a:chExt cx="0" cy="0"/>
        </a:xfrm>
      </p:grpSpPr>
      <p:grpSp>
        <p:nvGrpSpPr>
          <p:cNvPr id="2" name="Group 2"/>
          <p:cNvGrpSpPr/>
          <p:nvPr/>
        </p:nvGrpSpPr>
        <p:grpSpPr>
          <a:xfrm>
            <a:off x="946160" y="824590"/>
            <a:ext cx="9569415" cy="2702313"/>
            <a:chOff x="0" y="0"/>
            <a:chExt cx="12759220" cy="3603084"/>
          </a:xfrm>
        </p:grpSpPr>
        <p:sp>
          <p:nvSpPr>
            <p:cNvPr id="3" name="TextBox 3"/>
            <p:cNvSpPr txBox="1"/>
            <p:nvPr/>
          </p:nvSpPr>
          <p:spPr>
            <a:xfrm>
              <a:off x="0" y="190500"/>
              <a:ext cx="12759220" cy="2743200"/>
            </a:xfrm>
            <a:prstGeom prst="rect">
              <a:avLst/>
            </a:prstGeom>
          </p:spPr>
          <p:txBody>
            <a:bodyPr lIns="0" tIns="0" rIns="0" bIns="0" rtlCol="0" anchor="t">
              <a:spAutoFit/>
            </a:bodyPr>
            <a:lstStyle/>
            <a:p>
              <a:pPr algn="l">
                <a:lnSpc>
                  <a:spcPts val="7694"/>
                </a:lnSpc>
              </a:pPr>
              <a:r>
                <a:rPr lang="en-US" sz="8099" b="1" spc="-80">
                  <a:solidFill>
                    <a:srgbClr val="2B4B82"/>
                  </a:solidFill>
                  <a:latin typeface="Josefin Sans Bold"/>
                  <a:ea typeface="Josefin Sans Bold"/>
                  <a:cs typeface="Josefin Sans Bold"/>
                  <a:sym typeface="Josefin Sans Bold"/>
                </a:rPr>
                <a:t>8. Expected Outcomes</a:t>
              </a:r>
            </a:p>
          </p:txBody>
        </p:sp>
        <p:sp>
          <p:nvSpPr>
            <p:cNvPr id="4" name="TextBox 4"/>
            <p:cNvSpPr txBox="1"/>
            <p:nvPr/>
          </p:nvSpPr>
          <p:spPr>
            <a:xfrm>
              <a:off x="0" y="2985187"/>
              <a:ext cx="12759220" cy="620014"/>
            </a:xfrm>
            <a:prstGeom prst="rect">
              <a:avLst/>
            </a:prstGeom>
          </p:spPr>
          <p:txBody>
            <a:bodyPr lIns="0" tIns="0" rIns="0" bIns="0" rtlCol="0" anchor="t">
              <a:spAutoFit/>
            </a:bodyPr>
            <a:lstStyle/>
            <a:p>
              <a:pPr algn="l">
                <a:lnSpc>
                  <a:spcPts val="4055"/>
                </a:lnSpc>
              </a:pPr>
              <a:endParaRPr/>
            </a:p>
          </p:txBody>
        </p:sp>
      </p:grpSp>
      <p:sp>
        <p:nvSpPr>
          <p:cNvPr id="5" name="Freeform 5"/>
          <p:cNvSpPr/>
          <p:nvPr/>
        </p:nvSpPr>
        <p:spPr>
          <a:xfrm>
            <a:off x="12443088" y="-1095217"/>
            <a:ext cx="6414740" cy="6631780"/>
          </a:xfrm>
          <a:custGeom>
            <a:avLst/>
            <a:gdLst/>
            <a:ahLst/>
            <a:cxnLst/>
            <a:rect l="l" t="t" r="r" b="b"/>
            <a:pathLst>
              <a:path w="6414740" h="6631780">
                <a:moveTo>
                  <a:pt x="0" y="0"/>
                </a:moveTo>
                <a:lnTo>
                  <a:pt x="6414740" y="0"/>
                </a:lnTo>
                <a:lnTo>
                  <a:pt x="6414740" y="6631780"/>
                </a:lnTo>
                <a:lnTo>
                  <a:pt x="0" y="663178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TextBox 6"/>
          <p:cNvSpPr txBox="1"/>
          <p:nvPr/>
        </p:nvSpPr>
        <p:spPr>
          <a:xfrm>
            <a:off x="9203106" y="6159140"/>
            <a:ext cx="4310914" cy="3070225"/>
          </a:xfrm>
          <a:prstGeom prst="rect">
            <a:avLst/>
          </a:prstGeom>
        </p:spPr>
        <p:txBody>
          <a:bodyPr lIns="0" tIns="0" rIns="0" bIns="0" rtlCol="0" anchor="t">
            <a:spAutoFit/>
          </a:bodyPr>
          <a:lstStyle/>
          <a:p>
            <a:pPr marL="539751" lvl="1" indent="-269876" algn="l">
              <a:lnSpc>
                <a:spcPts val="3500"/>
              </a:lnSpc>
              <a:buFont typeface="Arial"/>
              <a:buChar char="•"/>
            </a:pPr>
            <a:r>
              <a:rPr lang="en-US" sz="2500">
                <a:solidFill>
                  <a:srgbClr val="2B4B82"/>
                </a:solidFill>
                <a:latin typeface="Josefin Sans"/>
                <a:ea typeface="Josefin Sans"/>
                <a:cs typeface="Josefin Sans"/>
                <a:sym typeface="Josefin Sans"/>
              </a:rPr>
              <a:t>Áp dụng kiến thức AWS cho các dự án tương lai.</a:t>
            </a:r>
          </a:p>
          <a:p>
            <a:pPr marL="539751" lvl="1" indent="-269876" algn="l">
              <a:lnSpc>
                <a:spcPts val="3500"/>
              </a:lnSpc>
              <a:buFont typeface="Arial"/>
              <a:buChar char="•"/>
            </a:pPr>
            <a:r>
              <a:rPr lang="en-US" sz="2500">
                <a:solidFill>
                  <a:srgbClr val="2B4B82"/>
                </a:solidFill>
                <a:latin typeface="Josefin Sans"/>
                <a:ea typeface="Josefin Sans"/>
                <a:cs typeface="Josefin Sans"/>
                <a:sym typeface="Josefin Sans"/>
              </a:rPr>
              <a:t>Portfolio: Dự án thực tế để đưa vào CV.</a:t>
            </a:r>
          </a:p>
          <a:p>
            <a:pPr marL="539751" lvl="1" indent="-269876" algn="l">
              <a:lnSpc>
                <a:spcPts val="3500"/>
              </a:lnSpc>
              <a:buFont typeface="Arial"/>
              <a:buChar char="•"/>
            </a:pPr>
            <a:r>
              <a:rPr lang="en-US" sz="2500">
                <a:solidFill>
                  <a:srgbClr val="2B4B82"/>
                </a:solidFill>
                <a:latin typeface="Josefin Sans"/>
                <a:ea typeface="Josefin Sans"/>
                <a:cs typeface="Josefin Sans"/>
                <a:sym typeface="Josefin Sans"/>
              </a:rPr>
              <a:t>Nền tảng cho nghiên cứu bảo mật đám mây.</a:t>
            </a:r>
          </a:p>
          <a:p>
            <a:pPr algn="l">
              <a:lnSpc>
                <a:spcPts val="3499"/>
              </a:lnSpc>
            </a:pPr>
            <a:endParaRPr lang="en-US" sz="2500">
              <a:solidFill>
                <a:srgbClr val="2B4B82"/>
              </a:solidFill>
              <a:latin typeface="Josefin Sans"/>
              <a:ea typeface="Josefin Sans"/>
              <a:cs typeface="Josefin Sans"/>
              <a:sym typeface="Josefin Sans"/>
            </a:endParaRPr>
          </a:p>
        </p:txBody>
      </p:sp>
      <p:sp>
        <p:nvSpPr>
          <p:cNvPr id="7" name="TextBox 7"/>
          <p:cNvSpPr txBox="1"/>
          <p:nvPr/>
        </p:nvSpPr>
        <p:spPr>
          <a:xfrm>
            <a:off x="1933575" y="5234591"/>
            <a:ext cx="4310914" cy="507365"/>
          </a:xfrm>
          <a:prstGeom prst="rect">
            <a:avLst/>
          </a:prstGeom>
        </p:spPr>
        <p:txBody>
          <a:bodyPr lIns="0" tIns="0" rIns="0" bIns="0" rtlCol="0" anchor="t">
            <a:spAutoFit/>
          </a:bodyPr>
          <a:lstStyle/>
          <a:p>
            <a:pPr algn="l">
              <a:lnSpc>
                <a:spcPts val="4060"/>
              </a:lnSpc>
            </a:pPr>
            <a:r>
              <a:rPr lang="en-US" sz="2900" b="1">
                <a:solidFill>
                  <a:srgbClr val="2B4B82"/>
                </a:solidFill>
                <a:latin typeface="Josefin Sans Bold"/>
                <a:ea typeface="Josefin Sans Bold"/>
                <a:cs typeface="Josefin Sans Bold"/>
                <a:sym typeface="Josefin Sans Bold"/>
              </a:rPr>
              <a:t>Technical Improvements</a:t>
            </a:r>
          </a:p>
        </p:txBody>
      </p:sp>
      <p:sp>
        <p:nvSpPr>
          <p:cNvPr id="8" name="TextBox 8"/>
          <p:cNvSpPr txBox="1"/>
          <p:nvPr/>
        </p:nvSpPr>
        <p:spPr>
          <a:xfrm>
            <a:off x="1933575" y="6159140"/>
            <a:ext cx="4310914" cy="3070225"/>
          </a:xfrm>
          <a:prstGeom prst="rect">
            <a:avLst/>
          </a:prstGeom>
        </p:spPr>
        <p:txBody>
          <a:bodyPr lIns="0" tIns="0" rIns="0" bIns="0" rtlCol="0" anchor="t">
            <a:spAutoFit/>
          </a:bodyPr>
          <a:lstStyle/>
          <a:p>
            <a:pPr marL="539751" lvl="1" indent="-269876" algn="l">
              <a:lnSpc>
                <a:spcPts val="3500"/>
              </a:lnSpc>
              <a:buFont typeface="Arial"/>
              <a:buChar char="•"/>
            </a:pPr>
            <a:r>
              <a:rPr lang="en-US" sz="2500">
                <a:solidFill>
                  <a:srgbClr val="2B4B82"/>
                </a:solidFill>
                <a:latin typeface="Josefin Sans"/>
                <a:ea typeface="Josefin Sans"/>
                <a:cs typeface="Josefin Sans"/>
                <a:sym typeface="Josefin Sans"/>
              </a:rPr>
              <a:t>Theo dõi tất cả API trong một Amazon S3 bucket.</a:t>
            </a:r>
          </a:p>
          <a:p>
            <a:pPr marL="539751" lvl="1" indent="-269876" algn="l">
              <a:lnSpc>
                <a:spcPts val="3500"/>
              </a:lnSpc>
              <a:buFont typeface="Arial"/>
              <a:buChar char="•"/>
            </a:pPr>
            <a:r>
              <a:rPr lang="en-US" sz="2500">
                <a:solidFill>
                  <a:srgbClr val="2B4B82"/>
                </a:solidFill>
                <a:latin typeface="Josefin Sans"/>
                <a:ea typeface="Josefin Sans"/>
                <a:cs typeface="Josefin Sans"/>
                <a:sym typeface="Josefin Sans"/>
              </a:rPr>
              <a:t>Truy vấn logs dễ dàng với Amazon Athena.</a:t>
            </a:r>
          </a:p>
          <a:p>
            <a:pPr marL="539749" lvl="1" indent="-269875" algn="l">
              <a:lnSpc>
                <a:spcPts val="3499"/>
              </a:lnSpc>
              <a:buFont typeface="Arial"/>
              <a:buChar char="•"/>
            </a:pPr>
            <a:r>
              <a:rPr lang="en-US" sz="2499">
                <a:solidFill>
                  <a:srgbClr val="2B4B82"/>
                </a:solidFill>
                <a:latin typeface="Josefin Sans"/>
                <a:ea typeface="Josefin Sans"/>
                <a:cs typeface="Josefin Sans"/>
                <a:sym typeface="Josefin Sans"/>
              </a:rPr>
              <a:t>Tạo báo cáo logs cho workshop.</a:t>
            </a:r>
          </a:p>
          <a:p>
            <a:pPr algn="l">
              <a:lnSpc>
                <a:spcPts val="3499"/>
              </a:lnSpc>
            </a:pPr>
            <a:endParaRPr lang="en-US" sz="2499">
              <a:solidFill>
                <a:srgbClr val="2B4B82"/>
              </a:solidFill>
              <a:latin typeface="Josefin Sans"/>
              <a:ea typeface="Josefin Sans"/>
              <a:cs typeface="Josefin Sans"/>
              <a:sym typeface="Josefin Sans"/>
            </a:endParaRPr>
          </a:p>
        </p:txBody>
      </p:sp>
      <p:sp>
        <p:nvSpPr>
          <p:cNvPr id="9" name="TextBox 9"/>
          <p:cNvSpPr txBox="1"/>
          <p:nvPr/>
        </p:nvSpPr>
        <p:spPr>
          <a:xfrm>
            <a:off x="9203106" y="5234591"/>
            <a:ext cx="4310914" cy="507365"/>
          </a:xfrm>
          <a:prstGeom prst="rect">
            <a:avLst/>
          </a:prstGeom>
        </p:spPr>
        <p:txBody>
          <a:bodyPr lIns="0" tIns="0" rIns="0" bIns="0" rtlCol="0" anchor="t">
            <a:spAutoFit/>
          </a:bodyPr>
          <a:lstStyle/>
          <a:p>
            <a:pPr algn="l">
              <a:lnSpc>
                <a:spcPts val="4060"/>
              </a:lnSpc>
            </a:pPr>
            <a:r>
              <a:rPr lang="en-US" sz="2900" b="1">
                <a:solidFill>
                  <a:srgbClr val="2B4B82"/>
                </a:solidFill>
                <a:latin typeface="Josefin Sans Bold"/>
                <a:ea typeface="Josefin Sans Bold"/>
                <a:cs typeface="Josefin Sans Bold"/>
                <a:sym typeface="Josefin Sans Bold"/>
              </a:rPr>
              <a:t>Long-Term Value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sp>
        <p:nvSpPr>
          <p:cNvPr id="2" name="Freeform 2"/>
          <p:cNvSpPr/>
          <p:nvPr/>
        </p:nvSpPr>
        <p:spPr>
          <a:xfrm>
            <a:off x="4610774" y="1441513"/>
            <a:ext cx="2645731" cy="1625922"/>
          </a:xfrm>
          <a:custGeom>
            <a:avLst/>
            <a:gdLst/>
            <a:ahLst/>
            <a:cxnLst/>
            <a:rect l="l" t="t" r="r" b="b"/>
            <a:pathLst>
              <a:path w="2645731" h="1625922">
                <a:moveTo>
                  <a:pt x="0" y="0"/>
                </a:moveTo>
                <a:lnTo>
                  <a:pt x="2645731" y="0"/>
                </a:lnTo>
                <a:lnTo>
                  <a:pt x="2645731" y="1625922"/>
                </a:lnTo>
                <a:lnTo>
                  <a:pt x="0" y="162592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2879313" y="5316566"/>
            <a:ext cx="5758626" cy="4114800"/>
          </a:xfrm>
          <a:custGeom>
            <a:avLst/>
            <a:gdLst/>
            <a:ahLst/>
            <a:cxnLst/>
            <a:rect l="l" t="t" r="r" b="b"/>
            <a:pathLst>
              <a:path w="5758626" h="4114800">
                <a:moveTo>
                  <a:pt x="0" y="0"/>
                </a:moveTo>
                <a:lnTo>
                  <a:pt x="5758626" y="0"/>
                </a:lnTo>
                <a:lnTo>
                  <a:pt x="575862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6340312" y="-1788377"/>
            <a:ext cx="1491622" cy="3229890"/>
          </a:xfrm>
          <a:custGeom>
            <a:avLst/>
            <a:gdLst/>
            <a:ahLst/>
            <a:cxnLst/>
            <a:rect l="l" t="t" r="r" b="b"/>
            <a:pathLst>
              <a:path w="1491622" h="3229890">
                <a:moveTo>
                  <a:pt x="0" y="0"/>
                </a:moveTo>
                <a:lnTo>
                  <a:pt x="1491622" y="0"/>
                </a:lnTo>
                <a:lnTo>
                  <a:pt x="1491622" y="3229890"/>
                </a:lnTo>
                <a:lnTo>
                  <a:pt x="0" y="322989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Freeform 5"/>
          <p:cNvSpPr/>
          <p:nvPr/>
        </p:nvSpPr>
        <p:spPr>
          <a:xfrm>
            <a:off x="8242167" y="-1536821"/>
            <a:ext cx="3748344" cy="3073642"/>
          </a:xfrm>
          <a:custGeom>
            <a:avLst/>
            <a:gdLst/>
            <a:ahLst/>
            <a:cxnLst/>
            <a:rect l="l" t="t" r="r" b="b"/>
            <a:pathLst>
              <a:path w="3748344" h="3073642">
                <a:moveTo>
                  <a:pt x="0" y="0"/>
                </a:moveTo>
                <a:lnTo>
                  <a:pt x="3748345" y="0"/>
                </a:lnTo>
                <a:lnTo>
                  <a:pt x="3748345" y="3073642"/>
                </a:lnTo>
                <a:lnTo>
                  <a:pt x="0" y="307364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6" name="Freeform 6"/>
          <p:cNvSpPr/>
          <p:nvPr/>
        </p:nvSpPr>
        <p:spPr>
          <a:xfrm>
            <a:off x="-566643" y="-2441088"/>
            <a:ext cx="4317873" cy="5892879"/>
          </a:xfrm>
          <a:custGeom>
            <a:avLst/>
            <a:gdLst/>
            <a:ahLst/>
            <a:cxnLst/>
            <a:rect l="l" t="t" r="r" b="b"/>
            <a:pathLst>
              <a:path w="4317873" h="5892879">
                <a:moveTo>
                  <a:pt x="0" y="0"/>
                </a:moveTo>
                <a:lnTo>
                  <a:pt x="4317873" y="0"/>
                </a:lnTo>
                <a:lnTo>
                  <a:pt x="4317873" y="5892879"/>
                </a:lnTo>
                <a:lnTo>
                  <a:pt x="0" y="589287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7" name="Freeform 7"/>
          <p:cNvSpPr/>
          <p:nvPr/>
        </p:nvSpPr>
        <p:spPr>
          <a:xfrm flipH="1">
            <a:off x="1742874" y="3067435"/>
            <a:ext cx="4597438" cy="2842053"/>
          </a:xfrm>
          <a:custGeom>
            <a:avLst/>
            <a:gdLst/>
            <a:ahLst/>
            <a:cxnLst/>
            <a:rect l="l" t="t" r="r" b="b"/>
            <a:pathLst>
              <a:path w="4597438" h="2842053">
                <a:moveTo>
                  <a:pt x="4597438" y="0"/>
                </a:moveTo>
                <a:lnTo>
                  <a:pt x="0" y="0"/>
                </a:lnTo>
                <a:lnTo>
                  <a:pt x="0" y="2842053"/>
                </a:lnTo>
                <a:lnTo>
                  <a:pt x="4597438" y="2842053"/>
                </a:lnTo>
                <a:lnTo>
                  <a:pt x="4597438"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grpSp>
        <p:nvGrpSpPr>
          <p:cNvPr id="8" name="Group 8"/>
          <p:cNvGrpSpPr/>
          <p:nvPr/>
        </p:nvGrpSpPr>
        <p:grpSpPr>
          <a:xfrm>
            <a:off x="9144000" y="1772821"/>
            <a:ext cx="7079577" cy="2212370"/>
            <a:chOff x="0" y="0"/>
            <a:chExt cx="9439436" cy="2949827"/>
          </a:xfrm>
        </p:grpSpPr>
        <p:sp>
          <p:nvSpPr>
            <p:cNvPr id="9" name="TextBox 9"/>
            <p:cNvSpPr txBox="1"/>
            <p:nvPr/>
          </p:nvSpPr>
          <p:spPr>
            <a:xfrm>
              <a:off x="0" y="-19050"/>
              <a:ext cx="9439436" cy="1314450"/>
            </a:xfrm>
            <a:prstGeom prst="rect">
              <a:avLst/>
            </a:prstGeom>
          </p:spPr>
          <p:txBody>
            <a:bodyPr lIns="0" tIns="0" rIns="0" bIns="0" rtlCol="0" anchor="t">
              <a:spAutoFit/>
            </a:bodyPr>
            <a:lstStyle/>
            <a:p>
              <a:pPr algn="l">
                <a:lnSpc>
                  <a:spcPts val="7680"/>
                </a:lnSpc>
              </a:pPr>
              <a:r>
                <a:rPr lang="en-US" sz="6400" b="1">
                  <a:solidFill>
                    <a:srgbClr val="94DDDE"/>
                  </a:solidFill>
                  <a:latin typeface="Josefin Sans Bold"/>
                  <a:ea typeface="Josefin Sans Bold"/>
                  <a:cs typeface="Josefin Sans Bold"/>
                  <a:sym typeface="Josefin Sans Bold"/>
                </a:rPr>
                <a:t>Appendix</a:t>
              </a:r>
            </a:p>
          </p:txBody>
        </p:sp>
        <p:sp>
          <p:nvSpPr>
            <p:cNvPr id="10" name="TextBox 10"/>
            <p:cNvSpPr txBox="1"/>
            <p:nvPr/>
          </p:nvSpPr>
          <p:spPr>
            <a:xfrm>
              <a:off x="0" y="1606040"/>
              <a:ext cx="7324815" cy="1375537"/>
            </a:xfrm>
            <a:prstGeom prst="rect">
              <a:avLst/>
            </a:prstGeom>
          </p:spPr>
          <p:txBody>
            <a:bodyPr lIns="0" tIns="0" rIns="0" bIns="0" rtlCol="0" anchor="t">
              <a:spAutoFit/>
            </a:bodyPr>
            <a:lstStyle/>
            <a:p>
              <a:pPr algn="l">
                <a:lnSpc>
                  <a:spcPts val="4263"/>
                </a:lnSpc>
              </a:pPr>
              <a:r>
                <a:rPr lang="en-US" sz="2900" spc="580">
                  <a:solidFill>
                    <a:srgbClr val="94DDDE"/>
                  </a:solidFill>
                  <a:latin typeface="Josefin Sans"/>
                  <a:ea typeface="Josefin Sans"/>
                  <a:cs typeface="Josefin Sans"/>
                  <a:sym typeface="Josefin Sans"/>
                </a:rPr>
                <a:t>A. TECHNICAL SPECIFICATIONS</a:t>
              </a:r>
            </a:p>
          </p:txBody>
        </p:sp>
      </p:grpSp>
      <p:sp>
        <p:nvSpPr>
          <p:cNvPr id="11" name="TextBox 11"/>
          <p:cNvSpPr txBox="1"/>
          <p:nvPr/>
        </p:nvSpPr>
        <p:spPr>
          <a:xfrm>
            <a:off x="9042216" y="4412261"/>
            <a:ext cx="8217084" cy="4462780"/>
          </a:xfrm>
          <a:prstGeom prst="rect">
            <a:avLst/>
          </a:prstGeom>
        </p:spPr>
        <p:txBody>
          <a:bodyPr lIns="0" tIns="0" rIns="0" bIns="0" rtlCol="0" anchor="t">
            <a:spAutoFit/>
          </a:bodyPr>
          <a:lstStyle/>
          <a:p>
            <a:pPr marL="604519" lvl="1" indent="-302260" algn="l">
              <a:lnSpc>
                <a:spcPts val="3919"/>
              </a:lnSpc>
              <a:buFont typeface="Arial"/>
              <a:buChar char="•"/>
            </a:pPr>
            <a:r>
              <a:rPr lang="en-US" sz="2799">
                <a:solidFill>
                  <a:srgbClr val="94DDDE"/>
                </a:solidFill>
                <a:latin typeface="Josefin Sans"/>
                <a:ea typeface="Josefin Sans"/>
                <a:cs typeface="Josefin Sans"/>
                <a:sym typeface="Josefin Sans"/>
              </a:rPr>
              <a:t>AWS CloudTrail: Single-Region Trail; management events.</a:t>
            </a:r>
          </a:p>
          <a:p>
            <a:pPr marL="604519" lvl="1" indent="-302260" algn="l">
              <a:lnSpc>
                <a:spcPts val="3919"/>
              </a:lnSpc>
              <a:buFont typeface="Arial"/>
              <a:buChar char="•"/>
            </a:pPr>
            <a:r>
              <a:rPr lang="en-US" sz="2799">
                <a:solidFill>
                  <a:srgbClr val="94DDDE"/>
                </a:solidFill>
                <a:latin typeface="Josefin Sans"/>
                <a:ea typeface="Josefin Sans"/>
                <a:cs typeface="Josefin Sans"/>
                <a:sym typeface="Josefin Sans"/>
              </a:rPr>
              <a:t>Amazon S3: Object Lock Compliance Mode; thời gian lưu trữ 1 năm.</a:t>
            </a:r>
          </a:p>
          <a:p>
            <a:pPr marL="604519" lvl="1" indent="-302260" algn="l">
              <a:lnSpc>
                <a:spcPts val="3919"/>
              </a:lnSpc>
              <a:buFont typeface="Arial"/>
              <a:buChar char="•"/>
            </a:pPr>
            <a:r>
              <a:rPr lang="en-US" sz="2799">
                <a:solidFill>
                  <a:srgbClr val="94DDDE"/>
                </a:solidFill>
                <a:latin typeface="Josefin Sans"/>
                <a:ea typeface="Josefin Sans"/>
                <a:cs typeface="Josefin Sans"/>
                <a:sym typeface="Josefin Sans"/>
              </a:rPr>
              <a:t>Amazon Athena: Các truy vấn SQL cơ bản.</a:t>
            </a:r>
          </a:p>
          <a:p>
            <a:pPr marL="604519" lvl="1" indent="-302260" algn="l">
              <a:lnSpc>
                <a:spcPts val="3919"/>
              </a:lnSpc>
              <a:buFont typeface="Arial"/>
              <a:buChar char="•"/>
            </a:pPr>
            <a:r>
              <a:rPr lang="en-US" sz="2799">
                <a:solidFill>
                  <a:srgbClr val="94DDDE"/>
                </a:solidFill>
                <a:latin typeface="Josefin Sans"/>
                <a:ea typeface="Josefin Sans"/>
                <a:cs typeface="Josefin Sans"/>
                <a:sym typeface="Josefin Sans"/>
              </a:rPr>
              <a:t>AWS IAM: Quyền tối thiểu cho tài khoản sinh viên.</a:t>
            </a:r>
          </a:p>
          <a:p>
            <a:pPr marL="604519" lvl="1" indent="-302260" algn="l">
              <a:lnSpc>
                <a:spcPts val="3919"/>
              </a:lnSpc>
              <a:buFont typeface="Arial"/>
              <a:buChar char="•"/>
            </a:pPr>
            <a:r>
              <a:rPr lang="en-US" sz="2799">
                <a:solidFill>
                  <a:srgbClr val="94DDDE"/>
                </a:solidFill>
                <a:latin typeface="Josefin Sans"/>
                <a:ea typeface="Josefin Sans"/>
                <a:cs typeface="Josefin Sans"/>
                <a:sym typeface="Josefin Sans"/>
              </a:rPr>
              <a:t>AWS KMS: Khóa mặc định.</a:t>
            </a:r>
          </a:p>
          <a:p>
            <a:pPr algn="l">
              <a:lnSpc>
                <a:spcPts val="3919"/>
              </a:lnSpc>
            </a:pPr>
            <a:endParaRPr lang="en-US" sz="2799">
              <a:solidFill>
                <a:srgbClr val="94DDDE"/>
              </a:solidFill>
              <a:latin typeface="Josefin Sans"/>
              <a:ea typeface="Josefin Sans"/>
              <a:cs typeface="Josefin Sans"/>
              <a:sym typeface="Josefin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sp>
        <p:nvSpPr>
          <p:cNvPr id="2" name="Freeform 2"/>
          <p:cNvSpPr/>
          <p:nvPr/>
        </p:nvSpPr>
        <p:spPr>
          <a:xfrm>
            <a:off x="10476342" y="1951228"/>
            <a:ext cx="6338112" cy="6384545"/>
          </a:xfrm>
          <a:custGeom>
            <a:avLst/>
            <a:gdLst/>
            <a:ahLst/>
            <a:cxnLst/>
            <a:rect l="l" t="t" r="r" b="b"/>
            <a:pathLst>
              <a:path w="6338112" h="6384545">
                <a:moveTo>
                  <a:pt x="0" y="0"/>
                </a:moveTo>
                <a:lnTo>
                  <a:pt x="6338112" y="0"/>
                </a:lnTo>
                <a:lnTo>
                  <a:pt x="6338112" y="6384544"/>
                </a:lnTo>
                <a:lnTo>
                  <a:pt x="0" y="6384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1504950" y="4795520"/>
            <a:ext cx="8217084" cy="4462780"/>
          </a:xfrm>
          <a:prstGeom prst="rect">
            <a:avLst/>
          </a:prstGeom>
        </p:spPr>
        <p:txBody>
          <a:bodyPr lIns="0" tIns="0" rIns="0" bIns="0" rtlCol="0" anchor="t">
            <a:spAutoFit/>
          </a:bodyPr>
          <a:lstStyle/>
          <a:p>
            <a:pPr marL="604519" lvl="1" indent="-302260" algn="l">
              <a:lnSpc>
                <a:spcPts val="3919"/>
              </a:lnSpc>
              <a:buFont typeface="Arial"/>
              <a:buChar char="•"/>
            </a:pPr>
            <a:r>
              <a:rPr lang="en-US" sz="2799">
                <a:solidFill>
                  <a:srgbClr val="94DDDE"/>
                </a:solidFill>
                <a:latin typeface="Josefin Sans"/>
                <a:ea typeface="Josefin Sans"/>
                <a:cs typeface="Josefin Sans"/>
                <a:sym typeface="Josefin Sans"/>
              </a:rPr>
              <a:t>AWS CloudTrail: Miễn phí (Free Tier).</a:t>
            </a:r>
          </a:p>
          <a:p>
            <a:pPr marL="604519" lvl="1" indent="-302260" algn="l">
              <a:lnSpc>
                <a:spcPts val="3919"/>
              </a:lnSpc>
              <a:buFont typeface="Arial"/>
              <a:buChar char="•"/>
            </a:pPr>
            <a:r>
              <a:rPr lang="en-US" sz="2799">
                <a:solidFill>
                  <a:srgbClr val="94DDDE"/>
                </a:solidFill>
                <a:latin typeface="Josefin Sans"/>
                <a:ea typeface="Josefin Sans"/>
                <a:cs typeface="Josefin Sans"/>
                <a:sym typeface="Josefin Sans"/>
              </a:rPr>
              <a:t>Amazon S3: Miễn phí cho 5GB; $0.023/GB nếu vượt.</a:t>
            </a:r>
          </a:p>
          <a:p>
            <a:pPr marL="604519" lvl="1" indent="-302260" algn="l">
              <a:lnSpc>
                <a:spcPts val="3919"/>
              </a:lnSpc>
              <a:buFont typeface="Arial"/>
              <a:buChar char="•"/>
            </a:pPr>
            <a:r>
              <a:rPr lang="en-US" sz="2799">
                <a:solidFill>
                  <a:srgbClr val="94DDDE"/>
                </a:solidFill>
                <a:latin typeface="Josefin Sans"/>
                <a:ea typeface="Josefin Sans"/>
                <a:cs typeface="Josefin Sans"/>
                <a:sym typeface="Josefin Sans"/>
              </a:rPr>
              <a:t>Amazon Athena: Miễn phí cho 10GB scanning; $5/TB nếu vượt.</a:t>
            </a:r>
          </a:p>
          <a:p>
            <a:pPr marL="604519" lvl="1" indent="-302260" algn="l">
              <a:lnSpc>
                <a:spcPts val="3919"/>
              </a:lnSpc>
              <a:buFont typeface="Arial"/>
              <a:buChar char="•"/>
            </a:pPr>
            <a:r>
              <a:rPr lang="en-US" sz="2799">
                <a:solidFill>
                  <a:srgbClr val="94DDDE"/>
                </a:solidFill>
                <a:latin typeface="Josefin Sans"/>
                <a:ea typeface="Josefin Sans"/>
                <a:cs typeface="Josefin Sans"/>
                <a:sym typeface="Josefin Sans"/>
              </a:rPr>
              <a:t>AWS KMS: Miễn phí.</a:t>
            </a:r>
          </a:p>
          <a:p>
            <a:pPr marL="604519" lvl="1" indent="-302260" algn="l">
              <a:lnSpc>
                <a:spcPts val="3919"/>
              </a:lnSpc>
              <a:buFont typeface="Arial"/>
              <a:buChar char="•"/>
            </a:pPr>
            <a:r>
              <a:rPr lang="en-US" sz="2799">
                <a:solidFill>
                  <a:srgbClr val="94DDDE"/>
                </a:solidFill>
                <a:latin typeface="Josefin Sans"/>
                <a:ea typeface="Josefin Sans"/>
                <a:cs typeface="Josefin Sans"/>
                <a:sym typeface="Josefin Sans"/>
              </a:rPr>
              <a:t>Tổng Chi phí Hàng năm (Total Annual Cost): $0-$10.</a:t>
            </a:r>
          </a:p>
          <a:p>
            <a:pPr algn="l">
              <a:lnSpc>
                <a:spcPts val="3919"/>
              </a:lnSpc>
            </a:pPr>
            <a:endParaRPr lang="en-US" sz="2799">
              <a:solidFill>
                <a:srgbClr val="94DDDE"/>
              </a:solidFill>
              <a:latin typeface="Josefin Sans"/>
              <a:ea typeface="Josefin Sans"/>
              <a:cs typeface="Josefin Sans"/>
              <a:sym typeface="Josefin Sans"/>
            </a:endParaRPr>
          </a:p>
        </p:txBody>
      </p:sp>
      <p:grpSp>
        <p:nvGrpSpPr>
          <p:cNvPr id="4" name="Group 4"/>
          <p:cNvGrpSpPr/>
          <p:nvPr/>
        </p:nvGrpSpPr>
        <p:grpSpPr>
          <a:xfrm>
            <a:off x="1504950" y="2590800"/>
            <a:ext cx="8489114" cy="1828800"/>
            <a:chOff x="0" y="0"/>
            <a:chExt cx="11318819" cy="2438400"/>
          </a:xfrm>
        </p:grpSpPr>
        <p:sp>
          <p:nvSpPr>
            <p:cNvPr id="5" name="TextBox 5"/>
            <p:cNvSpPr txBox="1"/>
            <p:nvPr/>
          </p:nvSpPr>
          <p:spPr>
            <a:xfrm>
              <a:off x="0" y="-19050"/>
              <a:ext cx="11318819" cy="2457450"/>
            </a:xfrm>
            <a:prstGeom prst="rect">
              <a:avLst/>
            </a:prstGeom>
          </p:spPr>
          <p:txBody>
            <a:bodyPr lIns="0" tIns="0" rIns="0" bIns="0" rtlCol="0" anchor="t">
              <a:spAutoFit/>
            </a:bodyPr>
            <a:lstStyle/>
            <a:p>
              <a:pPr algn="l">
                <a:lnSpc>
                  <a:spcPts val="7200"/>
                </a:lnSpc>
              </a:pPr>
              <a:r>
                <a:rPr lang="en-US" sz="6000" b="1">
                  <a:solidFill>
                    <a:srgbClr val="F7B4A7"/>
                  </a:solidFill>
                  <a:latin typeface="Josefin Sans Bold"/>
                  <a:ea typeface="Josefin Sans Bold"/>
                  <a:cs typeface="Josefin Sans Bold"/>
                  <a:sym typeface="Josefin Sans Bold"/>
                </a:rPr>
                <a:t>Appendix</a:t>
              </a:r>
            </a:p>
            <a:p>
              <a:pPr algn="l">
                <a:lnSpc>
                  <a:spcPts val="7200"/>
                </a:lnSpc>
              </a:pPr>
              <a:endParaRPr lang="en-US" sz="6000" b="1">
                <a:solidFill>
                  <a:srgbClr val="F7B4A7"/>
                </a:solidFill>
                <a:latin typeface="Josefin Sans Bold"/>
                <a:ea typeface="Josefin Sans Bold"/>
                <a:cs typeface="Josefin Sans Bold"/>
                <a:sym typeface="Josefin Sans Bold"/>
              </a:endParaRPr>
            </a:p>
          </p:txBody>
        </p:sp>
        <p:sp>
          <p:nvSpPr>
            <p:cNvPr id="6" name="TextBox 6"/>
            <p:cNvSpPr txBox="1"/>
            <p:nvPr/>
          </p:nvSpPr>
          <p:spPr>
            <a:xfrm>
              <a:off x="0" y="1819275"/>
              <a:ext cx="11318819" cy="619125"/>
            </a:xfrm>
            <a:prstGeom prst="rect">
              <a:avLst/>
            </a:prstGeom>
          </p:spPr>
          <p:txBody>
            <a:bodyPr lIns="0" tIns="0" rIns="0" bIns="0" rtlCol="0" anchor="t">
              <a:spAutoFit/>
            </a:bodyPr>
            <a:lstStyle/>
            <a:p>
              <a:pPr algn="l">
                <a:lnSpc>
                  <a:spcPts val="3600"/>
                </a:lnSpc>
              </a:pPr>
              <a:r>
                <a:rPr lang="en-US" sz="3000" b="1">
                  <a:solidFill>
                    <a:srgbClr val="F7B4A7"/>
                  </a:solidFill>
                  <a:latin typeface="Josefin Sans Bold"/>
                  <a:ea typeface="Josefin Sans Bold"/>
                  <a:cs typeface="Josefin Sans Bold"/>
                  <a:sym typeface="Josefin Sans Bold"/>
                </a:rPr>
                <a:t>B. Cost Calculations</a:t>
              </a: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sp>
        <p:nvSpPr>
          <p:cNvPr id="2" name="Freeform 2"/>
          <p:cNvSpPr/>
          <p:nvPr/>
        </p:nvSpPr>
        <p:spPr>
          <a:xfrm>
            <a:off x="1028700" y="4276419"/>
            <a:ext cx="8345306" cy="4259272"/>
          </a:xfrm>
          <a:custGeom>
            <a:avLst/>
            <a:gdLst/>
            <a:ahLst/>
            <a:cxnLst/>
            <a:rect l="l" t="t" r="r" b="b"/>
            <a:pathLst>
              <a:path w="8345306" h="4259272">
                <a:moveTo>
                  <a:pt x="0" y="0"/>
                </a:moveTo>
                <a:lnTo>
                  <a:pt x="8345306" y="0"/>
                </a:lnTo>
                <a:lnTo>
                  <a:pt x="8345306" y="4259272"/>
                </a:lnTo>
                <a:lnTo>
                  <a:pt x="0" y="4259272"/>
                </a:lnTo>
                <a:lnTo>
                  <a:pt x="0" y="0"/>
                </a:lnTo>
                <a:close/>
              </a:path>
            </a:pathLst>
          </a:custGeom>
          <a:blipFill>
            <a:blip r:embed="rId2"/>
            <a:stretch>
              <a:fillRect t="-2044" b="-2044"/>
            </a:stretch>
          </a:blipFill>
        </p:spPr>
        <p:txBody>
          <a:bodyPr/>
          <a:lstStyle/>
          <a:p>
            <a:endParaRPr lang="en-US"/>
          </a:p>
        </p:txBody>
      </p:sp>
      <p:sp>
        <p:nvSpPr>
          <p:cNvPr id="3" name="Freeform 3"/>
          <p:cNvSpPr/>
          <p:nvPr/>
        </p:nvSpPr>
        <p:spPr>
          <a:xfrm>
            <a:off x="9828947" y="4246609"/>
            <a:ext cx="7430353" cy="4318893"/>
          </a:xfrm>
          <a:custGeom>
            <a:avLst/>
            <a:gdLst/>
            <a:ahLst/>
            <a:cxnLst/>
            <a:rect l="l" t="t" r="r" b="b"/>
            <a:pathLst>
              <a:path w="7430353" h="4318893">
                <a:moveTo>
                  <a:pt x="0" y="0"/>
                </a:moveTo>
                <a:lnTo>
                  <a:pt x="7430353" y="0"/>
                </a:lnTo>
                <a:lnTo>
                  <a:pt x="7430353" y="4318893"/>
                </a:lnTo>
                <a:lnTo>
                  <a:pt x="0" y="4318893"/>
                </a:lnTo>
                <a:lnTo>
                  <a:pt x="0" y="0"/>
                </a:lnTo>
                <a:close/>
              </a:path>
            </a:pathLst>
          </a:custGeom>
          <a:blipFill>
            <a:blip r:embed="rId3"/>
            <a:stretch>
              <a:fillRect/>
            </a:stretch>
          </a:blipFill>
        </p:spPr>
        <p:txBody>
          <a:bodyPr/>
          <a:lstStyle/>
          <a:p>
            <a:endParaRPr lang="en-US"/>
          </a:p>
        </p:txBody>
      </p:sp>
      <p:grpSp>
        <p:nvGrpSpPr>
          <p:cNvPr id="4" name="Group 4"/>
          <p:cNvGrpSpPr/>
          <p:nvPr/>
        </p:nvGrpSpPr>
        <p:grpSpPr>
          <a:xfrm>
            <a:off x="4899443" y="1447800"/>
            <a:ext cx="8489114" cy="1828800"/>
            <a:chOff x="0" y="0"/>
            <a:chExt cx="11318819" cy="2438400"/>
          </a:xfrm>
        </p:grpSpPr>
        <p:sp>
          <p:nvSpPr>
            <p:cNvPr id="5" name="TextBox 5"/>
            <p:cNvSpPr txBox="1"/>
            <p:nvPr/>
          </p:nvSpPr>
          <p:spPr>
            <a:xfrm>
              <a:off x="0" y="-19050"/>
              <a:ext cx="11318819" cy="2457450"/>
            </a:xfrm>
            <a:prstGeom prst="rect">
              <a:avLst/>
            </a:prstGeom>
          </p:spPr>
          <p:txBody>
            <a:bodyPr lIns="0" tIns="0" rIns="0" bIns="0" rtlCol="0" anchor="t">
              <a:spAutoFit/>
            </a:bodyPr>
            <a:lstStyle/>
            <a:p>
              <a:pPr algn="ctr">
                <a:lnSpc>
                  <a:spcPts val="7200"/>
                </a:lnSpc>
              </a:pPr>
              <a:r>
                <a:rPr lang="en-US" sz="6000" b="1">
                  <a:solidFill>
                    <a:srgbClr val="F7B4A7"/>
                  </a:solidFill>
                  <a:latin typeface="Josefin Sans Bold"/>
                  <a:ea typeface="Josefin Sans Bold"/>
                  <a:cs typeface="Josefin Sans Bold"/>
                  <a:sym typeface="Josefin Sans Bold"/>
                </a:rPr>
                <a:t>Appendix</a:t>
              </a:r>
            </a:p>
            <a:p>
              <a:pPr algn="ctr">
                <a:lnSpc>
                  <a:spcPts val="7200"/>
                </a:lnSpc>
              </a:pPr>
              <a:endParaRPr lang="en-US" sz="6000" b="1">
                <a:solidFill>
                  <a:srgbClr val="F7B4A7"/>
                </a:solidFill>
                <a:latin typeface="Josefin Sans Bold"/>
                <a:ea typeface="Josefin Sans Bold"/>
                <a:cs typeface="Josefin Sans Bold"/>
                <a:sym typeface="Josefin Sans Bold"/>
              </a:endParaRPr>
            </a:p>
          </p:txBody>
        </p:sp>
        <p:sp>
          <p:nvSpPr>
            <p:cNvPr id="6" name="TextBox 6"/>
            <p:cNvSpPr txBox="1"/>
            <p:nvPr/>
          </p:nvSpPr>
          <p:spPr>
            <a:xfrm>
              <a:off x="0" y="1819275"/>
              <a:ext cx="11318819" cy="619125"/>
            </a:xfrm>
            <a:prstGeom prst="rect">
              <a:avLst/>
            </a:prstGeom>
          </p:spPr>
          <p:txBody>
            <a:bodyPr lIns="0" tIns="0" rIns="0" bIns="0" rtlCol="0" anchor="t">
              <a:spAutoFit/>
            </a:bodyPr>
            <a:lstStyle/>
            <a:p>
              <a:pPr algn="ctr">
                <a:lnSpc>
                  <a:spcPts val="3600"/>
                </a:lnSpc>
              </a:pPr>
              <a:r>
                <a:rPr lang="en-US" sz="3000" b="1">
                  <a:solidFill>
                    <a:srgbClr val="F7B4A7"/>
                  </a:solidFill>
                  <a:latin typeface="Josefin Sans Bold"/>
                  <a:ea typeface="Josefin Sans Bold"/>
                  <a:cs typeface="Josefin Sans Bold"/>
                  <a:sym typeface="Josefin Sans Bold"/>
                </a:rPr>
                <a:t>C. Architecture Diagrams</a:t>
              </a:r>
            </a:p>
          </p:txBody>
        </p:sp>
      </p:grpSp>
      <p:sp>
        <p:nvSpPr>
          <p:cNvPr id="7" name="TextBox 7"/>
          <p:cNvSpPr txBox="1"/>
          <p:nvPr/>
        </p:nvSpPr>
        <p:spPr>
          <a:xfrm>
            <a:off x="1469515" y="8722360"/>
            <a:ext cx="7674485" cy="995680"/>
          </a:xfrm>
          <a:prstGeom prst="rect">
            <a:avLst/>
          </a:prstGeom>
        </p:spPr>
        <p:txBody>
          <a:bodyPr lIns="0" tIns="0" rIns="0" bIns="0" rtlCol="0" anchor="t">
            <a:spAutoFit/>
          </a:bodyPr>
          <a:lstStyle/>
          <a:p>
            <a:pPr algn="ctr">
              <a:lnSpc>
                <a:spcPts val="3919"/>
              </a:lnSpc>
            </a:pPr>
            <a:r>
              <a:rPr lang="en-US" sz="2799">
                <a:solidFill>
                  <a:srgbClr val="94DDDE"/>
                </a:solidFill>
                <a:latin typeface="Josefin Sans"/>
                <a:ea typeface="Josefin Sans"/>
                <a:cs typeface="Josefin Sans"/>
                <a:sym typeface="Josefin Sans"/>
              </a:rPr>
              <a:t>Sơ đồ Luồng dữ liệu Logs</a:t>
            </a:r>
          </a:p>
          <a:p>
            <a:pPr algn="ctr">
              <a:lnSpc>
                <a:spcPts val="3919"/>
              </a:lnSpc>
            </a:pPr>
            <a:endParaRPr lang="en-US" sz="2799">
              <a:solidFill>
                <a:srgbClr val="94DDDE"/>
              </a:solidFill>
              <a:latin typeface="Josefin Sans"/>
              <a:ea typeface="Josefin Sans"/>
              <a:cs typeface="Josefin Sans"/>
              <a:sym typeface="Josefin Sans"/>
            </a:endParaRPr>
          </a:p>
        </p:txBody>
      </p:sp>
      <p:sp>
        <p:nvSpPr>
          <p:cNvPr id="8" name="TextBox 8"/>
          <p:cNvSpPr txBox="1"/>
          <p:nvPr/>
        </p:nvSpPr>
        <p:spPr>
          <a:xfrm>
            <a:off x="10019045" y="8722360"/>
            <a:ext cx="7674485" cy="995680"/>
          </a:xfrm>
          <a:prstGeom prst="rect">
            <a:avLst/>
          </a:prstGeom>
        </p:spPr>
        <p:txBody>
          <a:bodyPr lIns="0" tIns="0" rIns="0" bIns="0" rtlCol="0" anchor="t">
            <a:spAutoFit/>
          </a:bodyPr>
          <a:lstStyle/>
          <a:p>
            <a:pPr algn="ctr">
              <a:lnSpc>
                <a:spcPts val="3919"/>
              </a:lnSpc>
            </a:pPr>
            <a:r>
              <a:rPr lang="en-US" sz="2799">
                <a:solidFill>
                  <a:srgbClr val="94DDDE"/>
                </a:solidFill>
                <a:latin typeface="Josefin Sans"/>
                <a:ea typeface="Josefin Sans"/>
                <a:cs typeface="Josefin Sans"/>
                <a:sym typeface="Josefin Sans"/>
              </a:rPr>
              <a:t>Sơ đồ Kiểm soát Truy cập</a:t>
            </a:r>
          </a:p>
          <a:p>
            <a:pPr algn="ctr">
              <a:lnSpc>
                <a:spcPts val="3919"/>
              </a:lnSpc>
            </a:pPr>
            <a:endParaRPr lang="en-US" sz="2799">
              <a:solidFill>
                <a:srgbClr val="94DDDE"/>
              </a:solidFill>
              <a:latin typeface="Josefin Sans"/>
              <a:ea typeface="Josefin Sans"/>
              <a:cs typeface="Josefin Sans"/>
              <a:sym typeface="Josefin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2B4B82"/>
        </a:solidFill>
        <a:effectLst/>
      </p:bgPr>
    </p:bg>
    <p:spTree>
      <p:nvGrpSpPr>
        <p:cNvPr id="1" name=""/>
        <p:cNvGrpSpPr/>
        <p:nvPr/>
      </p:nvGrpSpPr>
      <p:grpSpPr>
        <a:xfrm>
          <a:off x="0" y="0"/>
          <a:ext cx="0" cy="0"/>
          <a:chOff x="0" y="0"/>
          <a:chExt cx="0" cy="0"/>
        </a:xfrm>
      </p:grpSpPr>
      <p:grpSp>
        <p:nvGrpSpPr>
          <p:cNvPr id="2" name="Group 2"/>
          <p:cNvGrpSpPr/>
          <p:nvPr/>
        </p:nvGrpSpPr>
        <p:grpSpPr>
          <a:xfrm>
            <a:off x="1187452" y="1394747"/>
            <a:ext cx="7079577" cy="1678970"/>
            <a:chOff x="0" y="0"/>
            <a:chExt cx="9439436" cy="2238627"/>
          </a:xfrm>
        </p:grpSpPr>
        <p:sp>
          <p:nvSpPr>
            <p:cNvPr id="3" name="TextBox 3"/>
            <p:cNvSpPr txBox="1"/>
            <p:nvPr/>
          </p:nvSpPr>
          <p:spPr>
            <a:xfrm>
              <a:off x="0" y="-19050"/>
              <a:ext cx="9439436" cy="1314450"/>
            </a:xfrm>
            <a:prstGeom prst="rect">
              <a:avLst/>
            </a:prstGeom>
          </p:spPr>
          <p:txBody>
            <a:bodyPr lIns="0" tIns="0" rIns="0" bIns="0" rtlCol="0" anchor="t">
              <a:spAutoFit/>
            </a:bodyPr>
            <a:lstStyle/>
            <a:p>
              <a:pPr algn="l">
                <a:lnSpc>
                  <a:spcPts val="7680"/>
                </a:lnSpc>
              </a:pPr>
              <a:r>
                <a:rPr lang="en-US" sz="6400" b="1">
                  <a:solidFill>
                    <a:srgbClr val="94DDDE"/>
                  </a:solidFill>
                  <a:latin typeface="Josefin Sans Bold"/>
                  <a:ea typeface="Josefin Sans Bold"/>
                  <a:cs typeface="Josefin Sans Bold"/>
                  <a:sym typeface="Josefin Sans Bold"/>
                </a:rPr>
                <a:t>Appendix</a:t>
              </a:r>
            </a:p>
          </p:txBody>
        </p:sp>
        <p:sp>
          <p:nvSpPr>
            <p:cNvPr id="4" name="TextBox 4"/>
            <p:cNvSpPr txBox="1"/>
            <p:nvPr/>
          </p:nvSpPr>
          <p:spPr>
            <a:xfrm>
              <a:off x="0" y="1606040"/>
              <a:ext cx="7324815" cy="664337"/>
            </a:xfrm>
            <a:prstGeom prst="rect">
              <a:avLst/>
            </a:prstGeom>
          </p:spPr>
          <p:txBody>
            <a:bodyPr lIns="0" tIns="0" rIns="0" bIns="0" rtlCol="0" anchor="t">
              <a:spAutoFit/>
            </a:bodyPr>
            <a:lstStyle/>
            <a:p>
              <a:pPr algn="l">
                <a:lnSpc>
                  <a:spcPts val="4262"/>
                </a:lnSpc>
              </a:pPr>
              <a:r>
                <a:rPr lang="en-US" sz="2899" spc="579">
                  <a:solidFill>
                    <a:srgbClr val="94DDDE"/>
                  </a:solidFill>
                  <a:latin typeface="Josefin Sans"/>
                  <a:ea typeface="Josefin Sans"/>
                  <a:cs typeface="Josefin Sans"/>
                  <a:sym typeface="Josefin Sans"/>
                </a:rPr>
                <a:t>D. REFERENCES</a:t>
              </a:r>
            </a:p>
          </p:txBody>
        </p:sp>
      </p:grpSp>
      <p:grpSp>
        <p:nvGrpSpPr>
          <p:cNvPr id="5" name="Group 5"/>
          <p:cNvGrpSpPr/>
          <p:nvPr/>
        </p:nvGrpSpPr>
        <p:grpSpPr>
          <a:xfrm>
            <a:off x="9144000" y="3073717"/>
            <a:ext cx="7714897" cy="1542952"/>
            <a:chOff x="0" y="0"/>
            <a:chExt cx="10286529" cy="2057270"/>
          </a:xfrm>
        </p:grpSpPr>
        <p:sp>
          <p:nvSpPr>
            <p:cNvPr id="6" name="TextBox 6"/>
            <p:cNvSpPr txBox="1"/>
            <p:nvPr/>
          </p:nvSpPr>
          <p:spPr>
            <a:xfrm>
              <a:off x="0" y="-76200"/>
              <a:ext cx="10286529" cy="1302173"/>
            </a:xfrm>
            <a:prstGeom prst="rect">
              <a:avLst/>
            </a:prstGeom>
          </p:spPr>
          <p:txBody>
            <a:bodyPr lIns="0" tIns="0" rIns="0" bIns="0" rtlCol="0" anchor="t">
              <a:spAutoFit/>
            </a:bodyPr>
            <a:lstStyle/>
            <a:p>
              <a:pPr algn="l">
                <a:lnSpc>
                  <a:spcPts val="3919"/>
                </a:lnSpc>
              </a:pPr>
              <a:r>
                <a:rPr lang="en-US" sz="2799" b="1">
                  <a:solidFill>
                    <a:srgbClr val="94DDDE"/>
                  </a:solidFill>
                  <a:latin typeface="Josefin Sans Bold"/>
                  <a:ea typeface="Josefin Sans Bold"/>
                  <a:cs typeface="Josefin Sans Bold"/>
                  <a:sym typeface="Josefin Sans Bold"/>
                </a:rPr>
                <a:t>AWS CloudTrail và AWS Athena Documentation</a:t>
              </a:r>
            </a:p>
          </p:txBody>
        </p:sp>
        <p:sp>
          <p:nvSpPr>
            <p:cNvPr id="7" name="TextBox 7"/>
            <p:cNvSpPr txBox="1"/>
            <p:nvPr/>
          </p:nvSpPr>
          <p:spPr>
            <a:xfrm>
              <a:off x="0" y="1533395"/>
              <a:ext cx="10286529" cy="544195"/>
            </a:xfrm>
            <a:prstGeom prst="rect">
              <a:avLst/>
            </a:prstGeom>
          </p:spPr>
          <p:txBody>
            <a:bodyPr lIns="0" tIns="0" rIns="0" bIns="0" rtlCol="0" anchor="t">
              <a:spAutoFit/>
            </a:bodyPr>
            <a:lstStyle/>
            <a:p>
              <a:pPr algn="l">
                <a:lnSpc>
                  <a:spcPts val="3359"/>
                </a:lnSpc>
              </a:pPr>
              <a:r>
                <a:rPr lang="en-US" sz="2400" u="sng">
                  <a:solidFill>
                    <a:srgbClr val="FEFEFE"/>
                  </a:solidFill>
                  <a:latin typeface="Josefin Sans"/>
                  <a:ea typeface="Josefin Sans"/>
                  <a:cs typeface="Josefin Sans"/>
                  <a:sym typeface="Josefin Sans"/>
                  <a:hlinkClick r:id="rId2" tooltip="https://000033.awsstudygroup.com/vi/"/>
                </a:rPr>
                <a:t>https://000033.awsstudygroup.com/vi/</a:t>
              </a:r>
            </a:p>
          </p:txBody>
        </p:sp>
      </p:grpSp>
      <p:grpSp>
        <p:nvGrpSpPr>
          <p:cNvPr id="8" name="Group 8"/>
          <p:cNvGrpSpPr/>
          <p:nvPr/>
        </p:nvGrpSpPr>
        <p:grpSpPr>
          <a:xfrm>
            <a:off x="9144000" y="6008948"/>
            <a:ext cx="7714897" cy="1461672"/>
            <a:chOff x="0" y="0"/>
            <a:chExt cx="10286529" cy="1948896"/>
          </a:xfrm>
        </p:grpSpPr>
        <p:sp>
          <p:nvSpPr>
            <p:cNvPr id="9" name="TextBox 9"/>
            <p:cNvSpPr txBox="1"/>
            <p:nvPr/>
          </p:nvSpPr>
          <p:spPr>
            <a:xfrm>
              <a:off x="0" y="-57150"/>
              <a:ext cx="10286529" cy="622723"/>
            </a:xfrm>
            <a:prstGeom prst="rect">
              <a:avLst/>
            </a:prstGeom>
          </p:spPr>
          <p:txBody>
            <a:bodyPr lIns="0" tIns="0" rIns="0" bIns="0" rtlCol="0" anchor="t">
              <a:spAutoFit/>
            </a:bodyPr>
            <a:lstStyle/>
            <a:p>
              <a:pPr algn="l">
                <a:lnSpc>
                  <a:spcPts val="3919"/>
                </a:lnSpc>
              </a:pPr>
              <a:r>
                <a:rPr lang="en-US" sz="2800" b="1">
                  <a:solidFill>
                    <a:srgbClr val="94DDDE"/>
                  </a:solidFill>
                  <a:latin typeface="Josefin Sans Bold"/>
                  <a:ea typeface="Josefin Sans Bold"/>
                  <a:cs typeface="Josefin Sans Bold"/>
                  <a:sym typeface="Josefin Sans Bold"/>
                </a:rPr>
                <a:t>Amazon S3 Object Lock</a:t>
              </a:r>
            </a:p>
          </p:txBody>
        </p:sp>
        <p:sp>
          <p:nvSpPr>
            <p:cNvPr id="10" name="TextBox 10"/>
            <p:cNvSpPr txBox="1"/>
            <p:nvPr/>
          </p:nvSpPr>
          <p:spPr>
            <a:xfrm>
              <a:off x="0" y="876381"/>
              <a:ext cx="10286529" cy="1102995"/>
            </a:xfrm>
            <a:prstGeom prst="rect">
              <a:avLst/>
            </a:prstGeom>
          </p:spPr>
          <p:txBody>
            <a:bodyPr lIns="0" tIns="0" rIns="0" bIns="0" rtlCol="0" anchor="t">
              <a:spAutoFit/>
            </a:bodyPr>
            <a:lstStyle/>
            <a:p>
              <a:pPr algn="l">
                <a:lnSpc>
                  <a:spcPts val="3359"/>
                </a:lnSpc>
              </a:pPr>
              <a:r>
                <a:rPr lang="en-US" sz="2400" u="sng">
                  <a:solidFill>
                    <a:srgbClr val="FEFEFE"/>
                  </a:solidFill>
                  <a:latin typeface="Josefin Sans"/>
                  <a:ea typeface="Josefin Sans"/>
                  <a:cs typeface="Josefin Sans"/>
                  <a:sym typeface="Josefin Sans"/>
                  <a:hlinkClick r:id="rId3" tooltip="https://docs.aws.amazon.com/AmazonS3/latest/userguide/object-lock.html"/>
                </a:rPr>
                <a:t>https://docs.aws.amazon.com/AmazonS3/latest/userguide/object-lock.html</a:t>
              </a:r>
            </a:p>
          </p:txBody>
        </p:sp>
      </p:grpSp>
      <p:sp>
        <p:nvSpPr>
          <p:cNvPr id="11" name="Freeform 11"/>
          <p:cNvSpPr/>
          <p:nvPr/>
        </p:nvSpPr>
        <p:spPr>
          <a:xfrm>
            <a:off x="1064615" y="3615601"/>
            <a:ext cx="3662625" cy="5642699"/>
          </a:xfrm>
          <a:custGeom>
            <a:avLst/>
            <a:gdLst/>
            <a:ahLst/>
            <a:cxnLst/>
            <a:rect l="l" t="t" r="r" b="b"/>
            <a:pathLst>
              <a:path w="3662625" h="5642699">
                <a:moveTo>
                  <a:pt x="0" y="0"/>
                </a:moveTo>
                <a:lnTo>
                  <a:pt x="3662625" y="0"/>
                </a:lnTo>
                <a:lnTo>
                  <a:pt x="3662625" y="5642699"/>
                </a:lnTo>
                <a:lnTo>
                  <a:pt x="0" y="564269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94DDDE"/>
        </a:solidFill>
        <a:effectLst/>
      </p:bgPr>
    </p:bg>
    <p:spTree>
      <p:nvGrpSpPr>
        <p:cNvPr id="1" name=""/>
        <p:cNvGrpSpPr/>
        <p:nvPr/>
      </p:nvGrpSpPr>
      <p:grpSpPr>
        <a:xfrm>
          <a:off x="0" y="0"/>
          <a:ext cx="0" cy="0"/>
          <a:chOff x="0" y="0"/>
          <a:chExt cx="0" cy="0"/>
        </a:xfrm>
      </p:grpSpPr>
      <p:sp>
        <p:nvSpPr>
          <p:cNvPr id="2" name="TextBox 2"/>
          <p:cNvSpPr txBox="1"/>
          <p:nvPr/>
        </p:nvSpPr>
        <p:spPr>
          <a:xfrm>
            <a:off x="1352383" y="4300311"/>
            <a:ext cx="7312717" cy="1035685"/>
          </a:xfrm>
          <a:prstGeom prst="rect">
            <a:avLst/>
          </a:prstGeom>
        </p:spPr>
        <p:txBody>
          <a:bodyPr lIns="0" tIns="0" rIns="0" bIns="0" rtlCol="0" anchor="t">
            <a:spAutoFit/>
          </a:bodyPr>
          <a:lstStyle/>
          <a:p>
            <a:pPr algn="l">
              <a:lnSpc>
                <a:spcPts val="7519"/>
              </a:lnSpc>
            </a:pPr>
            <a:r>
              <a:rPr lang="en-US" sz="8000" b="1" spc="-88">
                <a:solidFill>
                  <a:srgbClr val="2B4B82"/>
                </a:solidFill>
                <a:latin typeface="Josefin Sans Bold"/>
                <a:ea typeface="Josefin Sans Bold"/>
                <a:cs typeface="Josefin Sans Bold"/>
                <a:sym typeface="Josefin Sans Bold"/>
              </a:rPr>
              <a:t>THANK YOU</a:t>
            </a:r>
          </a:p>
        </p:txBody>
      </p:sp>
      <p:sp>
        <p:nvSpPr>
          <p:cNvPr id="3" name="Freeform 3"/>
          <p:cNvSpPr/>
          <p:nvPr/>
        </p:nvSpPr>
        <p:spPr>
          <a:xfrm>
            <a:off x="9854137" y="3018272"/>
            <a:ext cx="7411325" cy="4635447"/>
          </a:xfrm>
          <a:custGeom>
            <a:avLst/>
            <a:gdLst/>
            <a:ahLst/>
            <a:cxnLst/>
            <a:rect l="l" t="t" r="r" b="b"/>
            <a:pathLst>
              <a:path w="7411325" h="4635447">
                <a:moveTo>
                  <a:pt x="0" y="0"/>
                </a:moveTo>
                <a:lnTo>
                  <a:pt x="7411325" y="0"/>
                </a:lnTo>
                <a:lnTo>
                  <a:pt x="7411325" y="4635447"/>
                </a:lnTo>
                <a:lnTo>
                  <a:pt x="0" y="463544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8665100" y="8613636"/>
            <a:ext cx="4338720" cy="2713672"/>
          </a:xfrm>
          <a:custGeom>
            <a:avLst/>
            <a:gdLst/>
            <a:ahLst/>
            <a:cxnLst/>
            <a:rect l="l" t="t" r="r" b="b"/>
            <a:pathLst>
              <a:path w="4338720" h="2713672">
                <a:moveTo>
                  <a:pt x="0" y="0"/>
                </a:moveTo>
                <a:lnTo>
                  <a:pt x="4338720" y="0"/>
                </a:lnTo>
                <a:lnTo>
                  <a:pt x="4338720" y="2713671"/>
                </a:lnTo>
                <a:lnTo>
                  <a:pt x="0" y="27136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3976014" y="7483497"/>
            <a:ext cx="3289448" cy="2057400"/>
          </a:xfrm>
          <a:custGeom>
            <a:avLst/>
            <a:gdLst/>
            <a:ahLst/>
            <a:cxnLst/>
            <a:rect l="l" t="t" r="r" b="b"/>
            <a:pathLst>
              <a:path w="3289448" h="2057400">
                <a:moveTo>
                  <a:pt x="0" y="0"/>
                </a:moveTo>
                <a:lnTo>
                  <a:pt x="3289448" y="0"/>
                </a:lnTo>
                <a:lnTo>
                  <a:pt x="3289448" y="2057400"/>
                </a:lnTo>
                <a:lnTo>
                  <a:pt x="0" y="2057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13320348" y="712171"/>
            <a:ext cx="3289448" cy="2057400"/>
          </a:xfrm>
          <a:custGeom>
            <a:avLst/>
            <a:gdLst/>
            <a:ahLst/>
            <a:cxnLst/>
            <a:rect l="l" t="t" r="r" b="b"/>
            <a:pathLst>
              <a:path w="3289448" h="2057400">
                <a:moveTo>
                  <a:pt x="0" y="0"/>
                </a:moveTo>
                <a:lnTo>
                  <a:pt x="3289448" y="0"/>
                </a:lnTo>
                <a:lnTo>
                  <a:pt x="3289448" y="2057400"/>
                </a:lnTo>
                <a:lnTo>
                  <a:pt x="0" y="2057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2011</Words>
  <Application>Microsoft Office PowerPoint</Application>
  <PresentationFormat>Custom</PresentationFormat>
  <Paragraphs>250</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Josefin Sans Bold</vt:lpstr>
      <vt:lpstr>Arial</vt:lpstr>
      <vt:lpstr>Calibri</vt:lpstr>
      <vt:lpstr>Josefin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Audit Trail Management với Immutable Logging - Trần Lê Minh Hiếu</dc:title>
  <cp:lastModifiedBy>Hieu Minh</cp:lastModifiedBy>
  <cp:revision>2</cp:revision>
  <dcterms:created xsi:type="dcterms:W3CDTF">2006-08-16T00:00:00Z</dcterms:created>
  <dcterms:modified xsi:type="dcterms:W3CDTF">2025-07-09T06:49:25Z</dcterms:modified>
  <dc:identifier>DAGsl07QuUI</dc:identifier>
</cp:coreProperties>
</file>